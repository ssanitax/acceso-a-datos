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5F78879A-C423-DE36-E5AC-7D6C2E2CB966}">
          <p14:sldIdLst>
            <p14:sldId id="256"/>
            <p14:sldId id="257"/>
            <p14:sldId id="258"/>
            <p14:sldId id="259"/>
          </p14:sldIdLst>
        </p14:section>
        <p14:section name="001-insertar.py" id="{CB175EAF-5671-9C98-DC08-F710E137BF30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002-actualizar.py" id="{AE0F0788-46B9-9543-1254-CC3FCE04F788}">
          <p14:sldIdLst>
            <p14:sldId id="267"/>
            <p14:sldId id="268"/>
            <p14:sldId id="269"/>
            <p14:sldId id="270"/>
          </p14:sldIdLst>
        </p14:section>
        <p14:section name="003-eliminar.py" id="{0DA5A689-FE3F-0B45-5BB6-FF8275BDD77A}">
          <p14:sldIdLst>
            <p14:sldId id="271"/>
            <p14:sldId id="272"/>
            <p14:sldId id="273"/>
          </p14:sldIdLst>
        </p14:section>
        <p14:section name="Visión de conjunto" id="{8AF8FFEB-BD27-A13B-DCA5-E687EE6F4246}">
          <p14:sldIdLst>
            <p14:sldId id="274"/>
            <p14:sldId id="275"/>
            <p14:sldId id="276"/>
          </p14:sldIdLst>
        </p14:section>
        <p14:section name="Cierre" id="{9044EEE4-3273-5D4C-774B-FD1A0C831B3B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5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los tres scripts que ejecutan INSERT, UPDATE y DELETE sobre la tabla clientes de MySQL desde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consultas SELECT leen datos; estas tres sentencias los modifican. El conector usado es mysql.connector, el controlador oficial de MySQL para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scripts no crean la tabla. Las columnas apellidos y email no aparecen con nombre en el código, por eso sus nombres son orientativos.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Entender este esquema una vez permite entender los tres archivos. La fase destacada es la única que cambia.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Visión de conjunto del script. En las diapositivas siguientes se explica cada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archivo original la sentencia UPDATE ocupa una sola línea, la 13. Aquí se muestra partida en dos para que quepa en pantalla, sin cambiar la numeración.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9DC3E6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rgbClr val="9DC3E6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DC3E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F4E79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DC3E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Sentencias de modificación de datos con Python y MySQL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DC3E6"/>
                </a:solidFill>
              </a:rPr>
              <a:t>Explicación paso a paso de 001-insertar.py, 002-actualizar.py y 003-eliminar.py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</a:rPr>
              <a:t>Acceso a datos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Las tres sentencias de modificación de datos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Forman parte del DML. No devuelven filas: cambian el estado de la base de datos, por eso cada script termina confirmando con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commit()</a:t>
            </a:r>
            <a:r>
              <a:rPr lang="en-US" sz="1400" dirty="0">
                <a:solidFill>
                  <a:srgbClr val="111111"/>
                </a:solidFill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15184" cy="28346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Añade registros nuevos a una tabla.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001-insertar.py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691640"/>
            <a:ext cx="2615184" cy="28346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3447288" y="18745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51460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Cambia valores de registros que ya existen, según el </a:t>
            </a:r>
            <a:r>
              <a:rPr lang="en-US" sz="15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500" dirty="0">
                <a:solidFill>
                  <a:srgbClr val="111111"/>
                </a:solidFill>
              </a:rPr>
              <a:t>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39776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002-actualizar.py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71616" y="1691640"/>
            <a:ext cx="2615184" cy="28346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6254496" y="18745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51460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Elimina registros completos, según el </a:t>
            </a:r>
            <a:r>
              <a:rPr lang="en-US" sz="15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500" dirty="0">
                <a:solidFill>
                  <a:srgbClr val="111111"/>
                </a:solidFill>
              </a:rPr>
              <a:t>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39776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003-eliminar.py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Requisitos previos y tabla clientes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Python 3 y el paquete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mysql-connector-python</a:t>
            </a:r>
            <a:r>
              <a:rPr lang="en-US" sz="1400" dirty="0">
                <a:solidFill>
                  <a:srgbClr val="111111"/>
                </a:solidFill>
              </a:rPr>
              <a:t> (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mysql-connector-python</a:t>
            </a:r>
            <a:r>
              <a:rPr lang="en-US" sz="1400" dirty="0">
                <a:solidFill>
                  <a:srgbClr val="111111"/>
                </a:solidFill>
              </a:rPr>
              <a:t>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Servidor MySQL en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r>
              <a:rPr lang="en-US" sz="1400" dirty="0">
                <a:solidFill>
                  <a:srgbClr val="111111"/>
                </a:solidFill>
              </a:rPr>
              <a:t>, puerto 3306.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Usuario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accesoadatos2526</a:t>
            </a:r>
            <a:r>
              <a:rPr lang="en-US" sz="1400" dirty="0">
                <a:solidFill>
                  <a:srgbClr val="111111"/>
                </a:solidFill>
              </a:rPr>
              <a:t> con permisos sobre la base de datos.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Base de datos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accesoadatos2526</a:t>
            </a:r>
            <a:r>
              <a:rPr lang="en-US" sz="1400" dirty="0">
                <a:solidFill>
                  <a:srgbClr val="111111"/>
                </a:solidFill>
              </a:rPr>
              <a:t> con la tabla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r>
              <a:rPr lang="en-US" sz="1400" dirty="0">
                <a:solidFill>
                  <a:srgbClr val="111111"/>
                </a:solidFill>
              </a:rPr>
              <a:t> ya creada.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051560"/>
          <a:ext cx="4206240" cy="21539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en los scripts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Identificador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numérica generada con </a:t>
                      </a: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AUTO_INCREMENT</a:t>
                      </a: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Filtra en 002 y 003.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"Juan" y pasa a "Juan Diego" en 002.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apellidos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"Garcia Lopez" en 001.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"juan@garcialopez.com" en 001.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480560" y="35204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Los scripts no crean la tabla. El código solo nombra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r>
              <a:rPr lang="en-US" sz="1300" dirty="0">
                <a:solidFill>
                  <a:srgbClr val="111111"/>
                </a:solidFill>
              </a:rPr>
              <a:t> y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300" dirty="0">
                <a:solidFill>
                  <a:srgbClr val="111111"/>
                </a:solidFill>
              </a:rPr>
              <a:t>; los nombres de las otras dos columnas son orientativos.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El patrón común: cinco fases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Los tres scripts son idénticos salvo en la sentencia SQL de la fase 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499616" cy="18288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78408" y="1783080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97840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Importar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316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1938528" y="2843784"/>
            <a:ext cx="219456" cy="164592"/>
          </a:xfrm>
          <a:prstGeom prst="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139696" y="1600200"/>
            <a:ext cx="1499616" cy="18288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660904" y="1783080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266090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23774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Conectar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2880360"/>
            <a:ext cx="1316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connect(...)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3621024" y="2843784"/>
            <a:ext cx="219456" cy="164592"/>
          </a:xfrm>
          <a:prstGeom prst="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822192" y="1600200"/>
            <a:ext cx="1499616" cy="1828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343400" y="1783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4343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23774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Ejecutar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2880360"/>
            <a:ext cx="1316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execute(...)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5400000">
            <a:off x="5303520" y="2843784"/>
            <a:ext cx="219456" cy="164592"/>
          </a:xfrm>
          <a:prstGeom prst="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504688" y="1600200"/>
            <a:ext cx="1499616" cy="18288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6025896" y="1783080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 txBox="1"/>
          <p:nvPr/>
        </p:nvSpPr>
        <p:spPr>
          <a:xfrm>
            <a:off x="602589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96128" y="23774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Confirmar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596128" y="2880360"/>
            <a:ext cx="1316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commit()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rot="5400000">
            <a:off x="6986016" y="2843784"/>
            <a:ext cx="219456" cy="164592"/>
          </a:xfrm>
          <a:prstGeom prst="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187184" y="1600200"/>
            <a:ext cx="1499616" cy="18288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7708392" y="1783080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 txBox="1"/>
          <p:nvPr/>
        </p:nvSpPr>
        <p:spPr>
          <a:xfrm>
            <a:off x="77083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78624" y="23774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Cerrar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278624" y="2880360"/>
            <a:ext cx="1316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Lo único que cambia entre archivos: </a:t>
            </a:r>
            <a:r>
              <a:rPr lang="en-US" sz="1400" b="1" dirty="0">
                <a:solidFill>
                  <a:srgbClr val="111111"/>
                </a:solidFill>
              </a:rPr>
              <a:t>INSERT</a:t>
            </a:r>
            <a:r>
              <a:rPr lang="en-US" sz="1400" dirty="0">
                <a:solidFill>
                  <a:srgbClr val="111111"/>
                </a:solidFill>
              </a:rPr>
              <a:t>, </a:t>
            </a:r>
            <a:r>
              <a:rPr lang="en-US" sz="1400" b="1" dirty="0">
                <a:solidFill>
                  <a:srgbClr val="111111"/>
                </a:solidFill>
              </a:rPr>
              <a:t>UPDATE</a:t>
            </a:r>
            <a:r>
              <a:rPr lang="en-US" sz="1400" dirty="0">
                <a:solidFill>
                  <a:srgbClr val="111111"/>
                </a:solidFill>
              </a:rPr>
              <a:t> o </a:t>
            </a:r>
            <a:r>
              <a:rPr lang="en-US" sz="1400" b="1" dirty="0">
                <a:solidFill>
                  <a:srgbClr val="111111"/>
                </a:solidFill>
              </a:rPr>
              <a:t>DELETE</a:t>
            </a:r>
            <a:r>
              <a:rPr lang="en-US" sz="1400" dirty="0">
                <a:solidFill>
                  <a:srgbClr val="111111"/>
                </a:solidFill>
              </a:rPr>
              <a:t>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001-insertar.py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DC3E6"/>
                </a:solidFill>
              </a:rPr>
              <a:t>Inserción de un registro nuevo en la tabla clientes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DC3E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001-insertar.py: código completo</a:t>
            </a:r>
            <a:endParaRPr lang="en-US" sz="2800" dirty="0"/>
          </a:p>
        </p:txBody>
      </p:sp>
      <p:sp>
        <p:nvSpPr>
          <p:cNvPr id="3" name="panel-codigo"/>
          <p:cNvSpPr/>
          <p:nvPr/>
        </p:nvSpPr>
        <p:spPr>
          <a:xfrm>
            <a:off x="457200" y="960120"/>
            <a:ext cx="4480560" cy="3794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94360" y="1051560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mysql.connector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 = mysql.connector.connect(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host="localhost",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user="accesoadatos2526",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password="Accesoadatos2526$",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database="accesoadatos2526"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 = conexion.cursor(dictionary=True)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r>
              <a:rPr lang="en-US" sz="10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cursor.execute('''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r>
              <a:rPr lang="en-US" sz="10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clientes VALUES(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r>
              <a:rPr lang="en-US" sz="10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NULL,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r>
              <a:rPr lang="en-US" sz="10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"Juan",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r>
              <a:rPr lang="en-US" sz="10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"Garcia Lopez",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r>
              <a:rPr lang="en-US" sz="10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"juan@garcialopez.com"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r>
              <a:rPr lang="en-US" sz="10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r>
              <a:rPr lang="en-US" sz="10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''')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conexion.commit()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cursor.close()</a:t>
            </a:r>
            <a:endParaRPr lang="en-US" sz="1000" dirty="0"/>
          </a:p>
          <a:p>
            <a:pPr marL="0" indent="0">
              <a:lnSpc>
                <a:spcPts val="1180"/>
              </a:lnSpc>
              <a:buNone/>
            </a:pPr>
            <a:r>
              <a:rPr lang="en-US" sz="10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 </a:t>
            </a: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conexion.close()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0" y="960120"/>
            <a:ext cx="3474720" cy="6400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5349240" y="960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Líneas 1-8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Importa el conector y abre la conexión.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728216"/>
            <a:ext cx="3474720" cy="6400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5349240" y="17282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Línea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Crea el cursor.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2496312"/>
            <a:ext cx="347472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5349240" y="24963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Líneas 12-19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Ejecuta la sentencia INSERT.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3264408"/>
            <a:ext cx="3474720" cy="6400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5349240" y="32644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Línea 21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Confirma el cambio.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4032504"/>
            <a:ext cx="3474720" cy="6400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5349240" y="403250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Líneas 23-24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Cierra cursor y conexión.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Pasos 1 y 2: importar y conectar</a:t>
            </a:r>
            <a:endParaRPr lang="en-US" sz="2800" dirty="0"/>
          </a:p>
        </p:txBody>
      </p:sp>
      <p:sp>
        <p:nvSpPr>
          <p:cNvPr id="3" name="panel-codigo"/>
          <p:cNvSpPr/>
          <p:nvPr/>
        </p:nvSpPr>
        <p:spPr>
          <a:xfrm>
            <a:off x="457200" y="960120"/>
            <a:ext cx="3931920" cy="1737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94360" y="10515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mysql.connector</a:t>
            </a:r>
            <a:endParaRPr lang="en-US" sz="1100" dirty="0"/>
          </a:p>
          <a:p>
            <a:pPr marL="0" indent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 = mysql.connector.connect(</a:t>
            </a:r>
            <a:endParaRPr lang="en-US" sz="1100" dirty="0"/>
          </a:p>
          <a:p>
            <a:pPr marL="0" indent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host="localhost",</a:t>
            </a:r>
            <a:endParaRPr lang="en-US" sz="1100" dirty="0"/>
          </a:p>
          <a:p>
            <a:pPr marL="0" indent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user="accesoadatos2526",</a:t>
            </a:r>
            <a:endParaRPr lang="en-US" sz="1100" dirty="0"/>
          </a:p>
          <a:p>
            <a:pPr marL="0" indent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password="Accesoadatos2526$",</a:t>
            </a:r>
            <a:endParaRPr lang="en-US" sz="1100" dirty="0"/>
          </a:p>
          <a:p>
            <a:pPr marL="0" indent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database="accesoadatos2526"</a:t>
            </a:r>
            <a:endParaRPr lang="en-US" sz="1100" dirty="0"/>
          </a:p>
          <a:p>
            <a:pPr marL="0" indent="0">
              <a:lnSpc>
                <a:spcPts val="1298"/>
              </a:lnSpc>
              <a:buNone/>
            </a:pPr>
            <a:r>
              <a:rPr lang="en-US" sz="11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80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mysql.connector</a:t>
            </a:r>
            <a:r>
              <a:rPr lang="en-US" sz="1300" dirty="0">
                <a:solidFill>
                  <a:srgbClr val="111111"/>
                </a:solidFill>
              </a:rPr>
              <a:t> carga el conector. Si no está instalado, se produce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</a:t>
            </a:r>
            <a:r>
              <a:rPr lang="en-US" sz="1300" dirty="0">
                <a:solidFill>
                  <a:srgbClr val="111111"/>
                </a:solidFill>
              </a:rPr>
              <a:t>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connect()</a:t>
            </a:r>
            <a:r>
              <a:rPr lang="en-US" sz="1300" dirty="0">
                <a:solidFill>
                  <a:srgbClr val="111111"/>
                </a:solidFill>
              </a:rPr>
              <a:t> devuelve el objeto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</a:t>
            </a:r>
            <a:r>
              <a:rPr lang="en-US" sz="1300" dirty="0">
                <a:solidFill>
                  <a:srgbClr val="111111"/>
                </a:solidFill>
              </a:rPr>
              <a:t>, que representa la sesión abierta con MySQL.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023360" cy="1788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del servidor. </a:t>
                      </a: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localhost</a:t>
                      </a: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es el propio ordenador.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de MySQL con el que se inicia sesión.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Contraseña de ese usuario.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 de trabajo. Evita escribir </a:t>
                      </a: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</a:t>
                      </a: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66344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Sin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r>
              <a:rPr lang="en-US" sz="1300" dirty="0">
                <a:solidFill>
                  <a:srgbClr val="111111"/>
                </a:solidFill>
              </a:rPr>
              <a:t>, se usa el 3306. Si un dato es incorrecto,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connect()</a:t>
            </a:r>
            <a:r>
              <a:rPr lang="en-US" sz="1300" dirty="0">
                <a:solidFill>
                  <a:srgbClr val="111111"/>
                </a:solidFill>
              </a:rPr>
              <a:t> lanza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mysql.connector.Error</a:t>
            </a:r>
            <a:r>
              <a:rPr lang="en-US" sz="1300" dirty="0">
                <a:solidFill>
                  <a:srgbClr val="11111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Paso 3: el cursor</a:t>
            </a:r>
            <a:endParaRPr lang="en-US" sz="2800" dirty="0"/>
          </a:p>
        </p:txBody>
      </p:sp>
      <p:sp>
        <p:nvSpPr>
          <p:cNvPr id="3" name="panel-codigo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94360" y="1097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2"/>
              </a:lnSpc>
              <a:buNone/>
            </a:pPr>
            <a:r>
              <a:rPr lang="en-US" sz="14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 = conexion.cursor(dictionary=True)</a:t>
            </a:r>
            <a:endParaRPr lang="en-US" sz="1400" dirty="0"/>
          </a:p>
        </p:txBody>
      </p:sp>
      <p:sp>
        <p:nvSpPr>
          <p:cNvPr id="5" name="tarjeta"/>
          <p:cNvSpPr/>
          <p:nvPr/>
        </p:nvSpPr>
        <p:spPr>
          <a:xfrm>
            <a:off x="457200" y="1783080"/>
            <a:ext cx="3977640" cy="26517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Qué es el cursor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Es el objeto que envía sentencias SQL al servidor y, cuando las hay, recorre las filas de resultados. Se crea siempre a partir de la conexión.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709160" y="1783080"/>
            <a:ext cx="3977640" cy="26517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4892040" y="1965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dictionary=True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51460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Las filas devueltas serían diccionarios: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{"nombre": "Juan"}</a:t>
            </a:r>
            <a:r>
              <a:rPr lang="en-US" sz="1400" dirty="0">
                <a:solidFill>
                  <a:srgbClr val="111111"/>
                </a:solidFill>
              </a:rPr>
              <a:t> en lugar de tuplas. Aquí no tiene efecto, porque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400" dirty="0">
                <a:solidFill>
                  <a:srgbClr val="111111"/>
                </a:solidFill>
              </a:rPr>
              <a:t>,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400" dirty="0">
                <a:solidFill>
                  <a:srgbClr val="111111"/>
                </a:solidFill>
              </a:rPr>
              <a:t> y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400" dirty="0">
                <a:solidFill>
                  <a:srgbClr val="111111"/>
                </a:solidFill>
              </a:rPr>
              <a:t> no devuelven filas.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Paso 4: la sentencia INSERT</a:t>
            </a:r>
            <a:endParaRPr lang="en-US" sz="2800" dirty="0"/>
          </a:p>
        </p:txBody>
      </p:sp>
      <p:sp>
        <p:nvSpPr>
          <p:cNvPr id="3" name="panel-codigo"/>
          <p:cNvSpPr/>
          <p:nvPr/>
        </p:nvSpPr>
        <p:spPr>
          <a:xfrm>
            <a:off x="457200" y="960120"/>
            <a:ext cx="3840480" cy="1783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94360" y="105156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6"/>
              </a:lnSpc>
              <a:buNone/>
            </a:pPr>
            <a:r>
              <a:rPr lang="en-US" sz="12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cursor.execute('''</a:t>
            </a:r>
            <a:endParaRPr lang="en-US" sz="1200" dirty="0"/>
          </a:p>
          <a:p>
            <a:pPr marL="0" indent="0">
              <a:lnSpc>
                <a:spcPts val="1416"/>
              </a:lnSpc>
              <a:buNone/>
            </a:pPr>
            <a:r>
              <a:rPr lang="en-US" sz="12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r>
              <a:rPr lang="en-US" sz="12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clientes VALUES(</a:t>
            </a:r>
            <a:endParaRPr lang="en-US" sz="1200" dirty="0"/>
          </a:p>
          <a:p>
            <a:pPr marL="0" indent="0">
              <a:lnSpc>
                <a:spcPts val="1416"/>
              </a:lnSpc>
              <a:buNone/>
            </a:pPr>
            <a:r>
              <a:rPr lang="en-US" sz="12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r>
              <a:rPr lang="en-US" sz="12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NULL,</a:t>
            </a:r>
            <a:endParaRPr lang="en-US" sz="1200" dirty="0"/>
          </a:p>
          <a:p>
            <a:pPr marL="0" indent="0">
              <a:lnSpc>
                <a:spcPts val="1416"/>
              </a:lnSpc>
              <a:buNone/>
            </a:pPr>
            <a:r>
              <a:rPr lang="en-US" sz="12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r>
              <a:rPr lang="en-US" sz="12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"Juan",</a:t>
            </a:r>
            <a:endParaRPr lang="en-US" sz="1200" dirty="0"/>
          </a:p>
          <a:p>
            <a:pPr marL="0" indent="0">
              <a:lnSpc>
                <a:spcPts val="1416"/>
              </a:lnSpc>
              <a:buNone/>
            </a:pPr>
            <a:r>
              <a:rPr lang="en-US" sz="12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r>
              <a:rPr lang="en-US" sz="12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"Garcia Lopez",</a:t>
            </a:r>
            <a:endParaRPr lang="en-US" sz="1200" dirty="0"/>
          </a:p>
          <a:p>
            <a:pPr marL="0" indent="0">
              <a:lnSpc>
                <a:spcPts val="1416"/>
              </a:lnSpc>
              <a:buNone/>
            </a:pPr>
            <a:r>
              <a:rPr lang="en-US" sz="12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r>
              <a:rPr lang="en-US" sz="12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"juan@garcialopez.com"</a:t>
            </a:r>
            <a:endParaRPr lang="en-US" sz="1200" dirty="0"/>
          </a:p>
          <a:p>
            <a:pPr marL="0" indent="0">
              <a:lnSpc>
                <a:spcPts val="1416"/>
              </a:lnSpc>
              <a:buNone/>
            </a:pPr>
            <a:r>
              <a:rPr lang="en-US" sz="12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r>
              <a:rPr lang="en-US" sz="12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marL="0" indent="0">
              <a:lnSpc>
                <a:spcPts val="1416"/>
              </a:lnSpc>
              <a:buNone/>
            </a:pPr>
            <a:r>
              <a:rPr lang="en-US" sz="12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Las triples comillas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</a:t>
            </a:r>
            <a:r>
              <a:rPr lang="en-US" sz="1300" dirty="0">
                <a:solidFill>
                  <a:srgbClr val="111111"/>
                </a:solidFill>
              </a:rPr>
              <a:t> permiten escribir la sentencia en varias líneas y usar comillas dobles dentro.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94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Tras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execute()</a:t>
            </a:r>
            <a:r>
              <a:rPr lang="en-US" sz="1300" dirty="0">
                <a:solidFill>
                  <a:srgbClr val="111111"/>
                </a:solidFill>
              </a:rPr>
              <a:t> el registro está dentro de la transacción, pero </a:t>
            </a:r>
            <a:r>
              <a:rPr lang="en-US" sz="1300" b="1" dirty="0">
                <a:solidFill>
                  <a:srgbClr val="111111"/>
                </a:solidFill>
              </a:rPr>
              <a:t>aún no es definitivo</a:t>
            </a:r>
            <a:r>
              <a:rPr lang="en-US" sz="1300" dirty="0">
                <a:solidFill>
                  <a:srgbClr val="111111"/>
                </a:solidFill>
              </a:rPr>
              <a:t>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960120"/>
          <a:ext cx="4114800" cy="2438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 INTO 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Añade un registro a la tabla.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lista de columnas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que dar valor a todas, en su orden.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genera el </a:t>
                      </a: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Identificador</a:t>
                      </a: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 </a:t>
                      </a: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AUTO_INCREMENT</a:t>
                      </a: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"Juan"</a:t>
                      </a: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Nombre, apellidos y correo, entre comillas.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de la sentencia. Es opcional aquí.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Pasos 5 y 6: confirmar y cerrar</a:t>
            </a:r>
            <a:endParaRPr lang="en-US" sz="2800" dirty="0"/>
          </a:p>
        </p:txBody>
      </p:sp>
      <p:sp>
        <p:nvSpPr>
          <p:cNvPr id="3" name="panel-codigo"/>
          <p:cNvSpPr/>
          <p:nvPr/>
        </p:nvSpPr>
        <p:spPr>
          <a:xfrm>
            <a:off x="457200" y="1005840"/>
            <a:ext cx="397764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94360" y="109728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4"/>
              </a:lnSpc>
              <a:buNone/>
            </a:pPr>
            <a:r>
              <a:rPr lang="en-US" sz="13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r>
              <a:rPr lang="en-US" sz="130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conexion.commit()</a:t>
            </a:r>
            <a:endParaRPr lang="en-US" sz="1300" dirty="0"/>
          </a:p>
          <a:p>
            <a:pPr marL="0" indent="0">
              <a:lnSpc>
                <a:spcPts val="1534"/>
              </a:lnSpc>
              <a:buNone/>
            </a:pPr>
            <a:r>
              <a:rPr lang="en-US" sz="13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534"/>
              </a:lnSpc>
              <a:buNone/>
            </a:pPr>
            <a:r>
              <a:rPr lang="en-US" sz="13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cursor.close()</a:t>
            </a:r>
            <a:endParaRPr lang="en-US" sz="1300" dirty="0"/>
          </a:p>
          <a:p>
            <a:pPr marL="0" indent="0">
              <a:lnSpc>
                <a:spcPts val="1534"/>
              </a:lnSpc>
              <a:buNone/>
            </a:pPr>
            <a:r>
              <a:rPr lang="en-US" sz="130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 </a:t>
            </a: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conexion.close()</a:t>
            </a:r>
            <a:endParaRPr lang="en-US" sz="1300" dirty="0"/>
          </a:p>
        </p:txBody>
      </p:sp>
      <p:sp>
        <p:nvSpPr>
          <p:cNvPr id="5" name="tarjeta"/>
          <p:cNvSpPr/>
          <p:nvPr/>
        </p:nvSpPr>
        <p:spPr>
          <a:xfrm>
            <a:off x="457200" y="2377440"/>
            <a:ext cx="3977640" cy="21488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commit() es imprescindible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709160" y="1005840"/>
            <a:ext cx="3977640" cy="14630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4892040" y="13030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arjeta"/>
          <p:cNvSpPr/>
          <p:nvPr/>
        </p:nvSpPr>
        <p:spPr>
          <a:xfrm>
            <a:off x="4709160" y="2697480"/>
            <a:ext cx="3977640" cy="18288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489204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Cierre en orden inverso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4290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Resultado de 001-insertar.py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Si la tabla tenía dos clientes (1 y 2), la fila nueva recibe el identificador 3: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apellidos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Garcia Lopez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juan@garcialopez.com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arjeta"/>
          <p:cNvSpPr/>
          <p:nvPr/>
        </p:nvSpPr>
        <p:spPr>
          <a:xfrm>
            <a:off x="457200" y="2606040"/>
            <a:ext cx="3977640" cy="19202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640080" y="2788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Cómo comprobarlo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3756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El script no muestra nada. Se consulta en MySQL con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clientes;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709160" y="2606040"/>
            <a:ext cx="3977640" cy="19202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4892040" y="2788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Si se ejecuta otra vez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333756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Se inserta otro cliente igual con un identificador nuevo: la tabla no impide repetir nombre ni correo.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002-actualizar.py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DC3E6"/>
                </a:solidFill>
              </a:rPr>
              <a:t>Modificación del nombre del cliente con identificador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DC3E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002-actualizar.py: la sentencia UPDATE</a:t>
            </a:r>
            <a:endParaRPr lang="en-US" sz="2800" dirty="0"/>
          </a:p>
        </p:txBody>
      </p:sp>
      <p:sp>
        <p:nvSpPr>
          <p:cNvPr id="3" name="panel-codigo"/>
          <p:cNvSpPr/>
          <p:nvPr/>
        </p:nvSpPr>
        <p:spPr>
          <a:xfrm>
            <a:off x="457200" y="960120"/>
            <a:ext cx="4206240" cy="3611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94360" y="1051560"/>
            <a:ext cx="3931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mysql.connector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 = mysql.connector.connect(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host="localhost",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user="accesoadatos2526",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password="Accesoadatos2526$",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database="accesoadatos2526"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 = conexion.cursor(dictionary=True)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r>
              <a:rPr lang="en-US" sz="105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cursor.execute('''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r>
              <a:rPr lang="en-US" sz="105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clientes SET nombre = "Juan Diego"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Identificador = 3;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r>
              <a:rPr lang="en-US" sz="105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''')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conexion.commit()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cursor.close()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conexion.close()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960120"/>
          <a:ext cx="3749040" cy="914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 registros existentes.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 nombre = "Juan Diego"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 que cambia y su valor nuevo. El resto no se toca.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 Identificador =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la fila con identificador 3. Es clave primaria: 1 fila como máximo.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937760" y="4160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Líneas 1-10 y 16-19: iguales que en 001-insertar.py.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La cláusula WHERE es la parte crítica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2011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Con WHERE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clientes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nombre = "Juan Diego"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Identificador = 3;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Cambia un solo cliente.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20116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48920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C3E6"/>
                </a:solidFill>
              </a:rPr>
              <a:t>Sin WHERE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clientes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nombre = "Juan Diego";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Cambia el nombre de TODOS los clientes.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Para actuar sobre un único registro, filtrar siempre por la clave primaria.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Si no existe el identificador 3, no se modifica nada y </a:t>
            </a:r>
            <a:r>
              <a:rPr lang="en-US" sz="1400" b="1" dirty="0">
                <a:solidFill>
                  <a:srgbClr val="111111"/>
                </a:solidFill>
              </a:rPr>
              <a:t>no hay error</a:t>
            </a:r>
            <a:r>
              <a:rPr lang="en-US" sz="1400" dirty="0">
                <a:solidFill>
                  <a:srgbClr val="11111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Resultado de 002-actualizar.py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Antes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apellidos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Garcia Lopez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juan@garcialopez.com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Después</a:t>
            </a:r>
            <a:endParaRPr lang="en-US" sz="15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apellidos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Juan Diego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Garcia Lopez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juan@garcialopez.com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Se puede ejecutar varias veces sin efectos acumulativos: a partir de la segunda vez se asigna el mismo valor. Sin </a:t>
            </a:r>
            <a:r>
              <a:rPr lang="en-US" sz="14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commit()</a:t>
            </a:r>
            <a:r>
              <a:rPr lang="en-US" sz="1400" dirty="0">
                <a:solidFill>
                  <a:srgbClr val="111111"/>
                </a:solidFill>
              </a:rPr>
              <a:t> en la línea 16, el nombre seguiría siendo "Juan".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003-eliminar.py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DC3E6"/>
                </a:solidFill>
              </a:rPr>
              <a:t>Eliminación del cliente con identificador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DC3E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003-eliminar.py: la sentencia DELETE</a:t>
            </a:r>
            <a:endParaRPr lang="en-US" sz="2800" dirty="0"/>
          </a:p>
        </p:txBody>
      </p:sp>
      <p:sp>
        <p:nvSpPr>
          <p:cNvPr id="3" name="panel-codigo"/>
          <p:cNvSpPr/>
          <p:nvPr/>
        </p:nvSpPr>
        <p:spPr>
          <a:xfrm>
            <a:off x="457200" y="960120"/>
            <a:ext cx="4480560" cy="3611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94360" y="1051560"/>
            <a:ext cx="4206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mysql.connector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 = mysql.connector.connect(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host="localhost",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user="accesoadatos2526",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password="Accesoadatos2526$",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database="accesoadatos2526"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 = conexion.cursor(dictionary=True)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r>
              <a:rPr lang="en-US" sz="105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cursor.execute('''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r>
              <a:rPr lang="en-US" sz="105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 FROM clientes WHERE Identificador = 3;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r>
              <a:rPr lang="en-US" sz="1050" b="1" dirty="0">
                <a:solidFill>
                  <a:srgbClr val="9D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''')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conexion.commit()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cursor.close()</a:t>
            </a:r>
            <a:endParaRPr lang="en-US" sz="1050" dirty="0"/>
          </a:p>
          <a:p>
            <a:pPr marL="0" indent="0">
              <a:lnSpc>
                <a:spcPts val="1239"/>
              </a:lnSpc>
              <a:buNone/>
            </a:pPr>
            <a:r>
              <a:rPr lang="en-US" sz="1050" dirty="0">
                <a:solidFill>
                  <a:srgbClr val="7F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conexion.close()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960120"/>
          <a:ext cx="347472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FROM 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Borra filas completas. No se indican columnas.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 Identificador =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la fila con identificador 3.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212080" y="25146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Sin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00" dirty="0">
                <a:solidFill>
                  <a:srgbClr val="111111"/>
                </a:solidFill>
              </a:rPr>
              <a:t> se vacía la tabla entera.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Borrar la tabla con su estructura es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</a:t>
            </a:r>
            <a:r>
              <a:rPr lang="en-US" sz="1300" dirty="0">
                <a:solidFill>
                  <a:srgbClr val="111111"/>
                </a:solidFill>
              </a:rPr>
              <a:t>, que no es DML.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Tras </a:t>
            </a:r>
            <a:r>
              <a:rPr lang="en-US" sz="1300" dirty="0">
                <a:solidFill>
                  <a:srgbClr val="2E7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commit()</a:t>
            </a:r>
            <a:r>
              <a:rPr lang="en-US" sz="1300" dirty="0">
                <a:solidFill>
                  <a:srgbClr val="111111"/>
                </a:solidFill>
              </a:rPr>
              <a:t> no se puede deshacer desde el programa.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Resultado de 003-eliminar.py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apellidos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La fila con identificador 3 desaparece de la tabla.</a:t>
            </a:r>
            <a:endParaRPr lang="en-US" sz="1400" dirty="0"/>
          </a:p>
        </p:txBody>
      </p:sp>
      <p:sp>
        <p:nvSpPr>
          <p:cNvPr id="5" name="tarjeta"/>
          <p:cNvSpPr/>
          <p:nvPr/>
        </p:nvSpPr>
        <p:spPr>
          <a:xfrm>
            <a:off x="457200" y="2651760"/>
            <a:ext cx="3977640" cy="18745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640080" y="2834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AUTO_INCREMENT no reutiliza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832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Si se vuelve a insertar un cliente, recibirá el 4, no el 3. Un identificador nunca se asigna a dos clientes distintos.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709160" y="2651760"/>
            <a:ext cx="3977640" cy="18745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4892040" y="2834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Integridad referencial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33832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Si otra tabla apunta a clientes con una clave ajena, MySQL puede impedir el borrado.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Visión de conjunto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DC3E6"/>
                </a:solidFill>
              </a:rPr>
              <a:t>Comparativa y orden de ejecución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DC3E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Comparativa de los tres scripts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001-insertar.py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002-actualizar.py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003-eliminar.py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 INTO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...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74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FROM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 afectadas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Siempre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repite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Inserta otro 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cambios nuevos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cambios nuevos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Necesita commit()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Devuelve filas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</a:rPr>
              <a:t>Orden de ejecución: el ciclo de vida de un registro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15184" cy="17373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Inserta a Juan Garcia Lopez, que recibe el identificador 3.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4408" y="1051560"/>
            <a:ext cx="2615184" cy="17373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3447288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17830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Cambia su nombre a Juan Diego.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71616" y="1051560"/>
            <a:ext cx="2615184" cy="17373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6254496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17830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Elimina el cliente con identificador 3.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68580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C3E6"/>
                </a:solidFill>
              </a:rPr>
              <a:t>Atención: el 3 está escrito en el código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611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Los scripts 002 y 003 solo afectan al cliente de 001 si este recibió justo el identificador 3. Antes de ejecutarlos, conviene comprobarlo con SELECT * FROM clientes;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E74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Conclusión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DC3E6"/>
                </a:solidFill>
              </a:rPr>
              <a:t>Mismo patrón en los tres scripts: importar, conectar, ejecutar, confirmar y cerrar.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DC3E6"/>
                </a:solidFill>
              </a:rPr>
              <a:t>Solo cambia la sentencia: INSERT añade, UPDATE modifica y DELETE elimina.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DC3E6"/>
                </a:solidFill>
              </a:rPr>
              <a:t>El WHERE decide qué filas cambian y commit() hace el cambio definitivo.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l y negro">
  <a:themeElements>
    <a:clrScheme name="Azul y negro">
      <a:dk1>
        <a:srgbClr val="111111"/>
      </a:dk1>
      <a:lt1>
        <a:srgbClr val="FFFFFF"/>
      </a:lt1>
      <a:dk2>
        <a:srgbClr val="1F4E79"/>
      </a:dk2>
      <a:lt2>
        <a:srgbClr val="EAF1F8"/>
      </a:lt2>
      <a:accent1>
        <a:srgbClr val="2E74B5"/>
      </a:accent1>
      <a:accent2>
        <a:srgbClr val="1F4E79"/>
      </a:accent2>
      <a:accent3>
        <a:srgbClr val="9DC3E6"/>
      </a:accent3>
      <a:accent4>
        <a:srgbClr val="0B2545"/>
      </a:accent4>
      <a:accent5>
        <a:srgbClr val="5B9BD5"/>
      </a:accent5>
      <a:accent6>
        <a:srgbClr val="404040"/>
      </a:accent6>
      <a:hlink>
        <a:srgbClr val="2E74B5"/>
      </a:hlink>
      <a:folHlink>
        <a:srgbClr val="1F4E79"/>
      </a:folHlink>
    </a:clrScheme>
    <a:fontScheme name="Azul y negr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1871</Words>
  <Application>Microsoft Office PowerPoint</Application>
  <PresentationFormat>Presentación en pantalla (16:9)</PresentationFormat>
  <Paragraphs>366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Azul y negro</vt:lpstr>
      <vt:lpstr>Sentencias de modificación de datos con Python y MySQL</vt:lpstr>
      <vt:lpstr>Las tres sentencias de modificación de datos</vt:lpstr>
      <vt:lpstr>Requisitos previos y tabla clientes</vt:lpstr>
      <vt:lpstr>El patrón común: cinco fases</vt:lpstr>
      <vt:lpstr>001-insertar.py</vt:lpstr>
      <vt:lpstr>001-insertar.py: código completo</vt:lpstr>
      <vt:lpstr>Pasos 1 y 2: importar y conectar</vt:lpstr>
      <vt:lpstr>Paso 3: el cursor</vt:lpstr>
      <vt:lpstr>Paso 4: la sentencia INSERT</vt:lpstr>
      <vt:lpstr>Pasos 5 y 6: confirmar y cerrar</vt:lpstr>
      <vt:lpstr>Resultado de 001-insertar.py</vt:lpstr>
      <vt:lpstr>002-actualizar.py</vt:lpstr>
      <vt:lpstr>002-actualizar.py: la sentencia UPDATE</vt:lpstr>
      <vt:lpstr>La cláusula WHERE es la parte crítica</vt:lpstr>
      <vt:lpstr>Resultado de 002-actualizar.py</vt:lpstr>
      <vt:lpstr>003-eliminar.py</vt:lpstr>
      <vt:lpstr>003-eliminar.py: la sentencia DELETE</vt:lpstr>
      <vt:lpstr>Resultado de 003-eliminar.py</vt:lpstr>
      <vt:lpstr>Visión de conjunto</vt:lpstr>
      <vt:lpstr>Comparativa de los tres scripts</vt:lpstr>
      <vt:lpstr>Orden de ejecución: el ciclo de vida de un registro</vt:lpstr>
      <vt:lpstr>Conclusión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Sentencias de modificación de datos con Python y MySQL</dc:title>
  <dc:subject>PptxGenJS Presentation</dc:subject>
  <dc:creator>PptxGenJS</dc:creator>
  <cp:lastModifiedBy>Vicente Pellicer Gomez Pardo</cp:lastModifiedBy>
  <cp:revision>3</cp:revision>
  <dcterms:created xsi:type="dcterms:W3CDTF">2026-10-19T16:00:46Z</dcterms:created>
  <dcterms:modified xsi:type="dcterms:W3CDTF">2026-10-20T12:53:11Z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2026-10-20T12:52:58Z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baebe467-47d5-48b9-8830-0d54fa0099cf</vt:lpwstr>
  </property>
  <property fmtid="{D5CDD505-2E9C-101B-9397-08002B2CF9AE}" pid="7" name="MSIP_Label_defa4170-0d19-0005-0004-bc88714345d2_ActionId">
    <vt:lpwstr>c88a6f3d-97a4-4931-9c16-a4bbb71558e3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