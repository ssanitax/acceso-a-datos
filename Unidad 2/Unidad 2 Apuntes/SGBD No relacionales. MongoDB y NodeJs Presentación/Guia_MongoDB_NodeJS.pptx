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9047d6aa-4710-7146-1275-ef62ffbef170}">
          <p14:sldIdLst>
            <p14:sldId id="256"/>
            <p14:sldId id="257"/>
          </p14:sldIdLst>
        </p14:section>
        <p14:section name="1. SQL y NoSQL" id="{52787f2d-7745-e6d5-8e16-ff62f6d622b6}">
          <p14:sldIdLst>
            <p14:sldId id="258"/>
            <p14:sldId id="259"/>
            <p14:sldId id="260"/>
            <p14:sldId id="261"/>
            <p14:sldId id="262"/>
          </p14:sldIdLst>
        </p14:section>
        <p14:section name="2. Tipos NoSQL" id="{ce43cad2-ca2f-36a1-94dc-7c74380af754}">
          <p14:sldIdLst>
            <p14:sldId id="263"/>
            <p14:sldId id="264"/>
            <p14:sldId id="265"/>
          </p14:sldIdLst>
        </p14:section>
        <p14:section name="3. MongoDB" id="{b9aa5363-ea4e-3982-34a0-b30869c9f609}">
          <p14:sldIdLst>
            <p14:sldId id="266"/>
            <p14:sldId id="267"/>
            <p14:sldId id="268"/>
            <p14:sldId id="269"/>
            <p14:sldId id="270"/>
          </p14:sldIdLst>
        </p14:section>
        <p14:section name="4. Node.js" id="{c6a3b5fe-d4f7-766b-1eb7-403e3afaa25b}">
          <p14:sldIdLst>
            <p14:sldId id="271"/>
            <p14:sldId id="272"/>
            <p14:sldId id="273"/>
          </p14:sldIdLst>
        </p14:section>
        <p14:section name="5. Instalar MongoDB" id="{1e8e4132-bffa-5ec9-2b3e-846c966c2339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6. Node.js y editor" id="{d69353ff-2ed2-706e-0ec9-6642fd91294f}">
          <p14:sldIdLst>
            <p14:sldId id="280"/>
            <p14:sldId id="281"/>
            <p14:sldId id="282"/>
            <p14:sldId id="283"/>
          </p14:sldIdLst>
        </p14:section>
        <p14:section name="7. mongosh" id="{7891e049-973a-cf15-1335-6a6c24092f91}">
          <p14:sldIdLst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8. Ejemplo" id="{17a60255-9269-3f37-8d0d-f75a0e329d41}">
          <p14:sldIdLst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9. Errores y glosario" id="{bd8481f5-4270-358c-666e-0270dbf54254}">
          <p14:sldIdLst>
            <p14:sldId id="297"/>
            <p14:sldId id="298"/>
            <p14:sldId id="299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iniciación  ·  MongoDB y Node.js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2F6F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4D3BF"/>
                </a:solidFill>
              </a:rPr>
              <a:t>GUÍA DE INICIACIÓN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y Node.js desde cero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280160" cy="64008"/>
          </a:xfrm>
          <a:prstGeom prst="rect">
            <a:avLst/>
          </a:prstGeom>
          <a:solidFill>
            <a:srgbClr val="F4D3BF"/>
          </a:solidFill>
          <a:ln w="12700">
            <a:solidFill>
              <a:srgbClr val="F4D3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8803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3F0EB"/>
                </a:solidFill>
              </a:rPr>
              <a:t>Qué son las bases de datos no relacionales, cómo instalar MongoDB y Node.js paso a paso y un primer ejemplo completo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D9D0"/>
                </a:solidFill>
              </a:rPr>
              <a:t>Para personas que nunca han usado MongoDB ni Node.js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vamos a ver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15184" cy="914400"/>
          </a:xfrm>
          <a:prstGeom prst="roundRect">
            <a:avLst>
              <a:gd name="adj" fmla="val 8000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" y="1344168"/>
            <a:ext cx="420624" cy="42062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44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0972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62"/>
                </a:solidFill>
              </a:rPr>
              <a:t>Bases de datos relacionales y no relacionales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64408" y="1097280"/>
            <a:ext cx="2615184" cy="914400"/>
          </a:xfrm>
          <a:prstGeom prst="roundRect">
            <a:avLst>
              <a:gd name="adj" fmla="val 8000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29000" y="1344168"/>
            <a:ext cx="420624" cy="42062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344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995928" y="10972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62"/>
                </a:solidFill>
              </a:rPr>
              <a:t>Tipos de bases de datos NoSQL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71616" y="1097280"/>
            <a:ext cx="2615184" cy="914400"/>
          </a:xfrm>
          <a:prstGeom prst="roundRect">
            <a:avLst>
              <a:gd name="adj" fmla="val 8000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36208" y="1344168"/>
            <a:ext cx="420624" cy="42062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36208" y="1344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803136" y="10972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62"/>
                </a:solidFill>
              </a:rPr>
              <a:t>¿Qué es MongoDB?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194560"/>
            <a:ext cx="2615184" cy="914400"/>
          </a:xfrm>
          <a:prstGeom prst="roundRect">
            <a:avLst>
              <a:gd name="adj" fmla="val 8000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" y="2441448"/>
            <a:ext cx="420624" cy="42062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2441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1945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62"/>
                </a:solidFill>
              </a:rPr>
              <a:t>¿Qué es Node.js?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64408" y="2194560"/>
            <a:ext cx="2615184" cy="914400"/>
          </a:xfrm>
          <a:prstGeom prst="roundRect">
            <a:avLst>
              <a:gd name="adj" fmla="val 8000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29000" y="2441448"/>
            <a:ext cx="420624" cy="42062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2441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995928" y="21945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62"/>
                </a:solidFill>
              </a:rPr>
              <a:t>Instalación de MongoDB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71616" y="2194560"/>
            <a:ext cx="2615184" cy="914400"/>
          </a:xfrm>
          <a:prstGeom prst="roundRect">
            <a:avLst>
              <a:gd name="adj" fmla="val 8000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36208" y="2441448"/>
            <a:ext cx="420624" cy="42062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36208" y="2441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803136" y="21945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62"/>
                </a:solidFill>
              </a:rPr>
              <a:t>Instalación de Node.js y del editor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3291840"/>
            <a:ext cx="2615184" cy="914400"/>
          </a:xfrm>
          <a:prstGeom prst="roundRect">
            <a:avLst>
              <a:gd name="adj" fmla="val 8000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" y="3538728"/>
            <a:ext cx="420624" cy="42062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188720" y="32918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62"/>
                </a:solidFill>
              </a:rPr>
              <a:t>Primeros pasos con mongosh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264408" y="3291840"/>
            <a:ext cx="2615184" cy="914400"/>
          </a:xfrm>
          <a:prstGeom prst="roundRect">
            <a:avLst>
              <a:gd name="adj" fmla="val 8000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429000" y="3538728"/>
            <a:ext cx="420624" cy="42062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429000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3995928" y="32918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62"/>
                </a:solidFill>
              </a:rPr>
              <a:t>Ejemplo: Node.js y MongoDB juntos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071616" y="3291840"/>
            <a:ext cx="2615184" cy="914400"/>
          </a:xfrm>
          <a:prstGeom prst="roundRect">
            <a:avLst>
              <a:gd name="adj" fmla="val 8000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36208" y="3538728"/>
            <a:ext cx="420624" cy="42062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36208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6803136" y="32918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62"/>
                </a:solidFill>
              </a:rPr>
              <a:t>Errores frecuentes y glosario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4D3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 de datos relacionales y no relacionales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4E7E0"/>
                </a:solidFill>
              </a:rPr>
              <a:t>Dos formas distintas de guardar la información. Ninguna es mejor en todo: cada una encaja en un tipo de problema.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una base de datos?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21792" y="1216152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600200"/>
            <a:ext cx="3694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E3A46"/>
                </a:solidFill>
              </a:rPr>
              <a:t>Lugar donde se guarda información de forma ordenada para consultarla, modificarla o borrarla después.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28032" y="1216152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F7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SGBD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28032" y="1600200"/>
            <a:ext cx="3694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E3A46"/>
                </a:solidFill>
              </a:rPr>
              <a:t>Sistema Gestor de Bases de Datos: el programa que la gestiona. MySQL, Oracle o MongoDB son SGBD.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7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Ejemplos cotidianos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2615184" cy="640080"/>
          </a:xfrm>
          <a:prstGeom prst="roundRect">
            <a:avLst>
              <a:gd name="adj" fmla="val 11429"/>
            </a:avLst>
          </a:prstGeom>
          <a:solidFill>
            <a:srgbClr val="FBEFE7"/>
          </a:solidFill>
          <a:ln w="12700">
            <a:solidFill>
              <a:srgbClr val="FBEF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48640" y="3611880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La agenda del móvil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64408" y="3611880"/>
            <a:ext cx="2615184" cy="640080"/>
          </a:xfrm>
          <a:prstGeom prst="roundRect">
            <a:avLst>
              <a:gd name="adj" fmla="val 11429"/>
            </a:avLst>
          </a:prstGeom>
          <a:solidFill>
            <a:srgbClr val="FBEFE7"/>
          </a:solidFill>
          <a:ln w="12700">
            <a:solidFill>
              <a:srgbClr val="FBEF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355848" y="3611880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El catálogo de una tienda online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71616" y="3611880"/>
            <a:ext cx="2615184" cy="640080"/>
          </a:xfrm>
          <a:prstGeom prst="roundRect">
            <a:avLst>
              <a:gd name="adj" fmla="val 11429"/>
            </a:avLst>
          </a:prstGeom>
          <a:solidFill>
            <a:srgbClr val="FBEFE7"/>
          </a:solidFill>
          <a:ln w="12700">
            <a:solidFill>
              <a:srgbClr val="FBEF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163056" y="3611880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La lista de alumnos de un instituto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Relacionales (SQL): todo en tablas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3A46"/>
                </a:solidFill>
              </a:rPr>
              <a:t>Guardan la información en tablas de filas y columnas, como una hoja de cálculo. Todas las filas tienen las mismas columnas y se manejan con el lenguaje SQL.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  <a:gridCol w="25603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ciudad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F6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 Pons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F6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Luis Mir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F6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Marta Coll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Ciutadella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78A8"/>
                </a:solidFill>
              </a:rPr>
              <a:t>Ejemplos: MySQL, MariaDB, PostgreSQL, Oracle, SQL Server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relacionales (NoSQL): flexibilidad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F62"/>
                </a:solidFill>
              </a:rPr>
              <a:t>NoSQL</a:t>
            </a:r>
            <a:pPr indent="0" marL="0">
              <a:buNone/>
            </a:pPr>
            <a:r>
              <a:rPr lang="en-US" sz="1500" dirty="0">
                <a:solidFill>
                  <a:srgbClr val="2E3A46"/>
                </a:solidFill>
              </a:rPr>
              <a:t> significa «Not only SQL». No es obligatorio definir antes los campos: dos elementos de la misma colección pueden ser distintos.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060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E3A46"/>
                </a:solidFill>
              </a:rPr>
              <a:t>Nacieron para aplicaciones con muchísimos datos, que cambian de estructura a menudo o que se reparten entre muchos servidores.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663440" y="1097280"/>
            <a:ext cx="4023360" cy="2322576"/>
          </a:xfrm>
          <a:prstGeom prst="roundRect">
            <a:avLst>
              <a:gd name="adj" fmla="val 2362"/>
            </a:avLst>
          </a:prstGeom>
          <a:solidFill>
            <a:srgbClr val="F3F6F8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28032" y="1207008"/>
            <a:ext cx="36941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E8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Tres elementos de la misma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E8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colección con campos distintos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nombre: "Ana",  edad: 21,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telefono: "600111222"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nombre: "Luis", edad: 34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nombre: "Marta", edad: 28,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email: "marta@correo.es" 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Comparativa rápida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Relacional (SQL)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relacional (NoSQL)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 de guardar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Tablas con filas y columnas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Documentos, clave-valor, grafos...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Estructura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Fija, definida antes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Flexible, cada elemento puede variar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Lenguaje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SQL, común a todos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sistema tiene el suyo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potentes (JOIN)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limitadas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Crecimiento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servidor más potente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Repartir entre muchos servidores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 para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Contabilidad, bancos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Webs, apps, redes sociales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4D3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bases de datos NoSQL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4E7E0"/>
                </a:solidFill>
              </a:rPr>
              <a:t>Hay cuatro grandes familias. MongoDB pertenece a la de las bases de datos documentales.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cuatro familias NoSQL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BEFE7"/>
          </a:solidFill>
          <a:ln w="12700">
            <a:solidFill>
              <a:srgbClr val="FBEF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21792" y="1170432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47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Documentales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554480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E3A46"/>
                </a:solidFill>
              </a:rPr>
              <a:t>Cada elemento es un documento con campos y valores, al estilo JSON.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167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5"/>
                </a:solidFill>
              </a:rPr>
              <a:t>MongoDB, CouchDB, Firestore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28032" y="1170432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Clave-valor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28032" y="1554480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E3A46"/>
                </a:solidFill>
              </a:rPr>
              <a:t>Como un diccionario: una clave única y su valor. Muy rápidas.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28032" y="2167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5"/>
                </a:solidFill>
              </a:rPr>
              <a:t>Redis, DynamoDB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1792" y="2862072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Columnares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3246120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E3A46"/>
                </a:solidFill>
              </a:rPr>
              <a:t>Agrupan los datos por columnas. Para cantidades enormes.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3858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5"/>
                </a:solidFill>
              </a:rPr>
              <a:t>Cassandra, HBase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7432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828032" y="2862072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grafos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28032" y="3246120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E3A46"/>
                </a:solidFill>
              </a:rPr>
              <a:t>Guardan elementos y las relaciones entre ellos.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28032" y="3858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5"/>
                </a:solidFill>
              </a:rPr>
              <a:t>Neo4j, Amazon Neptune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JSON?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3A46"/>
                </a:solidFill>
              </a:rPr>
              <a:t>Una forma de escribir datos como texto. MongoDB guarda la información de una manera muy parecida.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931920" cy="1612087"/>
          </a:xfrm>
          <a:prstGeom prst="roundRect">
            <a:avLst>
              <a:gd name="adj" fmla="val 3403"/>
            </a:avLst>
          </a:prstGeom>
          <a:solidFill>
            <a:srgbClr val="F3F6F8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755648"/>
            <a:ext cx="3602736" cy="1392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"nombre": "Ana Pons",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"edad": 21,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"ciudad": "Maó",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"aficiones": ["leer", "nadar"]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737360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737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70992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Entre llaves { } va un objeto: una ficha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2359152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33172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Cada dato se escribe como "campo": valor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980944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980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953512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Los textos van entre comillas; los números, sin comillas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3602736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357530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Entre corchetes [ ] va una lista de valores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4D3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MongoDB?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4E7E0"/>
                </a:solidFill>
              </a:rPr>
              <a:t>Un sistema gestor de bases de datos NoSQL de tipo documental. Gratuito en su versión Community y disponible para Windows, Linux y macOS.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conceptos básicos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785"/>
                </a:solidFill>
              </a:rPr>
              <a:t>En MongoDB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92240" y="1005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785"/>
                </a:solidFill>
              </a:rPr>
              <a:t>Equivale en SQL 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760720" cy="658368"/>
          </a:xfrm>
          <a:prstGeom prst="roundRect">
            <a:avLst>
              <a:gd name="adj" fmla="val 11111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21792" y="132588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132588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3A46"/>
                </a:solidFill>
              </a:rPr>
              <a:t>Agrupa colecciones relacionadas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3258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7A55"/>
                </a:solidFill>
              </a:rPr>
              <a:t>Base de datos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2112264"/>
            <a:ext cx="5532120" cy="658368"/>
          </a:xfrm>
          <a:prstGeom prst="roundRect">
            <a:avLst>
              <a:gd name="adj" fmla="val 11111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50392" y="211226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Colección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2112264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3A46"/>
                </a:solidFill>
              </a:rPr>
              <a:t>Conjunto de documentos del mismo tipo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11226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7A55"/>
                </a:solidFill>
              </a:rPr>
              <a:t>Tabla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898648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BEFE7"/>
          </a:solidFill>
          <a:ln w="12700">
            <a:solidFill>
              <a:srgbClr val="FBEF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078992" y="289864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289864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3A46"/>
                </a:solidFill>
              </a:rPr>
              <a:t>Un elemento concreto, con formato JSON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89864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7A55"/>
                </a:solidFill>
              </a:rPr>
              <a:t>Fila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143000" y="3685032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307592" y="368503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971800" y="368503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3A46"/>
                </a:solidFill>
              </a:rPr>
              <a:t>Cada dato del documento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68503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7A55"/>
                </a:solidFill>
              </a:rPr>
              <a:t>Columna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Así es un documento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754880" cy="2119579"/>
          </a:xfrm>
          <a:prstGeom prst="roundRect">
            <a:avLst>
              <a:gd name="adj" fmla="val 2588"/>
            </a:avLst>
          </a:prstGeom>
          <a:solidFill>
            <a:srgbClr val="F3F6F8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207008"/>
            <a:ext cx="4425696" cy="190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_id: ObjectId("6703f1a2c9e7..."),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nombre: "Ana Pons",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edad: 21,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ciudad: "Maó",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aficiones: ["leer", "nadar"],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direccion: { calle: "Carrer Nou 5",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cp: "07701"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40680" y="109728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605272" y="1216152"/>
            <a:ext cx="2916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_id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605272" y="160020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E3A46"/>
                </a:solidFill>
              </a:rPr>
              <a:t>Identificador único. MongoDB lo crea solo si no lo escribimos.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40680" y="224028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605272" y="2359152"/>
            <a:ext cx="2916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F7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Documento anidado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05272" y="274320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E3A46"/>
                </a:solidFill>
              </a:rPr>
              <a:t>Un campo puede contener una lista u otro documento.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40680" y="338328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BEFE7"/>
          </a:solidFill>
          <a:ln w="12700">
            <a:solidFill>
              <a:srgbClr val="FBEF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605272" y="3502152"/>
            <a:ext cx="2916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47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605272" y="388620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E3A46"/>
                </a:solidFill>
              </a:rPr>
              <a:t>Formato binario en que MongoDB guarda los documentos.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 e inconvenientes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21792" y="1216152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600200"/>
            <a:ext cx="369417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E3A46"/>
                </a:solidFill>
              </a:rPr>
              <a:t>Muy fácil de empezar: no hay que diseñar tablas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E3A46"/>
                </a:solidFill>
              </a:rPr>
              <a:t>Los datos se parecen a los objetos de los programas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E3A46"/>
                </a:solidFill>
              </a:rPr>
              <a:t>Rápido y preparado para grandes volúmenes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BEFE7"/>
          </a:solidFill>
          <a:ln w="12700">
            <a:solidFill>
              <a:srgbClr val="FBEF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28032" y="1216152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47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Inconvenientes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28032" y="1600200"/>
            <a:ext cx="369417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E3A46"/>
                </a:solidFill>
              </a:rPr>
              <a:t>Las relaciones entre colecciones son menos cómodas que en SQL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E3A46"/>
                </a:solidFill>
              </a:rPr>
              <a:t>Si no se tiene cuidado, es fácil guardar datos desordenados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E3A46"/>
                </a:solidFill>
              </a:rPr>
              <a:t>Su lenguaje de consulta es propio, distinto de SQL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herramientas de MongoDB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21792" y="1216152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600200"/>
            <a:ext cx="3694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E3A46"/>
                </a:solidFill>
              </a:rPr>
              <a:t>El servidor: guarda los datos y atiende peticiones en el puerto 27017.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28032" y="1216152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F7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mongosh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28032" y="1600200"/>
            <a:ext cx="3694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E3A46"/>
                </a:solidFill>
              </a:rPr>
              <a:t>La consola de texto para escribir órdenes.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1792" y="2816352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F7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Compass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200400"/>
            <a:ext cx="3694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E3A46"/>
                </a:solidFill>
              </a:rPr>
              <a:t>Aplicación visual para ver y editar los datos con el ratón.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6974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28032" y="2816352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de Node.js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28032" y="3200400"/>
            <a:ext cx="3694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E3A46"/>
                </a:solidFill>
              </a:rPr>
              <a:t>Librería que permite a un programa hablar con MongoDB.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4D3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Node.js?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4E7E0"/>
                </a:solidFill>
              </a:rPr>
              <a:t>Un programa que permite ejecutar JavaScript fuera del navegador, directamente en el ordenador o en un servidor.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y npm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21792" y="1216152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600200"/>
            <a:ext cx="3694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E3A46"/>
                </a:solidFill>
              </a:rPr>
              <a:t>JavaScript normalmente vive en el navegador. Con Node.js podemos usarlo para leer archivos, crear servidores o conectar con MongoDB.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28032" y="1216152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F7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28032" y="1600200"/>
            <a:ext cx="3694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E3A46"/>
                </a:solidFill>
              </a:rPr>
              <a:t>Gestor de paquetes de Node.js: descarga librerías hechas por otras personas. Se instala junto a Node.js.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8229600" cy="698602"/>
          </a:xfrm>
          <a:prstGeom prst="roundRect">
            <a:avLst>
              <a:gd name="adj" fmla="val 7853"/>
            </a:avLst>
          </a:prstGeom>
          <a:solidFill>
            <a:srgbClr val="F3F6F8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2990088"/>
            <a:ext cx="7900416" cy="479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init -y          // crea un proyecto nuevo (archivo package.json)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mongodb  // descarga la librería oficial de MongoDB en node_modules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encajan las piezas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74520" cy="2194560"/>
          </a:xfrm>
          <a:prstGeom prst="roundRect">
            <a:avLst>
              <a:gd name="adj" fmla="val 3902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79576" y="1554480"/>
            <a:ext cx="420624" cy="42062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79576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146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3A46"/>
                </a:solidFill>
              </a:rPr>
              <a:t>Escribimos app.js en JavaScript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59152" y="2331720"/>
            <a:ext cx="164592" cy="274320"/>
          </a:xfrm>
          <a:prstGeom prst="chevron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1371600"/>
            <a:ext cx="1874520" cy="2194560"/>
          </a:xfrm>
          <a:prstGeom prst="roundRect">
            <a:avLst>
              <a:gd name="adj" fmla="val 390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82696" y="1554480"/>
            <a:ext cx="420624" cy="42062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82696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21031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25146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3A46"/>
                </a:solidFill>
              </a:rPr>
              <a:t>Lo ejecuta con node app.js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62272" y="2331720"/>
            <a:ext cx="164592" cy="274320"/>
          </a:xfrm>
          <a:prstGeom prst="chevron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371600"/>
            <a:ext cx="1874520" cy="2194560"/>
          </a:xfrm>
          <a:prstGeom prst="roundRect">
            <a:avLst>
              <a:gd name="adj" fmla="val 3902"/>
            </a:avLst>
          </a:prstGeom>
          <a:solidFill>
            <a:srgbClr val="FBEFE7"/>
          </a:solidFill>
          <a:ln w="12700">
            <a:solidFill>
              <a:srgbClr val="FBEF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85816" y="1554480"/>
            <a:ext cx="420624" cy="42062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85816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21031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25146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3A46"/>
                </a:solidFill>
              </a:rPr>
              <a:t>La librería mongodb se conecta a 127.0.0.1:27017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65392" y="2331720"/>
            <a:ext cx="164592" cy="274320"/>
          </a:xfrm>
          <a:prstGeom prst="chevron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1371600"/>
            <a:ext cx="1874520" cy="2194560"/>
          </a:xfrm>
          <a:prstGeom prst="roundRect">
            <a:avLst>
              <a:gd name="adj" fmla="val 3902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88936" y="1554480"/>
            <a:ext cx="420624" cy="42062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88936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21031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25146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3A46"/>
                </a:solidFill>
              </a:rPr>
              <a:t>Guarda o devuelve los documentos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78A8"/>
                </a:solidFill>
              </a:rPr>
              <a:t>El resultado aparece en la terminal: el programa muestra los datos que MongoDB le devuelve.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4D3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Instalación de MongoDB paso a paso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4E7E0"/>
                </a:solidFill>
              </a:rPr>
              <a:t>Instalaremos el servidor, la aplicación Compass y la consola mongosh en Windows.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empezar: la terminal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3A46"/>
                </a:solidFill>
              </a:rPr>
              <a:t>Ventana donde se escriben órdenes de texto y se ejecutan pulsando Intro.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6184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Pulsa la tecla Windows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240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21284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Escribe cmd y abre Símbolo del sistema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8072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Aparece C:\Users\TuNombre&gt;: ahí se escriben las órdenes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429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4015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Ubuntu: Ctrl + Alt + T. macOS: app Terminal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37760" y="1645920"/>
            <a:ext cx="3749040" cy="1325880"/>
          </a:xfrm>
          <a:prstGeom prst="roundRect">
            <a:avLst>
              <a:gd name="adj" fmla="val 4138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0" y="17373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78A8"/>
                </a:solidFill>
              </a:rPr>
              <a:t>CONSEJO PARA WINDOWS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199339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3A46"/>
                </a:solidFill>
              </a:rPr>
              <a:t>Usa el Símbolo del sistema (cmd) y no PowerShell: en PowerShell npm puede dar un error de «ejecución de scripts deshabilitada».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Instalar el servidor y Compass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06984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Entra en mongodb.com/try/download/community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83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75564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Versión por defecto, Windows x64, paquete msi. Pulsa Download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44144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Abre el archivo y pulsa Next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12724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Acepta la licencia y elige Complete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1097280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1097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106984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Deja marcado Install MongoD as a Service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783080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1783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175564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Deja marcado Install MongoDB Compass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2468880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6344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244144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Pulsa Install y espera unos minutos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63440" y="3154680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6344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312724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Pulsa Finish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78A8"/>
                </a:solidFill>
              </a:rPr>
              <a:t>Como servicio, MongoDB se pone en marcha solo cada vez que enciendes el ordenador.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Instalar la consola mongosh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3A46"/>
                </a:solidFill>
              </a:rPr>
              <a:t>Desde la versión 6 de MongoDB, mongosh se descarga aparte.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6184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Entra en mongodb.com/try/download/shell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240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21284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Elige Windows x64 y paquete msi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8072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Instala pulsando Next sin cambiar nada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429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4015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Cierra las terminales y abre una nueva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37760" y="1645920"/>
            <a:ext cx="3749040" cy="1188720"/>
          </a:xfrm>
          <a:prstGeom prst="roundRect">
            <a:avLst>
              <a:gd name="adj" fmla="val 4615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0" y="17373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78A8"/>
                </a:solidFill>
              </a:rPr>
              <a:t>ALTERNATIVA SIN INSTALAR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199339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3A46"/>
                </a:solidFill>
              </a:rPr>
              <a:t>Compass lleva una consola integrada: conéctate y pulsa la barra &gt;_MONGOSH en la parte inferior de la ventana.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Comprobar que MongoDB funciona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0698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Abre una terminal nueva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61848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Escribe mongosh y pulsa Intro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1671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Aparece test&gt;: estás conectado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7157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Escribe db.version()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2644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Sal con exit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0" y="1097280"/>
            <a:ext cx="4114800" cy="1869491"/>
          </a:xfrm>
          <a:prstGeom prst="roundRect">
            <a:avLst>
              <a:gd name="adj" fmla="val 2935"/>
            </a:avLst>
          </a:prstGeom>
          <a:solidFill>
            <a:srgbClr val="E8F3EF"/>
          </a:solidFill>
          <a:ln w="9525">
            <a:solidFill>
              <a:srgbClr val="C9E0D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36592" y="1188720"/>
            <a:ext cx="3785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F6F62"/>
                </a:solidFill>
              </a:rPr>
              <a:t>LO QUE DEBERÍAS VER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736592" y="1481328"/>
            <a:ext cx="3785616" cy="1394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C:\Users\Ana&gt; mongosh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Connecting to: mongodb://127.0.0.1:27017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MongoDB: 8.x.x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Mongosh: 2.x.x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test&gt; db.version()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8.x.x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test&gt; exit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329184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BEFE7"/>
          </a:solidFill>
          <a:ln w="12700">
            <a:solidFill>
              <a:srgbClr val="FBEF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54880" y="3383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47A55"/>
                </a:solidFill>
              </a:rPr>
              <a:t>SI NO CONECTA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363931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3A46"/>
                </a:solidFill>
              </a:rPr>
              <a:t>Abre Servicios de Windows y comprueba que MongoDB Server está En ejecución.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Conectarse con MongoDB Compass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11556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E3A46"/>
                </a:solidFill>
              </a:rPr>
              <a:t>Abre MongoDB Compass desde el menú Inicio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09928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09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682496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E3A46"/>
                </a:solidFill>
              </a:rPr>
              <a:t>Pulsa Add new connection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276856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76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249424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E3A46"/>
                </a:solidFill>
              </a:rPr>
              <a:t>En URI escribe mongodb://localhost:27017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843784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8163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E3A46"/>
                </a:solidFill>
              </a:rPr>
              <a:t>Pulsa Save &amp; Connect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410712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3832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E3A46"/>
                </a:solidFill>
              </a:rPr>
              <a:t>A la izquierda verás admin, config y local: ¡funciona!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4D3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Instalación de Node.js y del editor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4E7E0"/>
                </a:solidFill>
              </a:rPr>
              <a:t>Node.js trae npm incluido. Visual Studio Code nos ayudará a escribir el código.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Instalar Node.js en Windows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069848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Entra en nodejs.org y descarga la versión LTS (.msi)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00784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00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67335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Abre el instalador, acepta la licencia y pulsa Next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04288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276856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No cambies carpeta ni componentes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07792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07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88036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Deja sin marcar las herramientas para módulos nativos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511296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511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4838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Pulsa Install, luego Finish y abre una terminal nueva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1097280"/>
            <a:ext cx="3749040" cy="91440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02352" y="1188720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78A8"/>
                </a:solidFill>
              </a:rPr>
              <a:t>COMPROBACIÓN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102352" y="1499616"/>
            <a:ext cx="3419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-v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37760" y="2194560"/>
            <a:ext cx="3749040" cy="1006754"/>
          </a:xfrm>
          <a:prstGeom prst="roundRect">
            <a:avLst>
              <a:gd name="adj" fmla="val 5450"/>
            </a:avLst>
          </a:prstGeom>
          <a:solidFill>
            <a:srgbClr val="E8F3EF"/>
          </a:solidFill>
          <a:ln w="9525">
            <a:solidFill>
              <a:srgbClr val="C9E0D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02352" y="2286000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F6F62"/>
                </a:solidFill>
              </a:rPr>
              <a:t>LO QUE DEBERÍAS VER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102352" y="2578608"/>
            <a:ext cx="341985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v24.x.x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11.x.x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3291840"/>
            <a:ext cx="3749040" cy="1051560"/>
          </a:xfrm>
          <a:prstGeom prst="roundRect">
            <a:avLst>
              <a:gd name="adj" fmla="val 5217"/>
            </a:avLst>
          </a:prstGeom>
          <a:solidFill>
            <a:srgbClr val="FBEFE7"/>
          </a:solidFill>
          <a:ln w="12700">
            <a:solidFill>
              <a:srgbClr val="FBEFE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20640" y="33832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47A55"/>
                </a:solidFill>
              </a:rPr>
              <a:t>«NO SE RECONOCE COMO UN COMANDO»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363931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3A46"/>
                </a:solidFill>
              </a:rPr>
              <a:t>Cierra la terminal y abre otra. Si sigue, reinicia el ordenador.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Instalar Visual Studio Code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06984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Entra en code.visualstudio.com y descarga el instalador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80136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Acepta la licencia y pulsa Siguiente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560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53288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Marca «Abrir con Code» y «Agregar a PATH»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26440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Para ponerlo en español: Ctrl + Mayús + P, Configure Display Language, Español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0" y="1097280"/>
            <a:ext cx="3200400" cy="1554480"/>
          </a:xfrm>
          <a:prstGeom prst="roundRect">
            <a:avLst>
              <a:gd name="adj" fmla="val 4706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650992" y="1216152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F7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un editor?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650992" y="1600200"/>
            <a:ext cx="2871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E3A46"/>
                </a:solidFill>
              </a:rPr>
              <a:t>Colorea el código, ayuda a detectar errores y trae una terminal integrada (Ctrl + ñ).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Ubuntu y macOS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937760" cy="2894305"/>
          </a:xfrm>
          <a:prstGeom prst="roundRect">
            <a:avLst>
              <a:gd name="adj" fmla="val 1896"/>
            </a:avLst>
          </a:prstGeom>
          <a:solidFill>
            <a:srgbClr val="F3F6F8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143000"/>
            <a:ext cx="4608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78A8"/>
                </a:solidFill>
              </a:rPr>
              <a:t>UBUNTU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453896"/>
            <a:ext cx="4608576" cy="2382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E8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Ubuntu 24.04: MongoDB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-fsSL https://www.mongodb.org/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static/pgp/server-8.0.asc | sudo gpg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-o /usr/share/keyrings/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mongodb-server-8.0.gpg --dearmor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E8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(añadir repositorio: ver la guía)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apt-get install -y mongodb-org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start mongod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E8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Ubuntu: Node.js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-fsSL https://deb.nodesource.com/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setup_24.x | sudo -E bash -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apt-get install -y nodejs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577840" y="1051560"/>
            <a:ext cx="3108960" cy="1473327"/>
          </a:xfrm>
          <a:prstGeom prst="roundRect">
            <a:avLst>
              <a:gd name="adj" fmla="val 3724"/>
            </a:avLst>
          </a:prstGeom>
          <a:solidFill>
            <a:srgbClr val="F3F6F8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42432" y="1143000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78A8"/>
                </a:solidFill>
              </a:rPr>
              <a:t>MACOS (HOMEBREW)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742432" y="1453896"/>
            <a:ext cx="2779776" cy="961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tap mongodb/brew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mongodb-community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services start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mongodb-community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node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577840" y="3200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F78A8"/>
                </a:solidFill>
              </a:rPr>
              <a:t>Las órdenes completas de Ubuntu están en el apartado 6 de la guía.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4D3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Primeros pasos con mongosh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4E7E0"/>
                </a:solidFill>
              </a:rPr>
              <a:t>Las órdenes se escriben después del indicador test&gt; y se ejecutan con Intro.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 y elegir bases de datos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172261"/>
          </a:xfrm>
          <a:prstGeom prst="roundRect">
            <a:avLst>
              <a:gd name="adj" fmla="val 4680"/>
            </a:avLst>
          </a:prstGeom>
          <a:solidFill>
            <a:srgbClr val="F3F6F8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207008"/>
            <a:ext cx="7900416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dbs            // muestra las bases de datos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tienda          // entra en 'tienda' (si no existe, se creará)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                 // dice en qué base de datos estás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collections    // muestra las colecciones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9260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78A8"/>
                </a:solidFill>
              </a:rPr>
              <a:t>CURIOSIDAD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821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3A46"/>
                </a:solidFill>
              </a:rPr>
              <a:t>Tras use tienda la base de datos aún no aparece en show dbs: MongoDB solo la crea cuando guardas el primer documento.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Insertar documentos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119579"/>
          </a:xfrm>
          <a:prstGeom prst="roundRect">
            <a:avLst>
              <a:gd name="adj" fmla="val 2588"/>
            </a:avLst>
          </a:prstGeom>
          <a:solidFill>
            <a:srgbClr val="F3F6F8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207008"/>
            <a:ext cx="7900416" cy="190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E8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 documento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db.productos.insertOne({ nombre: "Manzana", precio: 1.2, stock: 50 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E8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Varios documentos a la vez, dentro de corchetes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db.productos.insertMany([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nombre: "Pera",    precio: 1.5, stock: 30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nombre: "Naranja", precio: 0.9, stock: 80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nombre: "Plátano", precio: 1.1, stock: 0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3399739"/>
            <a:ext cx="8229600" cy="769925"/>
          </a:xfrm>
          <a:prstGeom prst="roundRect">
            <a:avLst>
              <a:gd name="adj" fmla="val 7126"/>
            </a:avLst>
          </a:prstGeom>
          <a:solidFill>
            <a:srgbClr val="E8F3EF"/>
          </a:solidFill>
          <a:ln w="9525">
            <a:solidFill>
              <a:srgbClr val="C9E0D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3491179"/>
            <a:ext cx="7900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F6F62"/>
                </a:solidFill>
              </a:rPr>
              <a:t>LO QUE DEBERÍAS VER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783787"/>
            <a:ext cx="7900416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acknowledged: true, insertedId: ObjectId('6703...') 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Consultar documentos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916582"/>
          </a:xfrm>
          <a:prstGeom prst="roundRect">
            <a:avLst>
              <a:gd name="adj" fmla="val 2863"/>
            </a:avLst>
          </a:prstGeom>
          <a:solidFill>
            <a:srgbClr val="F3F6F8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207008"/>
            <a:ext cx="7900416" cy="1697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db.productos.find()                           // todos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db.productos.find({ nombre: "Pera" })         // los que se llaman Pera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db.productos.findOne({ nombre: "Pera" })      // solo el primero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db.productos.find({ precio: { $lt: 1.3 } })   // precio menor que 1.3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db.productos.find({}, { nombre: 1, _id: 0 })  // solo el nombre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db.productos.find().sort({ precio: 1 })       // ordenar (1 asc, -1 desc)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db.productos.find().limit(2)                  // los dos primeros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db.productos.countDocuments()                 // contar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Operadores de consulta</a:t>
            </a:r>
            <a:endParaRPr lang="en-US" sz="26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74320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$eq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Igual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stock: { $eq: 0 } 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Distinto 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stock: { $ne: 0 } 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$gt / $gte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Mayor / mayor o igual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precio: { $gt: 1 } 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$lt / $lte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 / menor o igual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precio: { $lte: 1.5 } 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 en una lista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nombre: { $in: ["Pera", "Manzana"] } 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$and / $or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/ 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$or: [ { stock: 0 }, { precio: { $gt: 1.4 } } ] 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78A8"/>
                </a:solidFill>
              </a:rPr>
              <a:t>Todos los operadores empiezan por el símbolo $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Actualizar y borrar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194206"/>
          </a:xfrm>
          <a:prstGeom prst="roundRect">
            <a:avLst>
              <a:gd name="adj" fmla="val 4594"/>
            </a:avLst>
          </a:prstGeom>
          <a:solidFill>
            <a:srgbClr val="F3F6F8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188720"/>
            <a:ext cx="7900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78A8"/>
                </a:solidFill>
              </a:rPr>
              <a:t>ACTUALIZAR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499616"/>
            <a:ext cx="7900416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db.productos.updateOne({ nombre: "Manzana" }, { $set: { precio: 1.3 } 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db.productos.updateOne({ nombre: "Plátano" }, { $inc: { stock: 20 } 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db.productos.updateMany({}, { $set: { categoria: "fruta" } })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5120640" cy="1363370"/>
          </a:xfrm>
          <a:prstGeom prst="roundRect">
            <a:avLst>
              <a:gd name="adj" fmla="val 4024"/>
            </a:avLst>
          </a:prstGeom>
          <a:solidFill>
            <a:srgbClr val="F3F6F8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2880360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78A8"/>
                </a:solidFill>
              </a:rPr>
              <a:t>BORRAR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191256"/>
            <a:ext cx="4791456" cy="851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db.productos.deleteOne({ nombre: "Naranja" })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db.productos.deleteMany({ stock: 0 })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db.productos.drop()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db.dropDatabase()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760720" y="2788920"/>
            <a:ext cx="2926080" cy="1554480"/>
          </a:xfrm>
          <a:prstGeom prst="roundRect">
            <a:avLst>
              <a:gd name="adj" fmla="val 3529"/>
            </a:avLst>
          </a:prstGeom>
          <a:solidFill>
            <a:srgbClr val="FBEFE7"/>
          </a:solidFill>
          <a:ln w="12700">
            <a:solidFill>
              <a:srgbClr val="FBEF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0" y="2880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47A55"/>
                </a:solidFill>
              </a:rPr>
              <a:t>MUY IMPORTANTE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3136392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3A46"/>
                </a:solidFill>
              </a:rPr>
              <a:t>No olvides $set: sin él, updateOne da error. $set cambia solo los campos indicados.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Resumen: CRUD en MongoDB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74520" cy="2331720"/>
          </a:xfrm>
          <a:prstGeom prst="roundRect">
            <a:avLst>
              <a:gd name="adj" fmla="val 3902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74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785"/>
                </a:solidFill>
              </a:rPr>
              <a:t>SQL: INSERT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7744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insertOne()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4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insertMany()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1874520" cy="2331720"/>
          </a:xfrm>
          <a:prstGeom prst="roundRect">
            <a:avLst>
              <a:gd name="adj" fmla="val 390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560320" y="13716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Leer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1874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785"/>
                </a:solidFill>
              </a:rPr>
              <a:t>SQL: SELECT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37744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find()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4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findOne()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1874520" cy="2331720"/>
          </a:xfrm>
          <a:prstGeom prst="roundRect">
            <a:avLst>
              <a:gd name="adj" fmla="val 3902"/>
            </a:avLst>
          </a:prstGeom>
          <a:solidFill>
            <a:srgbClr val="FBEFE7"/>
          </a:solidFill>
          <a:ln w="12700">
            <a:solidFill>
              <a:srgbClr val="FBEF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63440" y="13716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Actualizar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874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785"/>
                </a:solidFill>
              </a:rPr>
              <a:t>SQL: UPDATE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37744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updateOne()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4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updateMany()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0" y="1188720"/>
            <a:ext cx="1874520" cy="2331720"/>
          </a:xfrm>
          <a:prstGeom prst="roundRect">
            <a:avLst>
              <a:gd name="adj" fmla="val 3902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766560" y="13716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Borrar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1874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785"/>
                </a:solidFill>
              </a:rPr>
              <a:t>SQL: DELETE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37744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deleteOne()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4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deleteMany()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78A8"/>
                </a:solidFill>
              </a:rPr>
              <a:t>CRUD: Create, Read, Update, Delete — las cuatro operaciones básicas con datos.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4D3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Ejemplo: Node.js y MongoDB juntos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4E7E0"/>
                </a:solidFill>
              </a:rPr>
              <a:t>Un pequeño programa que guarda tres contactos en la base de datos agenda y muestra los de Maó.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Preparar el proyecto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069848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Abre una terminal y ve al Escritorio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00784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00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67335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Crea la carpeta ejemplo-agenda y entra en ella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04288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276856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Crea el proyecto con npm init -y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07792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07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88036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Instala la librería con npm install mongodb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511296"/>
            <a:ext cx="329184" cy="329184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511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4838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Abre la carpeta en VS Code con code . y crea app.js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1097280"/>
            <a:ext cx="3749040" cy="1803197"/>
          </a:xfrm>
          <a:prstGeom prst="roundRect">
            <a:avLst>
              <a:gd name="adj" fmla="val 3043"/>
            </a:avLst>
          </a:prstGeom>
          <a:solidFill>
            <a:srgbClr val="F3F6F8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02352" y="1188720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78A8"/>
                </a:solidFill>
              </a:rPr>
              <a:t>TERMINAL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102352" y="1499616"/>
            <a:ext cx="3419856" cy="1291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Desktop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ejemplo-agenda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ejemplo-agenda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init -y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mongodb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3083357"/>
            <a:ext cx="3749040" cy="939089"/>
          </a:xfrm>
          <a:prstGeom prst="roundRect">
            <a:avLst>
              <a:gd name="adj" fmla="val 5842"/>
            </a:avLst>
          </a:prstGeom>
          <a:solidFill>
            <a:srgbClr val="E8F3EF"/>
          </a:solidFill>
          <a:ln w="9525">
            <a:solidFill>
              <a:srgbClr val="C9E0D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02352" y="3174797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F6F62"/>
                </a:solidFill>
              </a:rPr>
              <a:t>LO QUE DEBERÍAS VER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102352" y="3467405"/>
            <a:ext cx="3419856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added 12 packages in 3s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 0 vulnerabilities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programa app.js (1 de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120640" cy="3657600"/>
          </a:xfrm>
          <a:prstGeom prst="roundRect">
            <a:avLst>
              <a:gd name="adj" fmla="val 1500"/>
            </a:avLst>
          </a:prstGeom>
          <a:solidFill>
            <a:srgbClr val="F3F6F8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097280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78A8"/>
                </a:solidFill>
              </a:rPr>
              <a:t>APP.JS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408176"/>
            <a:ext cx="4791456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E8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Cargar la librería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MongoClient } = require("mongodb");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E8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Dirección del servidor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url = "mongodb://127.0.0.1:27017";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cliente = new MongoClient(url);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main() {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E8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3. Conectar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cliente.connect();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console.log("Conectado a MongoDB");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E8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4. Base de datos y colección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db = cliente.db("agenda");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contactos = db.collection("contactos");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E8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5. Vaciar para poder repetir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contactos.deleteMany({});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760720" y="1005840"/>
            <a:ext cx="2926080" cy="1600200"/>
          </a:xfrm>
          <a:prstGeom prst="roundRect">
            <a:avLst>
              <a:gd name="adj" fmla="val 4571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25312" y="1124712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Conectar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25312" y="1508760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E3A46"/>
                </a:solidFill>
              </a:rPr>
              <a:t>Cargamos la librería, indicamos la dirección del servidor y abrimos la conexión.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2788920"/>
            <a:ext cx="2926080" cy="1600200"/>
          </a:xfrm>
          <a:prstGeom prst="roundRect">
            <a:avLst>
              <a:gd name="adj" fmla="val 4571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925312" y="2907792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F7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Elegir dónde guardar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925312" y="3291840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E3A46"/>
                </a:solidFill>
              </a:rPr>
              <a:t>Base de datos agenda y colección contactos. Se crean solas al insertar.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programa app.js (2 de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604793"/>
          </a:xfrm>
          <a:prstGeom prst="roundRect">
            <a:avLst>
              <a:gd name="adj" fmla="val 1522"/>
            </a:avLst>
          </a:prstGeom>
          <a:solidFill>
            <a:srgbClr val="F3F6F8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097280"/>
            <a:ext cx="7900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78A8"/>
                </a:solidFill>
              </a:rPr>
              <a:t>APP.JS (CONTINUACIÓN)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408176"/>
            <a:ext cx="7900416" cy="3092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E8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6. Insertar tres contactos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contactos.insertMany([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nombre: "Ana",   telefono: "600111222", ciudad: "Maó"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nombre: "Luis",  telefono: "600333444", ciudad: "Palma"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nombre: "Marta", telefono: "600555666", ciudad: "Maó"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console.log("Contactos guardados");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E8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7. Buscar los de Maó y mostrarlos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deMao = await contactos.find({ ciudad: "Maó" }).toArray();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console.log("Contactos de Maó:");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(const c of deMao)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console.log("- " + c.nombre + " (" + c.telefono + ")");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E8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8. Cerrar la conexión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cliente.close();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main();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Ejecutar y comprobar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68580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188720"/>
            <a:ext cx="3602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78A8"/>
                </a:solidFill>
              </a:rPr>
              <a:t>TERMINAL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499616"/>
            <a:ext cx="3602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app.js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3931920" cy="1666494"/>
          </a:xfrm>
          <a:prstGeom prst="roundRect">
            <a:avLst>
              <a:gd name="adj" fmla="val 3292"/>
            </a:avLst>
          </a:prstGeom>
          <a:solidFill>
            <a:srgbClr val="E8F3EF"/>
          </a:solidFill>
          <a:ln w="9525">
            <a:solidFill>
              <a:srgbClr val="C9E0D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2148840"/>
            <a:ext cx="3602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F6F62"/>
                </a:solidFill>
              </a:rPr>
              <a:t>LO QUE DEBERÍAS VER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441448"/>
            <a:ext cx="3602736" cy="1191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Conectado a MongoDB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Contactos guardados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Contactos de Maó: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Ana (600111222)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Marta (600555666)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828032" y="1216152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F7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Comprobar en Compass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28032" y="1600200"/>
            <a:ext cx="36941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E3A46"/>
                </a:solidFill>
              </a:rPr>
              <a:t>Conéctate a mongodb://localhost:27017, abre la base de datos agenda y la colección contactos: verás los tres documentos con su _id.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3429000"/>
            <a:ext cx="4023360" cy="960120"/>
          </a:xfrm>
          <a:prstGeom prst="roundRect">
            <a:avLst>
              <a:gd name="adj" fmla="val 5714"/>
            </a:avLst>
          </a:prstGeom>
          <a:solidFill>
            <a:srgbClr val="FBEFE7"/>
          </a:solidFill>
          <a:ln w="12700">
            <a:solidFill>
              <a:srgbClr val="FBEF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3520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47A55"/>
                </a:solidFill>
              </a:rPr>
              <a:t>¿POR QUÉ 127.0.0.1?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7764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3A46"/>
                </a:solidFill>
              </a:rPr>
              <a:t>Evita el error ECONNREFUSED ::1 que puede dar «localhost» en Node.js.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claves del código</a:t>
            </a:r>
            <a:endParaRPr lang="en-US" sz="26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require("mongodb")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 la librería instalada con npm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/ await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Espera a que MongoDB responda antes de seguir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cliente.db("agenda")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Elige la base de datos (la crea si no existe)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insertMany([...])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Guarda varios documentos a la vez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find({...}).toArray()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 y convierte el resultado en una lista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cliente.close()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Cierra la conexión; sin ella el programa no termina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4D3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frecuentes y glosario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4E7E0"/>
                </a:solidFill>
              </a:rPr>
              <a:t>Los problemas más habituales al empezar y cómo resolverlos.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frecuentes</a:t>
            </a:r>
            <a:endParaRPr lang="en-US" sz="26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Mensaje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'mongosh' / 'node' no se reconoce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Cierra y abre la terminal; si sigue, reinicia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ECONNREFUSED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está parado: inícialo en Servicios. Usa 127.0.0.1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find module 'mongodb'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Ejecuta npm install mongodb en la carpeta del proyecto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SyntaxError: Unexpected token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o sobra una llave, paréntesis, corchete o coma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programa no termina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await cliente.close()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de npm en PowerShell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el Símbolo del sistema (cmd)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Glosario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051560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62"/>
                </a:solidFill>
              </a:rPr>
              <a:t>NoSQL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057400" y="1051560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A46"/>
                </a:solidFill>
              </a:rPr>
              <a:t>Bases de datos sin tablas relacionales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051560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00600" y="1051560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62"/>
                </a:solidFill>
              </a:rPr>
              <a:t>Documento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1051560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A46"/>
                </a:solidFill>
              </a:rPr>
              <a:t>Unidad de información en MongoDB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94360" y="1764792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62"/>
                </a:solidFill>
              </a:rPr>
              <a:t>Colección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1764792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A46"/>
                </a:solidFill>
              </a:rPr>
              <a:t>Grupo de documentos (una tabla)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764792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00600" y="1764792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62"/>
                </a:solidFill>
              </a:rPr>
              <a:t>_id / ObjectId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764792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A46"/>
                </a:solidFill>
              </a:rPr>
              <a:t>Identificador único de cada documento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478024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94360" y="2478024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62"/>
                </a:solidFill>
              </a:rPr>
              <a:t>BSON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057400" y="2478024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A46"/>
                </a:solidFill>
              </a:rPr>
              <a:t>Formato binario de los documentos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478024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800600" y="2478024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62"/>
                </a:solidFill>
              </a:rPr>
              <a:t>CRUD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478024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A46"/>
                </a:solidFill>
              </a:rPr>
              <a:t>Crear, leer, actualizar y borrar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191256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94360" y="319125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62"/>
                </a:solidFill>
              </a:rPr>
              <a:t>Node.js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057400" y="3191256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A46"/>
                </a:solidFill>
              </a:rPr>
              <a:t>Ejecuta JavaScript fuera del navegador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3191256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800600" y="319125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62"/>
                </a:solidFill>
              </a:rPr>
              <a:t>npm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3191256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A46"/>
                </a:solidFill>
              </a:rPr>
              <a:t>Gestor de librerías de Node.js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904488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594360" y="3904488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62"/>
                </a:solidFill>
              </a:rPr>
              <a:t>Driver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057400" y="3904488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A46"/>
                </a:solidFill>
              </a:rPr>
              <a:t>Librería que conecta un lenguaje con una BD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3904488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4800600" y="3904488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62"/>
                </a:solidFill>
              </a:rPr>
              <a:t>async / await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263640" y="3904488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A46"/>
                </a:solidFill>
              </a:rPr>
              <a:t>Esperar a que termine una operación lenta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7A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 tienes lo necesario para empezar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148840"/>
            <a:ext cx="1280160" cy="64008"/>
          </a:xfrm>
          <a:prstGeom prst="rect">
            <a:avLst/>
          </a:prstGeom>
          <a:solidFill>
            <a:srgbClr val="F4D3BF"/>
          </a:solidFill>
          <a:ln w="12700">
            <a:solidFill>
              <a:srgbClr val="F4D3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514600"/>
            <a:ext cx="365760" cy="365760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48716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F0EB"/>
                </a:solidFill>
              </a:rPr>
              <a:t>MongoDB guarda documentos flexibles en colecciones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081528"/>
            <a:ext cx="365760" cy="365760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081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054096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F0EB"/>
                </a:solidFill>
              </a:rPr>
              <a:t>mongosh y Compass permiten trabajar con los datos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648456"/>
            <a:ext cx="365760" cy="365760"/>
          </a:xfrm>
          <a:prstGeom prst="ellipse">
            <a:avLst/>
          </a:prstGeom>
          <a:solidFill>
            <a:srgbClr val="C47A55"/>
          </a:solidFill>
          <a:ln w="12700">
            <a:solidFill>
              <a:srgbClr val="C47A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648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621024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F0EB"/>
                </a:solidFill>
              </a:rPr>
              <a:t>Node.js y el driver mongodb conectan tus programas con la base de datos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MongoDB y Node.js desde cero</dc:title>
  <dc:subject>PptxGenJS Presentation</dc:subject>
  <dc:creator>PptxGenJS</dc:creator>
  <cp:lastModifiedBy>PptxGenJS</cp:lastModifiedBy>
  <cp:revision>1</cp:revision>
  <dcterms:created xsi:type="dcterms:W3CDTF">2026-10-07T12:32:41Z</dcterms:created>
  <dcterms:modified xsi:type="dcterms:W3CDTF">2026-10-07T12:32:41Z</dcterms:modified>
</cp:coreProperties>
</file>