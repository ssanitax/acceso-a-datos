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ción" id="{07B2DF74-6467-3AEE-F83E-F833E4B21A9B}">
          <p14:sldIdLst/>
        </p14:section>
        <p14:section name="El problema" id="{3BBD1A99-7544-FA09-0F0B-B6CDAE1DC774}">
          <p14:sldIdLst>
            <p14:sldId id="257"/>
            <p14:sldId id="258"/>
          </p14:sldIdLst>
        </p14:section>
        <p14:section name="La solución" id="{C66D98CF-B22C-4FE8-5512-D35F73CE78C9}">
          <p14:sldIdLst>
            <p14:sldId id="259"/>
            <p14:sldId id="260"/>
          </p14:sldIdLst>
        </p14:section>
        <p14:section name="Herramientas" id="{B558BB0D-A51F-1F55-7DF8-61079C5CE071}">
          <p14:sldIdLst>
            <p14:sldId id="261"/>
            <p14:sldId id="262"/>
          </p14:sldIdLst>
        </p14:section>
        <p14:section name="Cierre" id="{87B21318-19AE-CA6B-01AF-E2835CAB3466}">
          <p14:sldIdLst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08291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mismo dato, Ana de 20 años, se guarda de forma distinta en cada lado.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 como una persona que habla español y otra que habla japonés.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Aclaración: el texto original dice que MyBatis es para bases de datos orientadas a objetos, pero en realidad también trabaja con bases de datos relacionales.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463040"/>
            <a:ext cx="768096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4400" b="1" dirty="0">
                <a:solidFill>
                  <a:schemeClr val="tx1"/>
                </a:solidFill>
              </a:defRPr>
            </a:lvl1pPr>
          </a:lstStyle>
          <a:p>
            <a:pPr marL="0" indent="0" algn="ctr">
              <a:buNone/>
            </a:pPr>
            <a:endParaRPr lang="en-US" sz="4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2697480"/>
            <a:ext cx="768096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2000" i="1" dirty="0">
                <a:solidFill>
                  <a:schemeClr val="tx2"/>
                </a:solidFill>
              </a:defRPr>
            </a:lvl1pPr>
          </a:lstStyle>
          <a:p>
            <a:pPr marL="0" indent="0" algn="ctr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Dos formas de guardar información</a:t>
            </a:r>
            <a:endParaRPr lang="en-US" sz="3200" dirty="0"/>
          </a:p>
        </p:txBody>
      </p:sp>
      <p:sp>
        <p:nvSpPr>
          <p:cNvPr id="3" name="TarjetaPrograma"/>
          <p:cNvSpPr/>
          <p:nvPr/>
        </p:nvSpPr>
        <p:spPr>
          <a:xfrm>
            <a:off x="548640" y="1280160"/>
            <a:ext cx="3840480" cy="3291840"/>
          </a:xfrm>
          <a:prstGeom prst="roundRect">
            <a:avLst>
              <a:gd name="adj" fmla="val 4167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  <a:effectLst>
            <a:outerShdw blurRad="76200" dist="25400" dir="5400000" algn="bl" rotWithShape="0">
              <a:srgbClr val="34405A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 txBox="1"/>
          <p:nvPr/>
        </p:nvSpPr>
        <p:spPr>
          <a:xfrm>
            <a:off x="777240" y="14630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El programa (Java, C#)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745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Trabaja con objetos: fichas con datos.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234440" y="2423160"/>
            <a:ext cx="2468880" cy="1737360"/>
          </a:xfrm>
          <a:prstGeom prst="roundRect">
            <a:avLst>
              <a:gd name="adj" fmla="val 5263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 txBox="1"/>
          <p:nvPr/>
        </p:nvSpPr>
        <p:spPr>
          <a:xfrm>
            <a:off x="1463040" y="260604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Objeto: Alumno</a:t>
            </a:r>
            <a:endParaRPr lang="en-US" sz="1600" dirty="0"/>
          </a:p>
          <a:p>
            <a:pPr marL="0" indent="0">
              <a:buNone/>
            </a:pPr>
            <a:r>
              <a:rPr lang="en-US" sz="800" dirty="0">
                <a:solidFill>
                  <a:schemeClr val="tx1"/>
                </a:solidFill>
              </a:rPr>
              <a:t> 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nombre = Ana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edad = 20</a:t>
            </a:r>
            <a:endParaRPr lang="en-US" sz="1600" dirty="0"/>
          </a:p>
        </p:txBody>
      </p:sp>
      <p:sp>
        <p:nvSpPr>
          <p:cNvPr id="8" name="TarjetaBaseDatos"/>
          <p:cNvSpPr/>
          <p:nvPr/>
        </p:nvSpPr>
        <p:spPr>
          <a:xfrm>
            <a:off x="4754880" y="1280160"/>
            <a:ext cx="3840480" cy="3291840"/>
          </a:xfrm>
          <a:prstGeom prst="roundRect">
            <a:avLst>
              <a:gd name="adj" fmla="val 4167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  <a:effectLst>
            <a:outerShdw blurRad="76200" dist="25400" dir="5400000" algn="bl" rotWithShape="0">
              <a:srgbClr val="34405A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 txBox="1"/>
          <p:nvPr/>
        </p:nvSpPr>
        <p:spPr>
          <a:xfrm>
            <a:off x="4983480" y="14630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La base de datos (MySQL...)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983480" y="18745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Trabaja con tablas: filas y columnas.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74920" y="2514600"/>
          <a:ext cx="3200400" cy="1152144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A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nombre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A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edad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A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A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Ana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A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A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A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Luis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A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22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A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El problema: hablan idiomas distintos</a:t>
            </a:r>
            <a:endParaRPr lang="en-US" sz="3200" dirty="0"/>
          </a:p>
        </p:txBody>
      </p:sp>
      <p:sp>
        <p:nvSpPr>
          <p:cNvPr id="3" name="Objeto"/>
          <p:cNvSpPr/>
          <p:nvPr/>
        </p:nvSpPr>
        <p:spPr>
          <a:xfrm>
            <a:off x="548640" y="1463040"/>
            <a:ext cx="2377440" cy="1463040"/>
          </a:xfrm>
          <a:prstGeom prst="roundRect">
            <a:avLst>
              <a:gd name="adj" fmla="val 9375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  <a:effectLst>
            <a:outerShdw blurRad="76200" dist="25400" dir="5400000" algn="bl" rotWithShape="0">
              <a:srgbClr val="34405A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</a:rPr>
              <a:t>Objeto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945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</a:rPr>
              <a:t>habla «Java»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023360" y="1645920"/>
            <a:ext cx="1097280" cy="10972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 txBox="1"/>
          <p:nvPr/>
        </p:nvSpPr>
        <p:spPr>
          <a:xfrm>
            <a:off x="4023360" y="164592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chemeClr val="tx1"/>
                </a:solidFill>
              </a:rPr>
              <a:t>?</a:t>
            </a:r>
            <a:endParaRPr lang="en-US" sz="4400" dirty="0"/>
          </a:p>
        </p:txBody>
      </p:sp>
      <p:sp>
        <p:nvSpPr>
          <p:cNvPr id="8" name="Tabla"/>
          <p:cNvSpPr/>
          <p:nvPr/>
        </p:nvSpPr>
        <p:spPr>
          <a:xfrm>
            <a:off x="6217920" y="1463040"/>
            <a:ext cx="2377440" cy="1463040"/>
          </a:xfrm>
          <a:prstGeom prst="roundRect">
            <a:avLst>
              <a:gd name="adj" fmla="val 9375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  <a:effectLst>
            <a:outerShdw blurRad="76200" dist="25400" dir="5400000" algn="bl" rotWithShape="0">
              <a:srgbClr val="34405A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 txBox="1"/>
          <p:nvPr/>
        </p:nvSpPr>
        <p:spPr>
          <a:xfrm>
            <a:off x="6217920" y="1691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</a:rPr>
              <a:t>Tabla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6217920" y="21945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</a:rPr>
              <a:t>habla «SQL»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108960" y="2011680"/>
            <a:ext cx="731520" cy="365760"/>
          </a:xfrm>
          <a:prstGeom prst="rightArrow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Shape 10"/>
          <p:cNvSpPr/>
          <p:nvPr/>
        </p:nvSpPr>
        <p:spPr>
          <a:xfrm>
            <a:off x="5303520" y="2011680"/>
            <a:ext cx="731520" cy="365760"/>
          </a:xfrm>
          <a:prstGeom prst="rightArrow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Definicion"/>
          <p:cNvSpPr/>
          <p:nvPr/>
        </p:nvSpPr>
        <p:spPr>
          <a:xfrm>
            <a:off x="548640" y="3291840"/>
            <a:ext cx="8046720" cy="1188720"/>
          </a:xfrm>
          <a:prstGeom prst="roundRect">
            <a:avLst>
              <a:gd name="adj" fmla="val 115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34405A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 txBox="1"/>
          <p:nvPr/>
        </p:nvSpPr>
        <p:spPr>
          <a:xfrm>
            <a:off x="822960" y="347472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Desfase objeto-relacional: </a:t>
            </a:r>
            <a:r>
              <a:rPr lang="en-US" sz="1600" dirty="0">
                <a:solidFill>
                  <a:schemeClr val="tx1"/>
                </a:solidFill>
              </a:rPr>
              <a:t>la diferencia entre cómo guarda los datos el programa (objetos) y cómo los guarda la base de datos (tablas). Sin ayuda, no se entienden.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La solución: el conector, un traductor</a:t>
            </a:r>
            <a:endParaRPr lang="en-US" sz="3200" dirty="0"/>
          </a:p>
        </p:txBody>
      </p:sp>
      <p:sp>
        <p:nvSpPr>
          <p:cNvPr id="3" name="Paso0"/>
          <p:cNvSpPr/>
          <p:nvPr/>
        </p:nvSpPr>
        <p:spPr>
          <a:xfrm>
            <a:off x="548640" y="1371600"/>
            <a:ext cx="2286000" cy="1828800"/>
          </a:xfrm>
          <a:prstGeom prst="roundRect">
            <a:avLst>
              <a:gd name="adj" fmla="val 75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  <a:effectLst>
            <a:outerShdw blurRad="76200" dist="25400" dir="5400000" algn="bl" rotWithShape="0">
              <a:srgbClr val="34405A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</a:rPr>
              <a:t>Programa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19456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</a:rPr>
              <a:t>Tiene el objeto Ana, 20 años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926080" y="2103120"/>
            <a:ext cx="411480" cy="365760"/>
          </a:xfrm>
          <a:prstGeom prst="rightArrow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Paso1"/>
          <p:cNvSpPr/>
          <p:nvPr/>
        </p:nvSpPr>
        <p:spPr>
          <a:xfrm>
            <a:off x="3429000" y="1371600"/>
            <a:ext cx="2286000" cy="1828800"/>
          </a:xfrm>
          <a:prstGeom prst="roundRect">
            <a:avLst>
              <a:gd name="adj" fmla="val 75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  <a:effectLst>
            <a:outerShdw blurRad="76200" dist="25400" dir="5400000" algn="bl" rotWithShape="0">
              <a:srgbClr val="34405A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 txBox="1"/>
          <p:nvPr/>
        </p:nvSpPr>
        <p:spPr>
          <a:xfrm>
            <a:off x="3429000" y="16459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</a:rPr>
              <a:t>Conector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3611880" y="219456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</a:rPr>
              <a:t>Lo traduce a SQL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806440" y="2103120"/>
            <a:ext cx="411480" cy="365760"/>
          </a:xfrm>
          <a:prstGeom prst="rightArrow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Paso2"/>
          <p:cNvSpPr/>
          <p:nvPr/>
        </p:nvSpPr>
        <p:spPr>
          <a:xfrm>
            <a:off x="6309360" y="1371600"/>
            <a:ext cx="2286000" cy="1828800"/>
          </a:xfrm>
          <a:prstGeom prst="roundRect">
            <a:avLst>
              <a:gd name="adj" fmla="val 75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  <a:effectLst>
            <a:outerShdw blurRad="76200" dist="25400" dir="5400000" algn="bl" rotWithShape="0">
              <a:srgbClr val="34405A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 txBox="1"/>
          <p:nvPr/>
        </p:nvSpPr>
        <p:spPr>
          <a:xfrm>
            <a:off x="6309360" y="16459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</a:rPr>
              <a:t>Base de datos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219456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</a:rPr>
              <a:t>Lo guarda como una fila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35661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Un conector es una biblioteca o herramienta ya hecha que traduce </a:t>
            </a:r>
            <a:r>
              <a:rPr lang="en-US" sz="1800" b="1" dirty="0">
                <a:solidFill>
                  <a:schemeClr val="tx1"/>
                </a:solidFill>
              </a:rPr>
              <a:t>objetos en filas y filas en objetos.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1148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chemeClr val="tx2"/>
                </a:solidFill>
              </a:rPr>
              <a:t>Para leer datos se hace el camino al revés.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¿Qué hace un conector?</a:t>
            </a:r>
            <a:endParaRPr lang="en-US" sz="3200" dirty="0"/>
          </a:p>
        </p:txBody>
      </p:sp>
      <p:sp>
        <p:nvSpPr>
          <p:cNvPr id="3" name="Tarea0"/>
          <p:cNvSpPr/>
          <p:nvPr/>
        </p:nvSpPr>
        <p:spPr>
          <a:xfrm>
            <a:off x="548640" y="1280160"/>
            <a:ext cx="3931920" cy="1463040"/>
          </a:xfrm>
          <a:prstGeom prst="roundRect">
            <a:avLst>
              <a:gd name="adj" fmla="val 937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34405A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777240" y="17373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 txBox="1"/>
          <p:nvPr/>
        </p:nvSpPr>
        <p:spPr>
          <a:xfrm>
            <a:off x="77724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5544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Conectarse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20116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Abre la puerta de la base de datos.</a:t>
            </a:r>
            <a:endParaRPr lang="en-US" sz="1400" dirty="0"/>
          </a:p>
        </p:txBody>
      </p:sp>
      <p:sp>
        <p:nvSpPr>
          <p:cNvPr id="8" name="Tarea1"/>
          <p:cNvSpPr/>
          <p:nvPr/>
        </p:nvSpPr>
        <p:spPr>
          <a:xfrm>
            <a:off x="4663440" y="1280160"/>
            <a:ext cx="3931920" cy="1463040"/>
          </a:xfrm>
          <a:prstGeom prst="roundRect">
            <a:avLst>
              <a:gd name="adj" fmla="val 937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34405A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4892040" y="173736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 txBox="1"/>
          <p:nvPr/>
        </p:nvSpPr>
        <p:spPr>
          <a:xfrm>
            <a:off x="489204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5623560" y="15544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Consultar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623560" y="20116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Pide información: dame los alumnos mayores de 18.</a:t>
            </a:r>
            <a:endParaRPr lang="en-US" sz="1400" dirty="0"/>
          </a:p>
        </p:txBody>
      </p:sp>
      <p:sp>
        <p:nvSpPr>
          <p:cNvPr id="13" name="Tarea2"/>
          <p:cNvSpPr/>
          <p:nvPr/>
        </p:nvSpPr>
        <p:spPr>
          <a:xfrm>
            <a:off x="548640" y="2971800"/>
            <a:ext cx="3931920" cy="1463040"/>
          </a:xfrm>
          <a:prstGeom prst="roundRect">
            <a:avLst>
              <a:gd name="adj" fmla="val 937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34405A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>
            <a:off x="777240" y="342900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 txBox="1"/>
          <p:nvPr/>
        </p:nvSpPr>
        <p:spPr>
          <a:xfrm>
            <a:off x="777240" y="3429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</a:rPr>
              <a:t>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508760" y="32461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Insertar, actualizar, eliminar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37033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Añade, cambia o borra filas.</a:t>
            </a:r>
            <a:endParaRPr lang="en-US" sz="1400" dirty="0"/>
          </a:p>
        </p:txBody>
      </p:sp>
      <p:sp>
        <p:nvSpPr>
          <p:cNvPr id="18" name="Tarea3"/>
          <p:cNvSpPr/>
          <p:nvPr/>
        </p:nvSpPr>
        <p:spPr>
          <a:xfrm>
            <a:off x="4663440" y="2971800"/>
            <a:ext cx="3931920" cy="1463040"/>
          </a:xfrm>
          <a:prstGeom prst="roundRect">
            <a:avLst>
              <a:gd name="adj" fmla="val 937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34405A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9" name="Shape 17"/>
          <p:cNvSpPr/>
          <p:nvPr/>
        </p:nvSpPr>
        <p:spPr>
          <a:xfrm>
            <a:off x="4892040" y="3429000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 txBox="1"/>
          <p:nvPr/>
        </p:nvSpPr>
        <p:spPr>
          <a:xfrm>
            <a:off x="4892040" y="3429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</a:rPr>
              <a:t>4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5623560" y="32461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Transacciones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5623560" y="37033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Varias operaciones juntas: o todas, o ninguna.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Ejemplo en Java: JDBC en 3 pasos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</a:rPr>
              <a:t>JDBC es el conector básico de Java. Funciona con cualquier base de datos que use SQL.</a:t>
            </a:r>
            <a:endParaRPr lang="en-US" sz="1500" dirty="0"/>
          </a:p>
        </p:txBody>
      </p:sp>
      <p:sp>
        <p:nvSpPr>
          <p:cNvPr id="4" name="JDBC0"/>
          <p:cNvSpPr/>
          <p:nvPr/>
        </p:nvSpPr>
        <p:spPr>
          <a:xfrm>
            <a:off x="548640" y="1737360"/>
            <a:ext cx="8046720" cy="777240"/>
          </a:xfrm>
          <a:prstGeom prst="roundRect">
            <a:avLst>
              <a:gd name="adj" fmla="val 17647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  <a:effectLst>
            <a:outerShdw blurRad="76200" dist="25400" dir="5400000" algn="bl" rotWithShape="0">
              <a:srgbClr val="34405A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777240" y="1847088"/>
            <a:ext cx="548640" cy="54864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 txBox="1"/>
          <p:nvPr/>
        </p:nvSpPr>
        <p:spPr>
          <a:xfrm>
            <a:off x="777240" y="18470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184708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Conectarse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3931920" y="184708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Con la dirección, el usuario y la contraseña.</a:t>
            </a:r>
            <a:endParaRPr lang="en-US" sz="1500" dirty="0"/>
          </a:p>
        </p:txBody>
      </p:sp>
      <p:sp>
        <p:nvSpPr>
          <p:cNvPr id="9" name="JDBC1"/>
          <p:cNvSpPr/>
          <p:nvPr/>
        </p:nvSpPr>
        <p:spPr>
          <a:xfrm>
            <a:off x="548640" y="2697480"/>
            <a:ext cx="8046720" cy="777240"/>
          </a:xfrm>
          <a:prstGeom prst="roundRect">
            <a:avLst>
              <a:gd name="adj" fmla="val 17647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  <a:effectLst>
            <a:outerShdw blurRad="76200" dist="25400" dir="5400000" algn="bl" rotWithShape="0">
              <a:srgbClr val="34405A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777240" y="2807208"/>
            <a:ext cx="548640" cy="54864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 txBox="1"/>
          <p:nvPr/>
        </p:nvSpPr>
        <p:spPr>
          <a:xfrm>
            <a:off x="777240" y="28072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554480" y="280720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Crear la orden SQL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931920" y="280720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Para insertar, actualizar o eliminar.</a:t>
            </a:r>
            <a:endParaRPr lang="en-US" sz="1500" dirty="0"/>
          </a:p>
        </p:txBody>
      </p:sp>
      <p:sp>
        <p:nvSpPr>
          <p:cNvPr id="14" name="JDBC2"/>
          <p:cNvSpPr/>
          <p:nvPr/>
        </p:nvSpPr>
        <p:spPr>
          <a:xfrm>
            <a:off x="548640" y="3657600"/>
            <a:ext cx="8046720" cy="777240"/>
          </a:xfrm>
          <a:prstGeom prst="roundRect">
            <a:avLst>
              <a:gd name="adj" fmla="val 17647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  <a:effectLst>
            <a:outerShdw blurRad="76200" dist="25400" dir="5400000" algn="bl" rotWithShape="0">
              <a:srgbClr val="34405A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777240" y="3767328"/>
            <a:ext cx="548640" cy="54864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 txBox="1"/>
          <p:nvPr/>
        </p:nvSpPr>
        <p:spPr>
          <a:xfrm>
            <a:off x="777240" y="37673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376732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Ejecutar y leer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3931920" y="37673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La base de datos responde y el programa lee los resultados.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Tres herramientas, distinta ayuda</a:t>
            </a:r>
            <a:endParaRPr lang="en-US" sz="3200" dirty="0"/>
          </a:p>
        </p:txBody>
      </p:sp>
      <p:sp>
        <p:nvSpPr>
          <p:cNvPr id="3" name="Herr0"/>
          <p:cNvSpPr/>
          <p:nvPr/>
        </p:nvSpPr>
        <p:spPr>
          <a:xfrm>
            <a:off x="548640" y="1280160"/>
            <a:ext cx="2560320" cy="2743200"/>
          </a:xfrm>
          <a:prstGeom prst="roundRect">
            <a:avLst>
              <a:gd name="adj" fmla="val 53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34405A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</a:rPr>
              <a:t>JDBC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051560" y="2057400"/>
            <a:ext cx="457200" cy="274320"/>
          </a:xfrm>
          <a:prstGeom prst="roundRect">
            <a:avLst>
              <a:gd name="adj" fmla="val 2666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1600200" y="2057400"/>
            <a:ext cx="457200" cy="274320"/>
          </a:xfrm>
          <a:prstGeom prst="roundRect">
            <a:avLst>
              <a:gd name="adj" fmla="val 26667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2148840" y="2057400"/>
            <a:ext cx="457200" cy="274320"/>
          </a:xfrm>
          <a:prstGeom prst="roundRect">
            <a:avLst>
              <a:gd name="adj" fmla="val 26667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 txBox="1"/>
          <p:nvPr/>
        </p:nvSpPr>
        <p:spPr>
          <a:xfrm>
            <a:off x="548640" y="24231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2"/>
                </a:solidFill>
              </a:rPr>
              <a:t>Ayuda básica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88036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tx1"/>
                </a:solidFill>
              </a:rPr>
              <a:t>Tú escribes todo el SQL.</a:t>
            </a:r>
            <a:endParaRPr lang="en-US" sz="1500" dirty="0"/>
          </a:p>
        </p:txBody>
      </p:sp>
      <p:sp>
        <p:nvSpPr>
          <p:cNvPr id="10" name="Herr1"/>
          <p:cNvSpPr/>
          <p:nvPr/>
        </p:nvSpPr>
        <p:spPr>
          <a:xfrm>
            <a:off x="3291840" y="1280160"/>
            <a:ext cx="2560320" cy="2743200"/>
          </a:xfrm>
          <a:prstGeom prst="roundRect">
            <a:avLst>
              <a:gd name="adj" fmla="val 53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34405A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 txBox="1"/>
          <p:nvPr/>
        </p:nvSpPr>
        <p:spPr>
          <a:xfrm>
            <a:off x="3291840" y="14630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</a:rPr>
              <a:t>MyBatis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3794760" y="2057400"/>
            <a:ext cx="457200" cy="274320"/>
          </a:xfrm>
          <a:prstGeom prst="roundRect">
            <a:avLst>
              <a:gd name="adj" fmla="val 26667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Shape 11"/>
          <p:cNvSpPr/>
          <p:nvPr/>
        </p:nvSpPr>
        <p:spPr>
          <a:xfrm>
            <a:off x="4343400" y="2057400"/>
            <a:ext cx="457200" cy="274320"/>
          </a:xfrm>
          <a:prstGeom prst="roundRect">
            <a:avLst>
              <a:gd name="adj" fmla="val 26667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>
            <a:off x="4892040" y="2057400"/>
            <a:ext cx="457200" cy="274320"/>
          </a:xfrm>
          <a:prstGeom prst="roundRect">
            <a:avLst>
              <a:gd name="adj" fmla="val 26667"/>
            </a:avLst>
          </a:prstGeom>
          <a:solidFill>
            <a:schemeClr val="bg1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 txBox="1"/>
          <p:nvPr/>
        </p:nvSpPr>
        <p:spPr>
          <a:xfrm>
            <a:off x="3291840" y="24231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2"/>
                </a:solidFill>
              </a:rPr>
              <a:t>Ayuda media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3520440" y="288036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tx1"/>
                </a:solidFill>
              </a:rPr>
              <a:t>Tú escribes el SQL; él rellena los objetos.</a:t>
            </a:r>
            <a:endParaRPr lang="en-US" sz="1500" dirty="0"/>
          </a:p>
        </p:txBody>
      </p:sp>
      <p:sp>
        <p:nvSpPr>
          <p:cNvPr id="17" name="Herr2"/>
          <p:cNvSpPr/>
          <p:nvPr/>
        </p:nvSpPr>
        <p:spPr>
          <a:xfrm>
            <a:off x="6035040" y="1280160"/>
            <a:ext cx="2560320" cy="2743200"/>
          </a:xfrm>
          <a:prstGeom prst="roundRect">
            <a:avLst>
              <a:gd name="adj" fmla="val 53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34405A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 txBox="1"/>
          <p:nvPr/>
        </p:nvSpPr>
        <p:spPr>
          <a:xfrm>
            <a:off x="6035040" y="14630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</a:rPr>
              <a:t>Hibernate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6537960" y="2057400"/>
            <a:ext cx="457200" cy="274320"/>
          </a:xfrm>
          <a:prstGeom prst="roundRect">
            <a:avLst>
              <a:gd name="adj" fmla="val 26667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Shape 18"/>
          <p:cNvSpPr/>
          <p:nvPr/>
        </p:nvSpPr>
        <p:spPr>
          <a:xfrm>
            <a:off x="7086600" y="2057400"/>
            <a:ext cx="457200" cy="274320"/>
          </a:xfrm>
          <a:prstGeom prst="roundRect">
            <a:avLst>
              <a:gd name="adj" fmla="val 26667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Shape 19"/>
          <p:cNvSpPr/>
          <p:nvPr/>
        </p:nvSpPr>
        <p:spPr>
          <a:xfrm>
            <a:off x="7635240" y="2057400"/>
            <a:ext cx="457200" cy="274320"/>
          </a:xfrm>
          <a:prstGeom prst="roundRect">
            <a:avLst>
              <a:gd name="adj" fmla="val 26667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 txBox="1"/>
          <p:nvPr/>
        </p:nvSpPr>
        <p:spPr>
          <a:xfrm>
            <a:off x="6035040" y="24231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2"/>
                </a:solidFill>
              </a:rPr>
              <a:t>Ayuda alta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263640" y="288036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tx1"/>
                </a:solidFill>
              </a:rPr>
              <a:t>Convierte objetos y filas solo. Casi sin SQL.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42519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chemeClr val="tx2"/>
                </a:solidFill>
              </a:rPr>
              <a:t>Las tres sirven para unir Java con bases de datos relacionales.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¿Por qué usar conectores?</a:t>
            </a:r>
            <a:endParaRPr lang="en-US" sz="3200" dirty="0"/>
          </a:p>
        </p:txBody>
      </p:sp>
      <p:sp>
        <p:nvSpPr>
          <p:cNvPr id="3" name="Ventaja0"/>
          <p:cNvSpPr/>
          <p:nvPr/>
        </p:nvSpPr>
        <p:spPr>
          <a:xfrm>
            <a:off x="548640" y="1371600"/>
            <a:ext cx="2560320" cy="2560320"/>
          </a:xfrm>
          <a:prstGeom prst="roundRect">
            <a:avLst>
              <a:gd name="adj" fmla="val 5357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  <a:effectLst>
            <a:outerShdw blurRad="76200" dist="25400" dir="5400000" algn="bl" rotWithShape="0">
              <a:srgbClr val="34405A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tx1"/>
                </a:solidFill>
              </a:rPr>
              <a:t>Más fácil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42316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tx2"/>
                </a:solidFill>
              </a:rPr>
              <a:t>No hace falta conocer los detalles internos de la base de datos.</a:t>
            </a:r>
            <a:endParaRPr lang="en-US" sz="1500" dirty="0"/>
          </a:p>
        </p:txBody>
      </p:sp>
      <p:sp>
        <p:nvSpPr>
          <p:cNvPr id="6" name="Ventaja1"/>
          <p:cNvSpPr/>
          <p:nvPr/>
        </p:nvSpPr>
        <p:spPr>
          <a:xfrm>
            <a:off x="3291840" y="1371600"/>
            <a:ext cx="2560320" cy="2560320"/>
          </a:xfrm>
          <a:prstGeom prst="roundRect">
            <a:avLst>
              <a:gd name="adj" fmla="val 5357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  <a:effectLst>
            <a:outerShdw blurRad="76200" dist="25400" dir="5400000" algn="bl" rotWithShape="0">
              <a:srgbClr val="34405A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 txBox="1"/>
          <p:nvPr/>
        </p:nvSpPr>
        <p:spPr>
          <a:xfrm>
            <a:off x="3291840" y="16916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tx1"/>
                </a:solidFill>
              </a:rPr>
              <a:t>Más seguro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3520440" y="242316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tx2"/>
                </a:solidFill>
              </a:rPr>
              <a:t>Ayudan a evitar órdenes SQL peligrosas y errores.</a:t>
            </a:r>
            <a:endParaRPr lang="en-US" sz="1500" dirty="0"/>
          </a:p>
        </p:txBody>
      </p:sp>
      <p:sp>
        <p:nvSpPr>
          <p:cNvPr id="9" name="Ventaja2"/>
          <p:cNvSpPr/>
          <p:nvPr/>
        </p:nvSpPr>
        <p:spPr>
          <a:xfrm>
            <a:off x="6035040" y="1371600"/>
            <a:ext cx="2560320" cy="2560320"/>
          </a:xfrm>
          <a:prstGeom prst="roundRect">
            <a:avLst>
              <a:gd name="adj" fmla="val 5357"/>
            </a:avLst>
          </a:prstGeom>
          <a:solidFill>
            <a:srgbClr val="FCEBDD"/>
          </a:solidFill>
          <a:ln w="12700">
            <a:solidFill>
              <a:srgbClr val="FCEBDD"/>
            </a:solidFill>
            <a:prstDash val="solid"/>
          </a:ln>
          <a:effectLst>
            <a:outerShdw blurRad="76200" dist="25400" dir="5400000" algn="bl" rotWithShape="0">
              <a:srgbClr val="34405A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 txBox="1"/>
          <p:nvPr/>
        </p:nvSpPr>
        <p:spPr>
          <a:xfrm>
            <a:off x="6035040" y="16916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tx1"/>
                </a:solidFill>
              </a:rPr>
              <a:t>Más eficiente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242316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tx2"/>
                </a:solidFill>
              </a:rPr>
              <a:t>El programador se centra en lo que debe hacer la aplicación.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572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400" b="1" dirty="0">
                <a:solidFill>
                  <a:schemeClr val="tx1"/>
                </a:solidFill>
              </a:rPr>
              <a:t>En resumen</a:t>
            </a:r>
            <a:endParaRPr lang="en-US" sz="3400" dirty="0"/>
          </a:p>
        </p:txBody>
      </p:sp>
      <p:sp>
        <p:nvSpPr>
          <p:cNvPr id="3" name="Resumen0"/>
          <p:cNvSpPr/>
          <p:nvPr/>
        </p:nvSpPr>
        <p:spPr>
          <a:xfrm>
            <a:off x="1097280" y="1417320"/>
            <a:ext cx="6949440" cy="82296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76200" dist="25400" dir="5400000" algn="bl" rotWithShape="0">
              <a:srgbClr val="34405A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1325880" y="15544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 txBox="1"/>
          <p:nvPr/>
        </p:nvSpPr>
        <p:spPr>
          <a:xfrm>
            <a:off x="132588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2103120" y="155448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El programa usa objetos y la base de datos usa tablas.</a:t>
            </a:r>
            <a:endParaRPr lang="en-US" sz="1800" dirty="0"/>
          </a:p>
        </p:txBody>
      </p:sp>
      <p:sp>
        <p:nvSpPr>
          <p:cNvPr id="7" name="Resumen1"/>
          <p:cNvSpPr/>
          <p:nvPr/>
        </p:nvSpPr>
        <p:spPr>
          <a:xfrm>
            <a:off x="1097280" y="2468880"/>
            <a:ext cx="6949440" cy="82296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76200" dist="25400" dir="5400000" algn="bl" rotWithShape="0">
              <a:srgbClr val="34405A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1325880" y="260604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 txBox="1"/>
          <p:nvPr/>
        </p:nvSpPr>
        <p:spPr>
          <a:xfrm>
            <a:off x="1325880" y="2606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2103120" y="260604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Esa diferencia es el desfase objeto-relacional.</a:t>
            </a:r>
            <a:endParaRPr lang="en-US" sz="1800" dirty="0"/>
          </a:p>
        </p:txBody>
      </p:sp>
      <p:sp>
        <p:nvSpPr>
          <p:cNvPr id="11" name="Resumen2"/>
          <p:cNvSpPr/>
          <p:nvPr/>
        </p:nvSpPr>
        <p:spPr>
          <a:xfrm>
            <a:off x="1097280" y="3520440"/>
            <a:ext cx="6949440" cy="82296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76200" dist="25400" dir="5400000" algn="bl" rotWithShape="0">
              <a:srgbClr val="34405A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2" name="Shape 10"/>
          <p:cNvSpPr/>
          <p:nvPr/>
        </p:nvSpPr>
        <p:spPr>
          <a:xfrm>
            <a:off x="1325880" y="365760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 txBox="1"/>
          <p:nvPr/>
        </p:nvSpPr>
        <p:spPr>
          <a:xfrm>
            <a:off x="1325880" y="3657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</a:rPr>
              <a:t>3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2103120" y="3657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Los conectores (JDBC, Hibernate, MyBatis) hacen de traductor.</a:t>
            </a:r>
            <a:endParaRPr lang="en-US" sz="1800" dirty="0"/>
          </a:p>
        </p:txBody>
      </p:sp>
      <p:sp>
        <p:nvSpPr>
          <p:cNvPr id="15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463040"/>
            <a:ext cx="7680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4400" dirty="0"/>
          </a:p>
        </p:txBody>
      </p:sp>
      <p:sp>
        <p:nvSpPr>
          <p:cNvPr id="16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2697480"/>
            <a:ext cx="7680960" cy="6400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ctr">
              <a:buNone/>
            </a:pP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uave">
  <a:themeElements>
    <a:clrScheme name="Suave">
      <a:dk1>
        <a:srgbClr val="34405A"/>
      </a:dk1>
      <a:lt1>
        <a:srgbClr val="FFFFFF"/>
      </a:lt1>
      <a:dk2>
        <a:srgbClr val="5B6B85"/>
      </a:dk2>
      <a:lt2>
        <a:srgbClr val="F2F5FA"/>
      </a:lt2>
      <a:accent1>
        <a:srgbClr val="8DB8D9"/>
      </a:accent1>
      <a:accent2>
        <a:srgbClr val="A8D5BA"/>
      </a:accent2>
      <a:accent3>
        <a:srgbClr val="F5C6A5"/>
      </a:accent3>
      <a:accent4>
        <a:srgbClr val="C9B6E4"/>
      </a:accent4>
      <a:accent5>
        <a:srgbClr val="DDEBF6"/>
      </a:accent5>
      <a:accent6>
        <a:srgbClr val="E9F5EE"/>
      </a:accent6>
      <a:hlink>
        <a:srgbClr val="4A7BA6"/>
      </a:hlink>
      <a:folHlink>
        <a:srgbClr val="7A5FA8"/>
      </a:folHlink>
    </a:clrScheme>
    <a:fontScheme name="Suav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491</Words>
  <Application>Microsoft Office PowerPoint</Application>
  <PresentationFormat>Presentación en pantalla (16:9)</PresentationFormat>
  <Paragraphs>101</Paragraphs>
  <Slides>8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1" baseType="lpstr">
      <vt:lpstr>Arial</vt:lpstr>
      <vt:lpstr>Calibri</vt:lpstr>
      <vt:lpstr>Suave</vt:lpstr>
      <vt:lpstr>Dos formas de guardar información</vt:lpstr>
      <vt:lpstr>El problema: hablan idiomas distintos</vt:lpstr>
      <vt:lpstr>La solución: el conector, un traductor</vt:lpstr>
      <vt:lpstr>¿Qué hace un conector?</vt:lpstr>
      <vt:lpstr>Ejemplo en Java: JDBC en 3 pasos</vt:lpstr>
      <vt:lpstr>Tres herramientas, distinta ayuda</vt:lpstr>
      <vt:lpstr>¿Por qué usar conectores?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 desfase objeto-relacional</dc:title>
  <dc:subject>PptxGenJS Presentation</dc:subject>
  <dc:creator>PptxGenJS</dc:creator>
  <cp:lastModifiedBy>Vicente Pellicer Gomez Pardo</cp:lastModifiedBy>
  <cp:revision>2</cp:revision>
  <dcterms:created xsi:type="dcterms:W3CDTF">2026-10-04T17:05:37Z</dcterms:created>
  <dcterms:modified xsi:type="dcterms:W3CDTF">2026-10-04T20:57:30Z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2026-10-04T20:57:26Z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baebe467-47d5-48b9-8830-0d54fa0099cf</vt:lpwstr>
  </property>
  <property fmtid="{D5CDD505-2E9C-101B-9397-08002B2CF9AE}" pid="7" name="MSIP_Label_defa4170-0d19-0005-0004-bc88714345d2_ActionId">
    <vt:lpwstr>8e549d23-a23d-41cb-8eb1-ac74175f2735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</Properties>
</file>