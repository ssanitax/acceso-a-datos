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0883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los apartados 2, 3 y 4 de la unidad 2. Vamos a ver cómo se comunica un programa con una base de datos, cómo se abre una conexión de forma segura y cómo se ejecutan sentencias que definen o describen la estructura. Todos los ejemplos están en Python con MySQL.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es el mismo que seguiría un programa real: primero entender por dónde viaja la información, luego abrir la conexión y por último trabajar con la estructura de la base de datos. Al final haremos una pequeña demostración con los scripts de Python.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error frecuente es decir que SQL es un protocolo. SQL es un lenguaje: es el contenido de los mensajes. El protocolo es el formato con el que cliente y servidor se intercambian esos mensajes; en MySQL es su protocolo cliente/servidor, que escucha en el puerto 3306. Por debajo, TLS cifra la comunicación y TCP/IP la transporta. Y por encima, el conector nos evita tener que programar el protocolo a mano. Ojo también: TLS no es una alternativa a HTTPS; HTTPS es precisamente HTTP sobre TLS.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gestor tiene su propio protocolo de red, así que los lenguajes definen una interfaz común. En Java es JDBC, en C y muchas herramientas ODBC, y en Python la DB-API 2.0, definida en el PEP 249. Gracias a ella, el código para MySQL, PostgreSQL o SQLite se parece muchísimo: connect, cursor, execute, fetchall, commit y close. También corregimos otro error típico: NoSQL no es un protocolo, sino un tipo de base de datos.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MySQL hay tres conectores principales. Nosotros usamos mysql-connector-python porque es el oficial y no necesita compilar nada. Los tres cumplen la DB-API, así que lo que aprendamos sirve para los demás. Los criterios de elección son: compatibilidad, rendimiento, seguridad, funcionalidades como el pool, y que el proyecto esté mantenido.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conceptos que se confunden a menudo. La autenticación comprueba quién eres. La autorización decide qué puedes hacer una vez dentro. La sesión es el estado que mantiene el servidor mientras la conexión está abierta. En el ejemplo creamos un usuario para la aplicación que solo tiene permisos sobre la base de datos tienda: es el principio de mínimo privilegio. Nunca conectamos una aplicación como root.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apartado 3. Ya sabemos qué capas intervienen; ahora vemos el primer paso real de cualquier programa que accede a una base de datos: abrir la conexión.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conectar le decimos al conector dónde está el servidor (host y puerto), quiénes somos (usuario y contraseña) y con qué base de datos vamos a trabajar. Usamos utf8mb4 para que tildes, eñes y cualquier carácter se guarden bien. Los dos últimos parámetros activan el cifrado TLS, que veremos enseguida.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patrón que siguen todos los programas que acceden a una base de datos: conectar, crear un cursor, ejecutar, leer el resultado y cerrar. Con connect le decimos dónde está el servidor y quiénes somos. El cursor es el objeto que envía las sentencias. fetchone recoge la fila de respuesta, que es una tupla: fila[0] es la versión y fila[1] el usuario. Y al final cerramos: cada conexión abierta ocupa recursos en el servidor.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reglas de seguridad. Primera: cifrar con TLS cuando la conexión sale del propio equipo, indicando el certificado con ssl_ca. Segunda: las contraseñas no se escriben en el código, se leen de variables de entorno con os.getenv. En nuestros ejemplos de clase la contraseña está escrita para simplificar, pero en un programa real se haría así. Tercera: la aplicación usa un usuario con los permisos justos.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una conexión es caro: conexión por la red, saludo del protocolo y autenticación. Si un programa atiende muchas peticiones, usamos un pool: conexiones que se abren una vez y se prestan y devuelven. En el ejemplo hacemos 4 peticiones con un pool de solo 2 conexiones. Al ejecutarlo, los números de sesión se repiten: nunca salen más de 2 distintos. Ojo: en una conexión del pool, close no la cierra, la devuelve.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cuatro errores de conexión más habituales. Fijaos en la diferencia entre 1045 y 1044: en el primero el servidor no sabe quiénes somos; en el segundo sí lo sabe, pero no nos deja entrar en esa base de datos. En el script 3_errores.py provocamos el 1045 a propósito con una contraseña incorrecta; los demás se capturan exactamente igual y se distinguen por el número de error.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Apartado 4. Con la conexión abierta, ya podemos trabajar con la estructura: crear tablas, modificarlas y preguntar al servidor cómo está organizada la base de datos.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sentencias de descripción o definición de datos, DDL, cambian la estructura: tablas, columnas, índices. No tocan los registros. Desde Python se ejecutan con cursor.execute, igual que cualquier otra sentencia. Un detalle importante de MySQL: cada sentencia DDL hace un commit implícito, así que no podemos deshacerla con rollback. Antes de un DROP hay que estar seguros.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en código: todas las sentencias DDL se lanzan con cursor.execute, igual que una consulta. Primero borramos la tabla si existe, para poder ejecutar el programa varias veces. Después la creamos, le añadimos una columna con ALTER y al final la eliminamos. Recordad que en MySQL cada una de estas sentencias se confirma sola.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metadatos son datos sobre los datos: qué tablas hay y qué columnas tienen. SHOW TABLES devuelve una fila por tabla, y DESCRIBE una fila por columna, con su nombre, tipo y otras propiedades. Recorremos el resultado con fetchall y un for. Así comprobamos que la columna email se añadió con el ALTER. También existen INFORMATION_SCHEMA, que es estándar, y cursor.description, de la DB-API.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algo falla, el conector lanza una excepción. Si no la capturamos, el programa se detiene. Con try y except la atrapamos, mostramos el número y el mensaje del error y seguimos. En el ejemplo consultamos una tabla que no existe y obtenemos el error 1146, que es un ProgrammingError. Todas las excepciones heredan de mysql.connector.Error, que sirve para atrapar cualquiera.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lo vemos funcionando. Primero creamos la base de datos con el script SQL, como administrador. Después ejecutamos los cuatro programas de Python en orden. Cada uno es muy corto y enseña una sola idea de lo que hemos explicado.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cuatro ideas. SQL es un lenguaje, no un protocolo. Las conexiones se abren con cuidado y se cierran siempre. Las sentencias DDL cambian la estructura y no se pueden deshacer en MySQL. Y los errores se capturan para que el programa no se caiga.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2" y="1163174"/>
            <a:ext cx="10566577" cy="46721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12" y="1935184"/>
            <a:ext cx="10566488" cy="411001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2" y="1163174"/>
            <a:ext cx="10566577" cy="46721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12" y="1935184"/>
            <a:ext cx="10566488" cy="411001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92078"/>
          </a:xfrm>
          <a:prstGeom prst="rect">
            <a:avLst/>
          </a:prstGeom>
          <a:noFill/>
          <a:ln/>
        </p:spPr>
        <p:txBody>
          <a:bodyPr wrap="square" lIns="0" tIns="0" rIns="0" bIns="0" rtlCol="0" anchor="t">
            <a:normAutofit/>
          </a:bodyPr>
          <a:lstStyle/>
          <a:p>
            <a:pPr marL="0" indent="0" algn="l">
              <a:lnSpc>
                <a:spcPts val="2100"/>
              </a:lnSpc>
              <a:buNone/>
            </a:pPr>
            <a:r>
              <a:rPr lang="en-US" sz="1500" kern="0" spc="100" dirty="0">
                <a:solidFill>
                  <a:srgbClr val="F0A060"/>
                </a:solidFill>
                <a:latin typeface="JetBrains Mono" pitchFamily="49" charset="0"/>
                <a:ea typeface="JetBrains Mono" pitchFamily="49" charset="-122"/>
                <a:cs typeface="JetBrains Mono" pitchFamily="49" charset="-120"/>
              </a:rPr>
              <a:t>ACCESO A DATOS · UNIDAD 2</a:t>
            </a:r>
            <a:endParaRPr lang="en-US" sz="1500" dirty="0"/>
          </a:p>
        </p:txBody>
      </p:sp>
      <p:sp>
        <p:nvSpPr>
          <p:cNvPr id="3" name="Text 1"/>
          <p:cNvSpPr>
            <a:spLocks noGrp="1"/>
          </p:cNvSpPr>
          <p:nvPr>
            <p:ph type="title"/>
          </p:nvPr>
        </p:nvSpPr>
        <p:spPr>
          <a:xfrm>
            <a:off x="812712" y="4628114"/>
            <a:ext cx="10883574" cy="825434"/>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5F0"/>
                </a:solidFill>
                <a:latin typeface="IBM Plex Sans" pitchFamily="34" charset="0"/>
                <a:ea typeface="IBM Plex Sans" pitchFamily="34" charset="-122"/>
                <a:cs typeface="IBM Plex Sans" pitchFamily="34" charset="-120"/>
              </a:rPr>
              <a:t>Manejo de conectores</a:t>
            </a:r>
            <a:endParaRPr lang="en-US" sz="6000" dirty="0"/>
          </a:p>
        </p:txBody>
      </p:sp>
      <p:sp>
        <p:nvSpPr>
          <p:cNvPr id="4" name="Text 2"/>
          <p:cNvSpPr/>
          <p:nvPr/>
        </p:nvSpPr>
        <p:spPr>
          <a:xfrm>
            <a:off x="812712" y="5682148"/>
            <a:ext cx="10883574"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BDD"/>
                </a:solidFill>
                <a:latin typeface="IBM Plex Sans" pitchFamily="34" charset="0"/>
                <a:ea typeface="IBM Plex Sans" pitchFamily="34" charset="-122"/>
                <a:cs typeface="IBM Plex Sans" pitchFamily="34" charset="-120"/>
              </a:rPr>
              <a:t>Protocolos, conexiones y sentencias de descripción de datos con Python y MySQL</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GUION</a:t>
            </a:r>
            <a:endParaRPr lang="en-US" sz="1400" dirty="0"/>
          </a:p>
        </p:txBody>
      </p:sp>
      <p:sp>
        <p:nvSpPr>
          <p:cNvPr id="3" name="Text 1"/>
          <p:cNvSpPr>
            <a:spLocks noGrp="1"/>
          </p:cNvSpPr>
          <p:nvPr>
            <p:ph type="title"/>
          </p:nvPr>
        </p:nvSpPr>
        <p:spPr>
          <a:xfrm>
            <a:off x="812712" y="1163175"/>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Tres pasos para hablar con una base de datos</a:t>
            </a:r>
            <a:endParaRPr lang="en-US" sz="3200" dirty="0"/>
          </a:p>
        </p:txBody>
      </p:sp>
      <p:sp>
        <p:nvSpPr>
          <p:cNvPr id="4" name="Shape 2"/>
          <p:cNvSpPr/>
          <p:nvPr/>
        </p:nvSpPr>
        <p:spPr>
          <a:xfrm>
            <a:off x="815887" y="1989094"/>
            <a:ext cx="3380317" cy="3849732"/>
          </a:xfrm>
          <a:prstGeom prst="roundRect">
            <a:avLst>
              <a:gd name="adj" fmla="val 2912"/>
            </a:avLst>
          </a:prstGeom>
          <a:solidFill>
            <a:srgbClr val="FFFFFF"/>
          </a:solidFill>
          <a:ln w="6350">
            <a:solidFill>
              <a:srgbClr val="DDE1E8"/>
            </a:solidFill>
            <a:prstDash val="solid"/>
          </a:ln>
        </p:spPr>
        <p:txBody>
          <a:bodyPr/>
          <a:lstStyle/>
          <a:p>
            <a:endParaRPr lang="es-ES"/>
          </a:p>
        </p:txBody>
      </p:sp>
      <p:sp>
        <p:nvSpPr>
          <p:cNvPr id="5" name="Text 3"/>
          <p:cNvSpPr/>
          <p:nvPr/>
        </p:nvSpPr>
        <p:spPr>
          <a:xfrm>
            <a:off x="1124479" y="2297686"/>
            <a:ext cx="2846026" cy="635044"/>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561A"/>
                </a:solidFill>
                <a:latin typeface="JetBrains Mono" pitchFamily="49" charset="0"/>
                <a:ea typeface="JetBrains Mono" pitchFamily="49" charset="-122"/>
                <a:cs typeface="JetBrains Mono" pitchFamily="49" charset="-120"/>
              </a:rPr>
              <a:t>2</a:t>
            </a:r>
            <a:endParaRPr lang="en-US" sz="4800" dirty="0"/>
          </a:p>
        </p:txBody>
      </p:sp>
      <p:sp>
        <p:nvSpPr>
          <p:cNvPr id="6" name="Text 4"/>
          <p:cNvSpPr/>
          <p:nvPr/>
        </p:nvSpPr>
        <p:spPr>
          <a:xfrm>
            <a:off x="1124479" y="3034330"/>
            <a:ext cx="2846026"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Protocolos de acceso</a:t>
            </a:r>
            <a:endParaRPr lang="en-US" sz="2000" dirty="0"/>
          </a:p>
        </p:txBody>
      </p:sp>
      <p:sp>
        <p:nvSpPr>
          <p:cNvPr id="7" name="Text 5"/>
          <p:cNvSpPr/>
          <p:nvPr/>
        </p:nvSpPr>
        <p:spPr>
          <a:xfrm>
            <a:off x="1124479" y="3466042"/>
            <a:ext cx="2846026" cy="5587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Qué capas intervienen y qué conector usamos en Python.</a:t>
            </a:r>
            <a:endParaRPr lang="en-US" sz="1500" dirty="0"/>
          </a:p>
        </p:txBody>
      </p:sp>
      <p:sp>
        <p:nvSpPr>
          <p:cNvPr id="8" name="Shape 6"/>
          <p:cNvSpPr/>
          <p:nvPr/>
        </p:nvSpPr>
        <p:spPr>
          <a:xfrm>
            <a:off x="4405731" y="1989094"/>
            <a:ext cx="3380427" cy="3849732"/>
          </a:xfrm>
          <a:prstGeom prst="roundRect">
            <a:avLst>
              <a:gd name="adj" fmla="val 2912"/>
            </a:avLst>
          </a:prstGeom>
          <a:solidFill>
            <a:srgbClr val="FFFFFF"/>
          </a:solidFill>
          <a:ln w="6350">
            <a:solidFill>
              <a:srgbClr val="DDE1E8"/>
            </a:solidFill>
            <a:prstDash val="solid"/>
          </a:ln>
        </p:spPr>
        <p:txBody>
          <a:bodyPr/>
          <a:lstStyle/>
          <a:p>
            <a:endParaRPr lang="es-ES"/>
          </a:p>
        </p:txBody>
      </p:sp>
      <p:sp>
        <p:nvSpPr>
          <p:cNvPr id="9" name="Text 7"/>
          <p:cNvSpPr/>
          <p:nvPr/>
        </p:nvSpPr>
        <p:spPr>
          <a:xfrm>
            <a:off x="4714324" y="2297686"/>
            <a:ext cx="2846140" cy="635044"/>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561A"/>
                </a:solidFill>
                <a:latin typeface="JetBrains Mono" pitchFamily="49" charset="0"/>
                <a:ea typeface="JetBrains Mono" pitchFamily="49" charset="-122"/>
                <a:cs typeface="JetBrains Mono" pitchFamily="49" charset="-120"/>
              </a:rPr>
              <a:t>3</a:t>
            </a:r>
            <a:endParaRPr lang="en-US" sz="4800" dirty="0"/>
          </a:p>
        </p:txBody>
      </p:sp>
      <p:sp>
        <p:nvSpPr>
          <p:cNvPr id="10" name="Text 8"/>
          <p:cNvSpPr/>
          <p:nvPr/>
        </p:nvSpPr>
        <p:spPr>
          <a:xfrm>
            <a:off x="4714324" y="3034330"/>
            <a:ext cx="2846140"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Establecer conexiones</a:t>
            </a:r>
            <a:endParaRPr lang="en-US" sz="2000" dirty="0"/>
          </a:p>
        </p:txBody>
      </p:sp>
      <p:sp>
        <p:nvSpPr>
          <p:cNvPr id="11" name="Text 9"/>
          <p:cNvSpPr/>
          <p:nvPr/>
        </p:nvSpPr>
        <p:spPr>
          <a:xfrm>
            <a:off x="4714324" y="3466042"/>
            <a:ext cx="2846140" cy="5587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Parámetros, seguridad, pool de conexiones y errores.</a:t>
            </a:r>
            <a:endParaRPr lang="en-US" sz="1500" dirty="0"/>
          </a:p>
        </p:txBody>
      </p:sp>
      <p:sp>
        <p:nvSpPr>
          <p:cNvPr id="12" name="Shape 10"/>
          <p:cNvSpPr/>
          <p:nvPr/>
        </p:nvSpPr>
        <p:spPr>
          <a:xfrm>
            <a:off x="7995686" y="1989094"/>
            <a:ext cx="3380427" cy="3849732"/>
          </a:xfrm>
          <a:prstGeom prst="roundRect">
            <a:avLst>
              <a:gd name="adj" fmla="val 2912"/>
            </a:avLst>
          </a:prstGeom>
          <a:solidFill>
            <a:srgbClr val="FFFFFF"/>
          </a:solidFill>
          <a:ln w="6350">
            <a:solidFill>
              <a:srgbClr val="DDE1E8"/>
            </a:solidFill>
            <a:prstDash val="solid"/>
          </a:ln>
        </p:spPr>
        <p:txBody>
          <a:bodyPr/>
          <a:lstStyle/>
          <a:p>
            <a:endParaRPr lang="es-ES"/>
          </a:p>
        </p:txBody>
      </p:sp>
      <p:sp>
        <p:nvSpPr>
          <p:cNvPr id="13" name="Text 11"/>
          <p:cNvSpPr/>
          <p:nvPr/>
        </p:nvSpPr>
        <p:spPr>
          <a:xfrm>
            <a:off x="8304279" y="2297686"/>
            <a:ext cx="2846140" cy="635044"/>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561A"/>
                </a:solidFill>
                <a:latin typeface="JetBrains Mono" pitchFamily="49" charset="0"/>
                <a:ea typeface="JetBrains Mono" pitchFamily="49" charset="-122"/>
                <a:cs typeface="JetBrains Mono" pitchFamily="49" charset="-120"/>
              </a:rPr>
              <a:t>4</a:t>
            </a:r>
            <a:endParaRPr lang="en-US" sz="4800" dirty="0"/>
          </a:p>
        </p:txBody>
      </p:sp>
      <p:sp>
        <p:nvSpPr>
          <p:cNvPr id="14" name="Text 12"/>
          <p:cNvSpPr/>
          <p:nvPr/>
        </p:nvSpPr>
        <p:spPr>
          <a:xfrm>
            <a:off x="8304279" y="3034330"/>
            <a:ext cx="2846140"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Descripción de datos</a:t>
            </a:r>
            <a:endParaRPr lang="en-US" sz="2000" dirty="0"/>
          </a:p>
        </p:txBody>
      </p:sp>
      <p:sp>
        <p:nvSpPr>
          <p:cNvPr id="15" name="Text 13"/>
          <p:cNvSpPr/>
          <p:nvPr/>
        </p:nvSpPr>
        <p:spPr>
          <a:xfrm>
            <a:off x="8304279" y="3466042"/>
            <a:ext cx="2846140" cy="5587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Sentencias DDL, metadatos y manejo de excepciones.</a:t>
            </a:r>
            <a:endParaRPr lang="en-US" sz="1500" dirty="0"/>
          </a:p>
        </p:txBody>
      </p:sp>
      <p:sp>
        <p:nvSpPr>
          <p:cNvPr id="16" name="Text 14"/>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2 · PROTOCOLOS DE ACCESO</a:t>
            </a:r>
            <a:endParaRPr lang="en-US" sz="1400" dirty="0"/>
          </a:p>
        </p:txBody>
      </p:sp>
      <p:sp>
        <p:nvSpPr>
          <p:cNvPr id="3" name="Text 1"/>
          <p:cNvSpPr>
            <a:spLocks noGrp="1"/>
          </p:cNvSpPr>
          <p:nvPr>
            <p:ph type="title"/>
          </p:nvPr>
        </p:nvSpPr>
        <p:spPr>
          <a:xfrm>
            <a:off x="812712" y="1163176"/>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SQL es el lenguaje; el protocolo es cómo viaja</a:t>
            </a:r>
            <a:endParaRPr lang="en-US" sz="3200" dirty="0"/>
          </a:p>
        </p:txBody>
      </p:sp>
      <p:sp>
        <p:nvSpPr>
          <p:cNvPr id="4" name="Shape 2"/>
          <p:cNvSpPr/>
          <p:nvPr/>
        </p:nvSpPr>
        <p:spPr>
          <a:xfrm>
            <a:off x="815887" y="1938272"/>
            <a:ext cx="10560227" cy="571544"/>
          </a:xfrm>
          <a:prstGeom prst="rect">
            <a:avLst/>
          </a:prstGeom>
          <a:solidFill>
            <a:srgbClr val="FFFFFF"/>
          </a:solidFill>
          <a:ln w="6350">
            <a:solidFill>
              <a:srgbClr val="DDE1E8"/>
            </a:solidFill>
            <a:prstDash val="solid"/>
          </a:ln>
        </p:spPr>
        <p:txBody>
          <a:bodyPr/>
          <a:lstStyle/>
          <a:p>
            <a:endParaRPr lang="es-ES"/>
          </a:p>
        </p:txBody>
      </p:sp>
      <p:sp>
        <p:nvSpPr>
          <p:cNvPr id="5" name="Text 3"/>
          <p:cNvSpPr/>
          <p:nvPr/>
        </p:nvSpPr>
        <p:spPr>
          <a:xfrm>
            <a:off x="1022945" y="2081831"/>
            <a:ext cx="274701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SQL</a:t>
            </a:r>
            <a:endParaRPr lang="en-US" sz="1600" dirty="0"/>
          </a:p>
        </p:txBody>
      </p:sp>
      <p:sp>
        <p:nvSpPr>
          <p:cNvPr id="6" name="Text 4"/>
          <p:cNvSpPr/>
          <p:nvPr/>
        </p:nvSpPr>
        <p:spPr>
          <a:xfrm>
            <a:off x="3893124" y="2090651"/>
            <a:ext cx="7494210"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Qué queremos hacer: SELECT, CREATE TABLE…</a:t>
            </a:r>
            <a:endParaRPr lang="en-US" sz="1500" dirty="0"/>
          </a:p>
        </p:txBody>
      </p:sp>
      <p:sp>
        <p:nvSpPr>
          <p:cNvPr id="7" name="Shape 5"/>
          <p:cNvSpPr/>
          <p:nvPr/>
        </p:nvSpPr>
        <p:spPr>
          <a:xfrm>
            <a:off x="812712" y="2512991"/>
            <a:ext cx="10566577" cy="570839"/>
          </a:xfrm>
          <a:prstGeom prst="rect">
            <a:avLst/>
          </a:prstGeom>
          <a:solidFill>
            <a:srgbClr val="FFFFFF"/>
          </a:solidFill>
          <a:ln/>
        </p:spPr>
        <p:txBody>
          <a:bodyPr/>
          <a:lstStyle/>
          <a:p>
            <a:endParaRPr lang="es-ES"/>
          </a:p>
        </p:txBody>
      </p:sp>
      <p:sp>
        <p:nvSpPr>
          <p:cNvPr id="8" name="Shape 6"/>
          <p:cNvSpPr/>
          <p:nvPr/>
        </p:nvSpPr>
        <p:spPr>
          <a:xfrm>
            <a:off x="11376114" y="2512991"/>
            <a:ext cx="0" cy="570839"/>
          </a:xfrm>
          <a:prstGeom prst="line">
            <a:avLst/>
          </a:prstGeom>
          <a:noFill/>
          <a:ln w="6350">
            <a:solidFill>
              <a:srgbClr val="DDE1E8"/>
            </a:solidFill>
            <a:prstDash val="solid"/>
          </a:ln>
        </p:spPr>
        <p:txBody>
          <a:bodyPr/>
          <a:lstStyle/>
          <a:p>
            <a:endParaRPr lang="es-ES"/>
          </a:p>
        </p:txBody>
      </p:sp>
      <p:sp>
        <p:nvSpPr>
          <p:cNvPr id="9" name="Shape 7"/>
          <p:cNvSpPr/>
          <p:nvPr/>
        </p:nvSpPr>
        <p:spPr>
          <a:xfrm>
            <a:off x="812712" y="3080654"/>
            <a:ext cx="10566577" cy="0"/>
          </a:xfrm>
          <a:prstGeom prst="line">
            <a:avLst/>
          </a:prstGeom>
          <a:noFill/>
          <a:ln w="6350">
            <a:solidFill>
              <a:srgbClr val="DDE1E8"/>
            </a:solidFill>
            <a:prstDash val="solid"/>
          </a:ln>
        </p:spPr>
        <p:txBody>
          <a:bodyPr/>
          <a:lstStyle/>
          <a:p>
            <a:endParaRPr lang="es-ES"/>
          </a:p>
        </p:txBody>
      </p:sp>
      <p:sp>
        <p:nvSpPr>
          <p:cNvPr id="10" name="Shape 8"/>
          <p:cNvSpPr/>
          <p:nvPr/>
        </p:nvSpPr>
        <p:spPr>
          <a:xfrm>
            <a:off x="815887" y="2512991"/>
            <a:ext cx="0" cy="570839"/>
          </a:xfrm>
          <a:prstGeom prst="line">
            <a:avLst/>
          </a:prstGeom>
          <a:noFill/>
          <a:ln w="6350">
            <a:solidFill>
              <a:srgbClr val="DDE1E8"/>
            </a:solidFill>
            <a:prstDash val="solid"/>
          </a:ln>
        </p:spPr>
        <p:txBody>
          <a:bodyPr/>
          <a:lstStyle/>
          <a:p>
            <a:endParaRPr lang="es-ES"/>
          </a:p>
        </p:txBody>
      </p:sp>
      <p:sp>
        <p:nvSpPr>
          <p:cNvPr id="11" name="Text 9"/>
          <p:cNvSpPr/>
          <p:nvPr/>
        </p:nvSpPr>
        <p:spPr>
          <a:xfrm>
            <a:off x="1022945" y="2652669"/>
            <a:ext cx="274701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Conector (DB-API)</a:t>
            </a:r>
            <a:endParaRPr lang="en-US" sz="1600" dirty="0"/>
          </a:p>
        </p:txBody>
      </p:sp>
      <p:sp>
        <p:nvSpPr>
          <p:cNvPr id="12" name="Text 10"/>
          <p:cNvSpPr/>
          <p:nvPr/>
        </p:nvSpPr>
        <p:spPr>
          <a:xfrm>
            <a:off x="3893124" y="2661489"/>
            <a:ext cx="7494210"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Funciones que usa el programador: mysql-connector-python</a:t>
            </a:r>
            <a:endParaRPr lang="en-US" sz="1500" dirty="0"/>
          </a:p>
        </p:txBody>
      </p:sp>
      <p:sp>
        <p:nvSpPr>
          <p:cNvPr id="13" name="Shape 11"/>
          <p:cNvSpPr/>
          <p:nvPr/>
        </p:nvSpPr>
        <p:spPr>
          <a:xfrm>
            <a:off x="812712" y="3083830"/>
            <a:ext cx="10566577" cy="570839"/>
          </a:xfrm>
          <a:prstGeom prst="rect">
            <a:avLst/>
          </a:prstGeom>
          <a:solidFill>
            <a:srgbClr val="FDEBDD"/>
          </a:solidFill>
          <a:ln/>
        </p:spPr>
        <p:txBody>
          <a:bodyPr/>
          <a:lstStyle/>
          <a:p>
            <a:endParaRPr lang="es-ES"/>
          </a:p>
        </p:txBody>
      </p:sp>
      <p:sp>
        <p:nvSpPr>
          <p:cNvPr id="14" name="Shape 12"/>
          <p:cNvSpPr/>
          <p:nvPr/>
        </p:nvSpPr>
        <p:spPr>
          <a:xfrm>
            <a:off x="11376114" y="3083830"/>
            <a:ext cx="0" cy="570839"/>
          </a:xfrm>
          <a:prstGeom prst="line">
            <a:avLst/>
          </a:prstGeom>
          <a:noFill/>
          <a:ln w="6350">
            <a:solidFill>
              <a:srgbClr val="DDE1E8"/>
            </a:solidFill>
            <a:prstDash val="solid"/>
          </a:ln>
        </p:spPr>
        <p:txBody>
          <a:bodyPr/>
          <a:lstStyle/>
          <a:p>
            <a:endParaRPr lang="es-ES"/>
          </a:p>
        </p:txBody>
      </p:sp>
      <p:sp>
        <p:nvSpPr>
          <p:cNvPr id="15" name="Shape 13"/>
          <p:cNvSpPr/>
          <p:nvPr/>
        </p:nvSpPr>
        <p:spPr>
          <a:xfrm>
            <a:off x="812712" y="3651494"/>
            <a:ext cx="10566577" cy="0"/>
          </a:xfrm>
          <a:prstGeom prst="line">
            <a:avLst/>
          </a:prstGeom>
          <a:noFill/>
          <a:ln w="6350">
            <a:solidFill>
              <a:srgbClr val="DDE1E8"/>
            </a:solidFill>
            <a:prstDash val="solid"/>
          </a:ln>
        </p:spPr>
        <p:txBody>
          <a:bodyPr/>
          <a:lstStyle/>
          <a:p>
            <a:endParaRPr lang="es-ES"/>
          </a:p>
        </p:txBody>
      </p:sp>
      <p:sp>
        <p:nvSpPr>
          <p:cNvPr id="16" name="Shape 14"/>
          <p:cNvSpPr/>
          <p:nvPr/>
        </p:nvSpPr>
        <p:spPr>
          <a:xfrm>
            <a:off x="815887" y="3083830"/>
            <a:ext cx="0" cy="570839"/>
          </a:xfrm>
          <a:prstGeom prst="line">
            <a:avLst/>
          </a:prstGeom>
          <a:noFill/>
          <a:ln w="6350">
            <a:solidFill>
              <a:srgbClr val="DDE1E8"/>
            </a:solidFill>
            <a:prstDash val="solid"/>
          </a:ln>
        </p:spPr>
        <p:txBody>
          <a:bodyPr/>
          <a:lstStyle/>
          <a:p>
            <a:endParaRPr lang="es-ES"/>
          </a:p>
        </p:txBody>
      </p:sp>
      <p:sp>
        <p:nvSpPr>
          <p:cNvPr id="17" name="Text 15"/>
          <p:cNvSpPr/>
          <p:nvPr/>
        </p:nvSpPr>
        <p:spPr>
          <a:xfrm>
            <a:off x="1022945" y="3223507"/>
            <a:ext cx="274701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Protocolo de MySQL</a:t>
            </a:r>
            <a:endParaRPr lang="en-US" sz="1600" dirty="0"/>
          </a:p>
        </p:txBody>
      </p:sp>
      <p:sp>
        <p:nvSpPr>
          <p:cNvPr id="18" name="Text 16"/>
          <p:cNvSpPr/>
          <p:nvPr/>
        </p:nvSpPr>
        <p:spPr>
          <a:xfrm>
            <a:off x="3893124" y="3232327"/>
            <a:ext cx="7494210"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Formato de los mensajes cliente/servidor, puerto 3306</a:t>
            </a:r>
            <a:endParaRPr lang="en-US" sz="1500" dirty="0"/>
          </a:p>
        </p:txBody>
      </p:sp>
      <p:sp>
        <p:nvSpPr>
          <p:cNvPr id="19" name="Shape 17"/>
          <p:cNvSpPr/>
          <p:nvPr/>
        </p:nvSpPr>
        <p:spPr>
          <a:xfrm>
            <a:off x="812712" y="3654668"/>
            <a:ext cx="10566577" cy="570839"/>
          </a:xfrm>
          <a:prstGeom prst="rect">
            <a:avLst/>
          </a:prstGeom>
          <a:solidFill>
            <a:srgbClr val="FFFFFF"/>
          </a:solidFill>
          <a:ln/>
        </p:spPr>
        <p:txBody>
          <a:bodyPr/>
          <a:lstStyle/>
          <a:p>
            <a:endParaRPr lang="es-ES"/>
          </a:p>
        </p:txBody>
      </p:sp>
      <p:sp>
        <p:nvSpPr>
          <p:cNvPr id="20" name="Shape 18"/>
          <p:cNvSpPr/>
          <p:nvPr/>
        </p:nvSpPr>
        <p:spPr>
          <a:xfrm>
            <a:off x="11376114" y="3654668"/>
            <a:ext cx="0" cy="570839"/>
          </a:xfrm>
          <a:prstGeom prst="line">
            <a:avLst/>
          </a:prstGeom>
          <a:noFill/>
          <a:ln w="6350">
            <a:solidFill>
              <a:srgbClr val="DDE1E8"/>
            </a:solidFill>
            <a:prstDash val="solid"/>
          </a:ln>
        </p:spPr>
        <p:txBody>
          <a:bodyPr/>
          <a:lstStyle/>
          <a:p>
            <a:endParaRPr lang="es-ES"/>
          </a:p>
        </p:txBody>
      </p:sp>
      <p:sp>
        <p:nvSpPr>
          <p:cNvPr id="21" name="Shape 19"/>
          <p:cNvSpPr/>
          <p:nvPr/>
        </p:nvSpPr>
        <p:spPr>
          <a:xfrm>
            <a:off x="812712" y="4222332"/>
            <a:ext cx="10566577" cy="0"/>
          </a:xfrm>
          <a:prstGeom prst="line">
            <a:avLst/>
          </a:prstGeom>
          <a:noFill/>
          <a:ln w="6350">
            <a:solidFill>
              <a:srgbClr val="DDE1E8"/>
            </a:solidFill>
            <a:prstDash val="solid"/>
          </a:ln>
        </p:spPr>
        <p:txBody>
          <a:bodyPr/>
          <a:lstStyle/>
          <a:p>
            <a:endParaRPr lang="es-ES"/>
          </a:p>
        </p:txBody>
      </p:sp>
      <p:sp>
        <p:nvSpPr>
          <p:cNvPr id="22" name="Shape 20"/>
          <p:cNvSpPr/>
          <p:nvPr/>
        </p:nvSpPr>
        <p:spPr>
          <a:xfrm>
            <a:off x="815887" y="3654668"/>
            <a:ext cx="0" cy="570839"/>
          </a:xfrm>
          <a:prstGeom prst="line">
            <a:avLst/>
          </a:prstGeom>
          <a:noFill/>
          <a:ln w="6350">
            <a:solidFill>
              <a:srgbClr val="DDE1E8"/>
            </a:solidFill>
            <a:prstDash val="solid"/>
          </a:ln>
        </p:spPr>
        <p:txBody>
          <a:bodyPr/>
          <a:lstStyle/>
          <a:p>
            <a:endParaRPr lang="es-ES"/>
          </a:p>
        </p:txBody>
      </p:sp>
      <p:sp>
        <p:nvSpPr>
          <p:cNvPr id="23" name="Text 21"/>
          <p:cNvSpPr/>
          <p:nvPr/>
        </p:nvSpPr>
        <p:spPr>
          <a:xfrm>
            <a:off x="1022945" y="3794347"/>
            <a:ext cx="274701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SSL/TLS</a:t>
            </a:r>
            <a:endParaRPr lang="en-US" sz="1600" dirty="0"/>
          </a:p>
        </p:txBody>
      </p:sp>
      <p:sp>
        <p:nvSpPr>
          <p:cNvPr id="24" name="Text 22"/>
          <p:cNvSpPr/>
          <p:nvPr/>
        </p:nvSpPr>
        <p:spPr>
          <a:xfrm>
            <a:off x="3893124" y="3803166"/>
            <a:ext cx="7494210"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Cifra todo lo que viaja por la red</a:t>
            </a:r>
            <a:endParaRPr lang="en-US" sz="1500" dirty="0"/>
          </a:p>
        </p:txBody>
      </p:sp>
      <p:sp>
        <p:nvSpPr>
          <p:cNvPr id="25" name="Shape 23"/>
          <p:cNvSpPr/>
          <p:nvPr/>
        </p:nvSpPr>
        <p:spPr>
          <a:xfrm>
            <a:off x="812712" y="4225506"/>
            <a:ext cx="10566577" cy="570839"/>
          </a:xfrm>
          <a:prstGeom prst="rect">
            <a:avLst/>
          </a:prstGeom>
          <a:solidFill>
            <a:srgbClr val="FFFFFF"/>
          </a:solidFill>
          <a:ln/>
        </p:spPr>
        <p:txBody>
          <a:bodyPr/>
          <a:lstStyle/>
          <a:p>
            <a:endParaRPr lang="es-ES"/>
          </a:p>
        </p:txBody>
      </p:sp>
      <p:sp>
        <p:nvSpPr>
          <p:cNvPr id="26" name="Shape 24"/>
          <p:cNvSpPr/>
          <p:nvPr/>
        </p:nvSpPr>
        <p:spPr>
          <a:xfrm>
            <a:off x="11376114" y="4225506"/>
            <a:ext cx="0" cy="570839"/>
          </a:xfrm>
          <a:prstGeom prst="line">
            <a:avLst/>
          </a:prstGeom>
          <a:noFill/>
          <a:ln w="6350">
            <a:solidFill>
              <a:srgbClr val="DDE1E8"/>
            </a:solidFill>
            <a:prstDash val="solid"/>
          </a:ln>
        </p:spPr>
        <p:txBody>
          <a:bodyPr/>
          <a:lstStyle/>
          <a:p>
            <a:endParaRPr lang="es-ES"/>
          </a:p>
        </p:txBody>
      </p:sp>
      <p:sp>
        <p:nvSpPr>
          <p:cNvPr id="27" name="Shape 25"/>
          <p:cNvSpPr/>
          <p:nvPr/>
        </p:nvSpPr>
        <p:spPr>
          <a:xfrm>
            <a:off x="812712" y="4793170"/>
            <a:ext cx="10566577" cy="0"/>
          </a:xfrm>
          <a:prstGeom prst="line">
            <a:avLst/>
          </a:prstGeom>
          <a:noFill/>
          <a:ln w="6350">
            <a:solidFill>
              <a:srgbClr val="DDE1E8"/>
            </a:solidFill>
            <a:prstDash val="solid"/>
          </a:ln>
        </p:spPr>
        <p:txBody>
          <a:bodyPr/>
          <a:lstStyle/>
          <a:p>
            <a:endParaRPr lang="es-ES"/>
          </a:p>
        </p:txBody>
      </p:sp>
      <p:sp>
        <p:nvSpPr>
          <p:cNvPr id="28" name="Shape 26"/>
          <p:cNvSpPr/>
          <p:nvPr/>
        </p:nvSpPr>
        <p:spPr>
          <a:xfrm>
            <a:off x="815887" y="4225506"/>
            <a:ext cx="0" cy="570839"/>
          </a:xfrm>
          <a:prstGeom prst="line">
            <a:avLst/>
          </a:prstGeom>
          <a:noFill/>
          <a:ln w="6350">
            <a:solidFill>
              <a:srgbClr val="DDE1E8"/>
            </a:solidFill>
            <a:prstDash val="solid"/>
          </a:ln>
        </p:spPr>
        <p:txBody>
          <a:bodyPr/>
          <a:lstStyle/>
          <a:p>
            <a:endParaRPr lang="es-ES"/>
          </a:p>
        </p:txBody>
      </p:sp>
      <p:sp>
        <p:nvSpPr>
          <p:cNvPr id="29" name="Text 27"/>
          <p:cNvSpPr/>
          <p:nvPr/>
        </p:nvSpPr>
        <p:spPr>
          <a:xfrm>
            <a:off x="1022945" y="4365185"/>
            <a:ext cx="274701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TCP/IP</a:t>
            </a:r>
            <a:endParaRPr lang="en-US" sz="1600" dirty="0"/>
          </a:p>
        </p:txBody>
      </p:sp>
      <p:sp>
        <p:nvSpPr>
          <p:cNvPr id="30" name="Text 28"/>
          <p:cNvSpPr/>
          <p:nvPr/>
        </p:nvSpPr>
        <p:spPr>
          <a:xfrm>
            <a:off x="3893124" y="4374004"/>
            <a:ext cx="7494210"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Transporta los bytes de un equipo a otro</a:t>
            </a:r>
            <a:endParaRPr lang="en-US" sz="1500" dirty="0"/>
          </a:p>
        </p:txBody>
      </p:sp>
      <p:sp>
        <p:nvSpPr>
          <p:cNvPr id="31" name="Text 29"/>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2 · PROTOCOLOS DE ACCESO</a:t>
            </a:r>
            <a:endParaRPr lang="en-US" sz="1400" dirty="0"/>
          </a:p>
        </p:txBody>
      </p:sp>
      <p:sp>
        <p:nvSpPr>
          <p:cNvPr id="3" name="Text 1"/>
          <p:cNvSpPr>
            <a:spLocks noGrp="1"/>
          </p:cNvSpPr>
          <p:nvPr>
            <p:ph type="title"/>
          </p:nvPr>
        </p:nvSpPr>
        <p:spPr>
          <a:xfrm>
            <a:off x="812712" y="1163174"/>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Una API estándar por lenguaje</a:t>
            </a:r>
            <a:endParaRPr lang="en-US" sz="3200" dirty="0"/>
          </a:p>
        </p:txBody>
      </p:sp>
      <p:sp>
        <p:nvSpPr>
          <p:cNvPr id="4" name="Shape 2"/>
          <p:cNvSpPr/>
          <p:nvPr/>
        </p:nvSpPr>
        <p:spPr>
          <a:xfrm>
            <a:off x="815887" y="1938271"/>
            <a:ext cx="3385057" cy="1163329"/>
          </a:xfrm>
          <a:prstGeom prst="roundRect">
            <a:avLst>
              <a:gd name="adj" fmla="val 8461"/>
            </a:avLst>
          </a:prstGeom>
          <a:solidFill>
            <a:srgbClr val="FFFFFF"/>
          </a:solidFill>
          <a:ln w="6350">
            <a:solidFill>
              <a:srgbClr val="DDE1E8"/>
            </a:solidFill>
            <a:prstDash val="solid"/>
          </a:ln>
        </p:spPr>
        <p:txBody>
          <a:bodyPr/>
          <a:lstStyle/>
          <a:p>
            <a:endParaRPr lang="es-ES"/>
          </a:p>
        </p:txBody>
      </p:sp>
      <p:sp>
        <p:nvSpPr>
          <p:cNvPr id="5" name="Text 3"/>
          <p:cNvSpPr/>
          <p:nvPr/>
        </p:nvSpPr>
        <p:spPr>
          <a:xfrm>
            <a:off x="1073767" y="2196151"/>
            <a:ext cx="2955375"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JDBC</a:t>
            </a:r>
            <a:endParaRPr lang="en-US" sz="2000" dirty="0"/>
          </a:p>
        </p:txBody>
      </p:sp>
      <p:sp>
        <p:nvSpPr>
          <p:cNvPr id="6" name="Text 4"/>
          <p:cNvSpPr/>
          <p:nvPr/>
        </p:nvSpPr>
        <p:spPr>
          <a:xfrm>
            <a:off x="1073767" y="2577041"/>
            <a:ext cx="2955375"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Java</a:t>
            </a:r>
            <a:endParaRPr lang="en-US" sz="1500" dirty="0"/>
          </a:p>
        </p:txBody>
      </p:sp>
      <p:sp>
        <p:nvSpPr>
          <p:cNvPr id="7" name="Shape 5"/>
          <p:cNvSpPr/>
          <p:nvPr/>
        </p:nvSpPr>
        <p:spPr>
          <a:xfrm>
            <a:off x="4410472" y="1938271"/>
            <a:ext cx="3385167" cy="1163329"/>
          </a:xfrm>
          <a:prstGeom prst="roundRect">
            <a:avLst>
              <a:gd name="adj" fmla="val 8461"/>
            </a:avLst>
          </a:prstGeom>
          <a:solidFill>
            <a:srgbClr val="FFFFFF"/>
          </a:solidFill>
          <a:ln w="6350">
            <a:solidFill>
              <a:srgbClr val="DDE1E8"/>
            </a:solidFill>
            <a:prstDash val="solid"/>
          </a:ln>
        </p:spPr>
        <p:txBody>
          <a:bodyPr/>
          <a:lstStyle/>
          <a:p>
            <a:endParaRPr lang="es-ES"/>
          </a:p>
        </p:txBody>
      </p:sp>
      <p:sp>
        <p:nvSpPr>
          <p:cNvPr id="8" name="Text 6"/>
          <p:cNvSpPr/>
          <p:nvPr/>
        </p:nvSpPr>
        <p:spPr>
          <a:xfrm>
            <a:off x="4668353" y="2196151"/>
            <a:ext cx="2955489"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ODBC</a:t>
            </a:r>
            <a:endParaRPr lang="en-US" sz="2000" dirty="0"/>
          </a:p>
        </p:txBody>
      </p:sp>
      <p:sp>
        <p:nvSpPr>
          <p:cNvPr id="9" name="Text 7"/>
          <p:cNvSpPr/>
          <p:nvPr/>
        </p:nvSpPr>
        <p:spPr>
          <a:xfrm>
            <a:off x="4668353" y="2577041"/>
            <a:ext cx="2955489"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 y muchas herramientas</a:t>
            </a:r>
            <a:endParaRPr lang="en-US" sz="1500" dirty="0"/>
          </a:p>
        </p:txBody>
      </p:sp>
      <p:sp>
        <p:nvSpPr>
          <p:cNvPr id="10" name="Shape 8"/>
          <p:cNvSpPr/>
          <p:nvPr/>
        </p:nvSpPr>
        <p:spPr>
          <a:xfrm>
            <a:off x="8001992" y="1935096"/>
            <a:ext cx="3377296" cy="1169679"/>
          </a:xfrm>
          <a:prstGeom prst="roundRect">
            <a:avLst>
              <a:gd name="adj" fmla="val 8686"/>
            </a:avLst>
          </a:prstGeom>
          <a:solidFill>
            <a:srgbClr val="14213D"/>
          </a:solidFill>
          <a:ln/>
        </p:spPr>
        <p:txBody>
          <a:bodyPr/>
          <a:lstStyle/>
          <a:p>
            <a:endParaRPr lang="es-ES"/>
          </a:p>
        </p:txBody>
      </p:sp>
      <p:sp>
        <p:nvSpPr>
          <p:cNvPr id="11" name="Text 9"/>
          <p:cNvSpPr/>
          <p:nvPr/>
        </p:nvSpPr>
        <p:spPr>
          <a:xfrm>
            <a:off x="8255993" y="2189096"/>
            <a:ext cx="2955375" cy="33011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0A060"/>
                </a:solidFill>
                <a:latin typeface="IBM Plex Sans" pitchFamily="34" charset="0"/>
                <a:ea typeface="IBM Plex Sans" pitchFamily="34" charset="-122"/>
                <a:cs typeface="IBM Plex Sans" pitchFamily="34" charset="-120"/>
              </a:rPr>
              <a:t>DB-API 2.0</a:t>
            </a:r>
            <a:endParaRPr lang="en-US" sz="2000" dirty="0"/>
          </a:p>
        </p:txBody>
      </p:sp>
      <p:sp>
        <p:nvSpPr>
          <p:cNvPr id="12" name="Text 10"/>
          <p:cNvSpPr/>
          <p:nvPr/>
        </p:nvSpPr>
        <p:spPr>
          <a:xfrm>
            <a:off x="8255993" y="2569986"/>
            <a:ext cx="2955375"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6EAF0"/>
                </a:solidFill>
                <a:latin typeface="IBM Plex Sans" pitchFamily="34" charset="0"/>
                <a:ea typeface="IBM Plex Sans" pitchFamily="34" charset="-122"/>
                <a:cs typeface="IBM Plex Sans" pitchFamily="34" charset="-120"/>
              </a:rPr>
              <a:t>Python (PEP 249)</a:t>
            </a:r>
            <a:endParaRPr lang="en-US" sz="1500" dirty="0"/>
          </a:p>
        </p:txBody>
      </p:sp>
      <p:sp>
        <p:nvSpPr>
          <p:cNvPr id="13" name="Text 11"/>
          <p:cNvSpPr/>
          <p:nvPr/>
        </p:nvSpPr>
        <p:spPr>
          <a:xfrm>
            <a:off x="812712" y="3409486"/>
            <a:ext cx="10883574"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Si cambiamos de SGBD solo cambia el conector; el código usa siempre las mismas funciones:</a:t>
            </a:r>
            <a:endParaRPr lang="en-US" sz="1500" dirty="0"/>
          </a:p>
        </p:txBody>
      </p:sp>
      <p:sp>
        <p:nvSpPr>
          <p:cNvPr id="14" name="Text 12"/>
          <p:cNvSpPr/>
          <p:nvPr/>
        </p:nvSpPr>
        <p:spPr>
          <a:xfrm>
            <a:off x="812712" y="3803165"/>
            <a:ext cx="1239573" cy="375929"/>
          </a:xfrm>
          <a:prstGeom prst="roundRect">
            <a:avLst>
              <a:gd name="adj" fmla="val 16891"/>
            </a:avLst>
          </a:prstGeom>
          <a:solidFill>
            <a:srgbClr val="E3E8F0"/>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connect()</a:t>
            </a:r>
            <a:endParaRPr lang="en-US" sz="1400" dirty="0"/>
          </a:p>
        </p:txBody>
      </p:sp>
      <p:sp>
        <p:nvSpPr>
          <p:cNvPr id="15" name="Text 13"/>
          <p:cNvSpPr/>
          <p:nvPr/>
        </p:nvSpPr>
        <p:spPr>
          <a:xfrm>
            <a:off x="2153819" y="3803165"/>
            <a:ext cx="1132858" cy="375929"/>
          </a:xfrm>
          <a:prstGeom prst="roundRect">
            <a:avLst>
              <a:gd name="adj" fmla="val 16891"/>
            </a:avLst>
          </a:prstGeom>
          <a:solidFill>
            <a:srgbClr val="E3E8F0"/>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cursor()</a:t>
            </a:r>
            <a:endParaRPr lang="en-US" sz="1400" dirty="0"/>
          </a:p>
        </p:txBody>
      </p:sp>
      <p:sp>
        <p:nvSpPr>
          <p:cNvPr id="16" name="Text 14"/>
          <p:cNvSpPr/>
          <p:nvPr/>
        </p:nvSpPr>
        <p:spPr>
          <a:xfrm>
            <a:off x="3388210" y="3803165"/>
            <a:ext cx="1239573" cy="375929"/>
          </a:xfrm>
          <a:prstGeom prst="roundRect">
            <a:avLst>
              <a:gd name="adj" fmla="val 16891"/>
            </a:avLst>
          </a:prstGeom>
          <a:solidFill>
            <a:srgbClr val="E3E8F0"/>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execute()</a:t>
            </a:r>
            <a:endParaRPr lang="en-US" sz="1400" dirty="0"/>
          </a:p>
        </p:txBody>
      </p:sp>
      <p:sp>
        <p:nvSpPr>
          <p:cNvPr id="17" name="Text 15"/>
          <p:cNvSpPr/>
          <p:nvPr/>
        </p:nvSpPr>
        <p:spPr>
          <a:xfrm>
            <a:off x="4729317" y="3803165"/>
            <a:ext cx="1346178" cy="375929"/>
          </a:xfrm>
          <a:prstGeom prst="roundRect">
            <a:avLst>
              <a:gd name="adj" fmla="val 16891"/>
            </a:avLst>
          </a:prstGeom>
          <a:solidFill>
            <a:srgbClr val="E3E8F0"/>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fetchall()</a:t>
            </a:r>
            <a:endParaRPr lang="en-US" sz="1400" dirty="0"/>
          </a:p>
        </p:txBody>
      </p:sp>
      <p:sp>
        <p:nvSpPr>
          <p:cNvPr id="18" name="Text 16"/>
          <p:cNvSpPr/>
          <p:nvPr/>
        </p:nvSpPr>
        <p:spPr>
          <a:xfrm>
            <a:off x="6177029" y="3803165"/>
            <a:ext cx="1132858" cy="375929"/>
          </a:xfrm>
          <a:prstGeom prst="roundRect">
            <a:avLst>
              <a:gd name="adj" fmla="val 16891"/>
            </a:avLst>
          </a:prstGeom>
          <a:solidFill>
            <a:srgbClr val="E3E8F0"/>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commit()</a:t>
            </a:r>
            <a:endParaRPr lang="en-US" sz="1400" dirty="0"/>
          </a:p>
        </p:txBody>
      </p:sp>
      <p:sp>
        <p:nvSpPr>
          <p:cNvPr id="19" name="Text 17"/>
          <p:cNvSpPr/>
          <p:nvPr/>
        </p:nvSpPr>
        <p:spPr>
          <a:xfrm>
            <a:off x="7411420" y="3803165"/>
            <a:ext cx="1026142" cy="375929"/>
          </a:xfrm>
          <a:prstGeom prst="roundRect">
            <a:avLst>
              <a:gd name="adj" fmla="val 16891"/>
            </a:avLst>
          </a:prstGeom>
          <a:solidFill>
            <a:srgbClr val="E3E8F0"/>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close()</a:t>
            </a:r>
            <a:endParaRPr lang="en-US" sz="1400" dirty="0"/>
          </a:p>
        </p:txBody>
      </p:sp>
      <p:sp>
        <p:nvSpPr>
          <p:cNvPr id="20" name="Text 18"/>
          <p:cNvSpPr/>
          <p:nvPr/>
        </p:nvSpPr>
        <p:spPr>
          <a:xfrm>
            <a:off x="812712" y="4483805"/>
            <a:ext cx="10566577" cy="520678"/>
          </a:xfrm>
          <a:prstGeom prst="rect">
            <a:avLst/>
          </a:prstGeom>
          <a:solidFill>
            <a:srgbClr val="FDEBDD"/>
          </a:solidFill>
          <a:ln/>
        </p:spPr>
        <p:txBody>
          <a:bodyPr wrap="square" lIns="213078" tIns="127000" rIns="0" bIns="10160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NoSQL no es un protocolo:</a:t>
            </a:r>
            <a:r>
              <a:rPr lang="en-US" sz="1500" dirty="0">
                <a:solidFill>
                  <a:srgbClr val="14213D"/>
                </a:solidFill>
                <a:latin typeface="IBM Plex Sans" pitchFamily="34" charset="0"/>
                <a:ea typeface="IBM Plex Sans" pitchFamily="34" charset="-122"/>
                <a:cs typeface="IBM Plex Sans" pitchFamily="34" charset="-120"/>
              </a:rPr>
              <a:t> es una familia de bases de datos (MongoDB, Redis…) y cada una tiene su propio conector.</a:t>
            </a:r>
            <a:endParaRPr lang="en-US" sz="1500" dirty="0"/>
          </a:p>
        </p:txBody>
      </p:sp>
      <p:sp>
        <p:nvSpPr>
          <p:cNvPr id="21" name="Shape 19"/>
          <p:cNvSpPr/>
          <p:nvPr/>
        </p:nvSpPr>
        <p:spPr>
          <a:xfrm>
            <a:off x="831762" y="4483805"/>
            <a:ext cx="0" cy="520678"/>
          </a:xfrm>
          <a:prstGeom prst="line">
            <a:avLst/>
          </a:prstGeom>
          <a:noFill/>
          <a:ln w="38100">
            <a:solidFill>
              <a:srgbClr val="B4561A"/>
            </a:solidFill>
            <a:prstDash val="solid"/>
          </a:ln>
        </p:spPr>
        <p:txBody>
          <a:bodyPr/>
          <a:lstStyle/>
          <a:p>
            <a:endParaRPr lang="es-ES"/>
          </a:p>
        </p:txBody>
      </p:sp>
      <p:sp>
        <p:nvSpPr>
          <p:cNvPr id="22" name="Text 20"/>
          <p:cNvSpPr/>
          <p:nvPr/>
        </p:nvSpPr>
        <p:spPr>
          <a:xfrm>
            <a:off x="812712" y="6238433"/>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2 · PROTOCOLOS DE ACCESO</a:t>
            </a:r>
            <a:endParaRPr lang="en-US" sz="1400" dirty="0"/>
          </a:p>
        </p:txBody>
      </p:sp>
      <p:sp>
        <p:nvSpPr>
          <p:cNvPr id="3" name="Text 1"/>
          <p:cNvSpPr>
            <a:spLocks noGrp="1"/>
          </p:cNvSpPr>
          <p:nvPr>
            <p:ph type="title"/>
          </p:nvPr>
        </p:nvSpPr>
        <p:spPr>
          <a:xfrm>
            <a:off x="812712" y="1163176"/>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Conectores de MySQL para Python</a:t>
            </a:r>
            <a:endParaRPr lang="en-US" sz="3200" dirty="0"/>
          </a:p>
        </p:txBody>
      </p:sp>
      <p:sp>
        <p:nvSpPr>
          <p:cNvPr id="4" name="Shape 2"/>
          <p:cNvSpPr/>
          <p:nvPr/>
        </p:nvSpPr>
        <p:spPr>
          <a:xfrm>
            <a:off x="812712" y="1938625"/>
            <a:ext cx="10566577" cy="0"/>
          </a:xfrm>
          <a:prstGeom prst="line">
            <a:avLst/>
          </a:prstGeom>
          <a:noFill/>
          <a:ln w="7056">
            <a:solidFill>
              <a:srgbClr val="141413">
                <a:alpha val="22000"/>
              </a:srgbClr>
            </a:solidFill>
            <a:prstDash val="solid"/>
          </a:ln>
        </p:spPr>
        <p:txBody>
          <a:bodyPr/>
          <a:lstStyle/>
          <a:p>
            <a:endParaRPr lang="es-ES"/>
          </a:p>
        </p:txBody>
      </p:sp>
      <p:sp>
        <p:nvSpPr>
          <p:cNvPr id="5" name="Shape 3"/>
          <p:cNvSpPr/>
          <p:nvPr/>
        </p:nvSpPr>
        <p:spPr>
          <a:xfrm>
            <a:off x="816240" y="1935097"/>
            <a:ext cx="0" cy="2280267"/>
          </a:xfrm>
          <a:prstGeom prst="line">
            <a:avLst/>
          </a:prstGeom>
          <a:noFill/>
          <a:ln w="7056">
            <a:solidFill>
              <a:srgbClr val="141413">
                <a:alpha val="22000"/>
              </a:srgbClr>
            </a:solidFill>
            <a:prstDash val="solid"/>
          </a:ln>
        </p:spPr>
        <p:txBody>
          <a:bodyPr/>
          <a:lstStyle/>
          <a:p>
            <a:endParaRPr lang="es-E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2167" y="2069153"/>
          <a:ext cx="10254721" cy="2019212"/>
        </p:xfrm>
        <a:graphic>
          <a:graphicData uri="http://schemas.openxmlformats.org/drawingml/2006/table">
            <a:tbl>
              <a:tblPr/>
              <a:tblGrid>
                <a:gridCol w="2871322">
                  <a:extLst>
                    <a:ext uri="{9D8B030D-6E8A-4147-A177-3AD203B41FA5}">
                      <a16:colId xmlns:a16="http://schemas.microsoft.com/office/drawing/2014/main" val="20000"/>
                    </a:ext>
                  </a:extLst>
                </a:gridCol>
                <a:gridCol w="4101888">
                  <a:extLst>
                    <a:ext uri="{9D8B030D-6E8A-4147-A177-3AD203B41FA5}">
                      <a16:colId xmlns:a16="http://schemas.microsoft.com/office/drawing/2014/main" val="20001"/>
                    </a:ext>
                  </a:extLst>
                </a:gridCol>
                <a:gridCol w="3281511">
                  <a:extLst>
                    <a:ext uri="{9D8B030D-6E8A-4147-A177-3AD203B41FA5}">
                      <a16:colId xmlns:a16="http://schemas.microsoft.com/office/drawing/2014/main" val="20002"/>
                    </a:ext>
                  </a:extLst>
                </a:gridCol>
              </a:tblGrid>
              <a:tr h="380339">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Conector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Características</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Instalación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629267">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mysql-connector-python</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BCB1"/>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Oficial de MySQL. Python puro. Incluye pool de conexiones.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pip install mysql-connector-python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extLst>
                  <a:ext uri="{0D108BD9-81ED-4DB2-BD59-A6C34878D82A}">
                    <a16:rowId xmlns:a16="http://schemas.microsoft.com/office/drawing/2014/main" val="10001"/>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PyMySQL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Python puro, ligero, muy usado con frameworks.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pip install pymysql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629267">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mysqlclient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Basado en la librería C: el más rápido, pero hay que compilarlo.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pip install mysqlclient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812712" y="4520078"/>
            <a:ext cx="10883574" cy="5587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Para elegir: </a:t>
            </a:r>
            <a:r>
              <a:rPr lang="en-US" sz="1500" b="1" dirty="0">
                <a:solidFill>
                  <a:srgbClr val="4A5568"/>
                </a:solidFill>
                <a:latin typeface="IBM Plex Sans" pitchFamily="34" charset="0"/>
                <a:ea typeface="IBM Plex Sans" pitchFamily="34" charset="-122"/>
                <a:cs typeface="IBM Plex Sans" pitchFamily="34" charset="-120"/>
              </a:rPr>
              <a:t>compatibilidad</a:t>
            </a:r>
            <a:r>
              <a:rPr lang="en-US" sz="1500" dirty="0">
                <a:solidFill>
                  <a:srgbClr val="4A5568"/>
                </a:solidFill>
                <a:latin typeface="IBM Plex Sans" pitchFamily="34" charset="0"/>
                <a:ea typeface="IBM Plex Sans" pitchFamily="34" charset="-122"/>
                <a:cs typeface="IBM Plex Sans" pitchFamily="34" charset="-120"/>
              </a:rPr>
              <a:t> con la versión del servidor, </a:t>
            </a:r>
            <a:r>
              <a:rPr lang="en-US" sz="1500" b="1" dirty="0">
                <a:solidFill>
                  <a:srgbClr val="4A5568"/>
                </a:solidFill>
                <a:latin typeface="IBM Plex Sans" pitchFamily="34" charset="0"/>
                <a:ea typeface="IBM Plex Sans" pitchFamily="34" charset="-122"/>
                <a:cs typeface="IBM Plex Sans" pitchFamily="34" charset="-120"/>
              </a:rPr>
              <a:t>rendimiento</a:t>
            </a:r>
            <a:r>
              <a:rPr lang="en-US" sz="1500" dirty="0">
                <a:solidFill>
                  <a:srgbClr val="4A5568"/>
                </a:solidFill>
                <a:latin typeface="IBM Plex Sans" pitchFamily="34" charset="0"/>
                <a:ea typeface="IBM Plex Sans" pitchFamily="34" charset="-122"/>
                <a:cs typeface="IBM Plex Sans" pitchFamily="34" charset="-120"/>
              </a:rPr>
              <a:t>, </a:t>
            </a:r>
            <a:r>
              <a:rPr lang="en-US" sz="1500" b="1" dirty="0">
                <a:solidFill>
                  <a:srgbClr val="4A5568"/>
                </a:solidFill>
                <a:latin typeface="IBM Plex Sans" pitchFamily="34" charset="0"/>
                <a:ea typeface="IBM Plex Sans" pitchFamily="34" charset="-122"/>
                <a:cs typeface="IBM Plex Sans" pitchFamily="34" charset="-120"/>
              </a:rPr>
              <a:t>seguridad</a:t>
            </a:r>
            <a:r>
              <a:rPr lang="en-US" sz="1500" dirty="0">
                <a:solidFill>
                  <a:srgbClr val="4A5568"/>
                </a:solidFill>
                <a:latin typeface="IBM Plex Sans" pitchFamily="34" charset="0"/>
                <a:ea typeface="IBM Plex Sans" pitchFamily="34" charset="-122"/>
                <a:cs typeface="IBM Plex Sans" pitchFamily="34" charset="-120"/>
              </a:rPr>
              <a:t> (TLS, autenticación de MySQL 8), </a:t>
            </a:r>
            <a:r>
              <a:rPr lang="en-US" sz="1500" b="1" dirty="0">
                <a:solidFill>
                  <a:srgbClr val="4A5568"/>
                </a:solidFill>
                <a:latin typeface="IBM Plex Sans" pitchFamily="34" charset="0"/>
                <a:ea typeface="IBM Plex Sans" pitchFamily="34" charset="-122"/>
                <a:cs typeface="IBM Plex Sans" pitchFamily="34" charset="-120"/>
              </a:rPr>
              <a:t>funcionalidades</a:t>
            </a:r>
            <a:r>
              <a:rPr lang="en-US" sz="1500" dirty="0">
                <a:solidFill>
                  <a:srgbClr val="4A5568"/>
                </a:solidFill>
                <a:latin typeface="IBM Plex Sans" pitchFamily="34" charset="0"/>
                <a:ea typeface="IBM Plex Sans" pitchFamily="34" charset="-122"/>
                <a:cs typeface="IBM Plex Sans" pitchFamily="34" charset="-120"/>
              </a:rPr>
              <a:t> y </a:t>
            </a:r>
            <a:r>
              <a:rPr lang="en-US" sz="1500" b="1" dirty="0">
                <a:solidFill>
                  <a:srgbClr val="4A5568"/>
                </a:solidFill>
                <a:latin typeface="IBM Plex Sans" pitchFamily="34" charset="0"/>
                <a:ea typeface="IBM Plex Sans" pitchFamily="34" charset="-122"/>
                <a:cs typeface="IBM Plex Sans" pitchFamily="34" charset="-120"/>
              </a:rPr>
              <a:t>mantenimiento</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8" name="Text 5"/>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2 · PROTOCOLOS DE ACCESO</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Autenticación, autorización y sesión</a:t>
            </a:r>
            <a:endParaRPr lang="en-US" sz="3200" dirty="0"/>
          </a:p>
        </p:txBody>
      </p:sp>
      <p:sp>
        <p:nvSpPr>
          <p:cNvPr id="4" name="Shape 2"/>
          <p:cNvSpPr/>
          <p:nvPr/>
        </p:nvSpPr>
        <p:spPr>
          <a:xfrm>
            <a:off x="815887" y="1887559"/>
            <a:ext cx="3380317" cy="1968434"/>
          </a:xfrm>
          <a:prstGeom prst="roundRect">
            <a:avLst>
              <a:gd name="adj" fmla="val 5000"/>
            </a:avLst>
          </a:prstGeom>
          <a:solidFill>
            <a:srgbClr val="FFFFFF"/>
          </a:solidFill>
          <a:ln w="6350">
            <a:solidFill>
              <a:srgbClr val="DDE1E8"/>
            </a:solidFill>
            <a:prstDash val="solid"/>
          </a:ln>
        </p:spPr>
        <p:txBody>
          <a:bodyPr/>
          <a:lstStyle/>
          <a:p>
            <a:endParaRPr lang="es-ES"/>
          </a:p>
        </p:txBody>
      </p:sp>
      <p:pic>
        <p:nvPicPr>
          <p:cNvPr id="5" name="Image 0" descr="Key"/>
          <p:cNvPicPr>
            <a:picLocks noChangeAspect="1"/>
          </p:cNvPicPr>
          <p:nvPr/>
        </p:nvPicPr>
        <p:blipFill>
          <a:blip r:embed="rId3"/>
          <a:srcRect/>
          <a:stretch/>
        </p:blipFill>
        <p:spPr>
          <a:xfrm>
            <a:off x="1048301" y="2119973"/>
            <a:ext cx="330178" cy="330178"/>
          </a:xfrm>
          <a:prstGeom prst="rect">
            <a:avLst/>
          </a:prstGeom>
        </p:spPr>
      </p:pic>
      <p:sp>
        <p:nvSpPr>
          <p:cNvPr id="6" name="Text 3"/>
          <p:cNvSpPr/>
          <p:nvPr/>
        </p:nvSpPr>
        <p:spPr>
          <a:xfrm>
            <a:off x="1048301" y="2526330"/>
            <a:ext cx="300295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Autenticación</a:t>
            </a:r>
            <a:endParaRPr lang="en-US" sz="1800" dirty="0"/>
          </a:p>
        </p:txBody>
      </p:sp>
      <p:sp>
        <p:nvSpPr>
          <p:cNvPr id="7" name="Text 4"/>
          <p:cNvSpPr/>
          <p:nvPr/>
        </p:nvSpPr>
        <p:spPr>
          <a:xfrm>
            <a:off x="1048301" y="2876792"/>
            <a:ext cx="300295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¿Quién eres? Usuario y contraseña. Si falla: error 1045.</a:t>
            </a:r>
            <a:endParaRPr lang="en-US" sz="1400" dirty="0"/>
          </a:p>
        </p:txBody>
      </p:sp>
      <p:sp>
        <p:nvSpPr>
          <p:cNvPr id="8" name="Shape 5"/>
          <p:cNvSpPr/>
          <p:nvPr/>
        </p:nvSpPr>
        <p:spPr>
          <a:xfrm>
            <a:off x="4405731" y="1887559"/>
            <a:ext cx="3380427" cy="1968434"/>
          </a:xfrm>
          <a:prstGeom prst="roundRect">
            <a:avLst>
              <a:gd name="adj" fmla="val 5000"/>
            </a:avLst>
          </a:prstGeom>
          <a:solidFill>
            <a:srgbClr val="FFFFFF"/>
          </a:solidFill>
          <a:ln w="6350">
            <a:solidFill>
              <a:srgbClr val="DDE1E8"/>
            </a:solidFill>
            <a:prstDash val="solid"/>
          </a:ln>
        </p:spPr>
        <p:txBody>
          <a:bodyPr/>
          <a:lstStyle/>
          <a:p>
            <a:endParaRPr lang="es-ES"/>
          </a:p>
        </p:txBody>
      </p:sp>
      <p:pic>
        <p:nvPicPr>
          <p:cNvPr id="9" name="Image 1" descr="Lock"/>
          <p:cNvPicPr>
            <a:picLocks noChangeAspect="1"/>
          </p:cNvPicPr>
          <p:nvPr/>
        </p:nvPicPr>
        <p:blipFill>
          <a:blip r:embed="rId4"/>
          <a:srcRect/>
          <a:stretch/>
        </p:blipFill>
        <p:spPr>
          <a:xfrm>
            <a:off x="4638146" y="2119973"/>
            <a:ext cx="330178" cy="330178"/>
          </a:xfrm>
          <a:prstGeom prst="rect">
            <a:avLst/>
          </a:prstGeom>
        </p:spPr>
      </p:pic>
      <p:sp>
        <p:nvSpPr>
          <p:cNvPr id="10" name="Text 6"/>
          <p:cNvSpPr/>
          <p:nvPr/>
        </p:nvSpPr>
        <p:spPr>
          <a:xfrm>
            <a:off x="4638146" y="2526330"/>
            <a:ext cx="3003066"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Autorización</a:t>
            </a:r>
            <a:endParaRPr lang="en-US" sz="1800" dirty="0"/>
          </a:p>
        </p:txBody>
      </p:sp>
      <p:sp>
        <p:nvSpPr>
          <p:cNvPr id="11" name="Text 7"/>
          <p:cNvSpPr/>
          <p:nvPr/>
        </p:nvSpPr>
        <p:spPr>
          <a:xfrm>
            <a:off x="4638146" y="2876792"/>
            <a:ext cx="300306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¿Qué puedes hacer? Privilegios con GRANT y REVOKE.</a:t>
            </a:r>
            <a:endParaRPr lang="en-US" sz="1400" dirty="0"/>
          </a:p>
        </p:txBody>
      </p:sp>
      <p:sp>
        <p:nvSpPr>
          <p:cNvPr id="12" name="Shape 8"/>
          <p:cNvSpPr/>
          <p:nvPr/>
        </p:nvSpPr>
        <p:spPr>
          <a:xfrm>
            <a:off x="7995686" y="1887559"/>
            <a:ext cx="3380427" cy="1968434"/>
          </a:xfrm>
          <a:prstGeom prst="roundRect">
            <a:avLst>
              <a:gd name="adj" fmla="val 5000"/>
            </a:avLst>
          </a:prstGeom>
          <a:solidFill>
            <a:srgbClr val="FFFFFF"/>
          </a:solidFill>
          <a:ln w="6350">
            <a:solidFill>
              <a:srgbClr val="DDE1E8"/>
            </a:solidFill>
            <a:prstDash val="solid"/>
          </a:ln>
        </p:spPr>
        <p:txBody>
          <a:bodyPr/>
          <a:lstStyle/>
          <a:p>
            <a:endParaRPr lang="es-ES"/>
          </a:p>
        </p:txBody>
      </p:sp>
      <p:pic>
        <p:nvPicPr>
          <p:cNvPr id="13" name="Image 2" descr="Users"/>
          <p:cNvPicPr>
            <a:picLocks noChangeAspect="1"/>
          </p:cNvPicPr>
          <p:nvPr/>
        </p:nvPicPr>
        <p:blipFill>
          <a:blip r:embed="rId5"/>
          <a:srcRect/>
          <a:stretch/>
        </p:blipFill>
        <p:spPr>
          <a:xfrm>
            <a:off x="8228101" y="2119973"/>
            <a:ext cx="330178" cy="330178"/>
          </a:xfrm>
          <a:prstGeom prst="rect">
            <a:avLst/>
          </a:prstGeom>
        </p:spPr>
      </p:pic>
      <p:sp>
        <p:nvSpPr>
          <p:cNvPr id="14" name="Text 9"/>
          <p:cNvSpPr/>
          <p:nvPr/>
        </p:nvSpPr>
        <p:spPr>
          <a:xfrm>
            <a:off x="8228101" y="2526330"/>
            <a:ext cx="3003066"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Sesión</a:t>
            </a:r>
            <a:endParaRPr lang="en-US" sz="1800" dirty="0"/>
          </a:p>
        </p:txBody>
      </p:sp>
      <p:sp>
        <p:nvSpPr>
          <p:cNvPr id="15" name="Text 10"/>
          <p:cNvSpPr/>
          <p:nvPr/>
        </p:nvSpPr>
        <p:spPr>
          <a:xfrm>
            <a:off x="8228101" y="2876792"/>
            <a:ext cx="3003066" cy="77218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Estado de una conexión abierta: BD activa, transacción, CONNECTION_ID().</a:t>
            </a:r>
            <a:endParaRPr lang="en-US" sz="1400" dirty="0"/>
          </a:p>
        </p:txBody>
      </p:sp>
      <p:sp>
        <p:nvSpPr>
          <p:cNvPr id="16" name="Text 11"/>
          <p:cNvSpPr/>
          <p:nvPr/>
        </p:nvSpPr>
        <p:spPr>
          <a:xfrm>
            <a:off x="812712" y="4113166"/>
            <a:ext cx="10566577" cy="1149504"/>
          </a:xfrm>
          <a:prstGeom prst="roundRect">
            <a:avLst>
              <a:gd name="adj" fmla="val 8839"/>
            </a:avLst>
          </a:prstGeom>
          <a:solidFill>
            <a:srgbClr val="14213D"/>
          </a:solidFill>
          <a:ln/>
        </p:spPr>
        <p:txBody>
          <a:bodyPr wrap="square" lIns="224242" tIns="173442" rIns="0" bIns="147998" rtlCol="0" anchor="t">
            <a:normAutofit/>
          </a:bodyPr>
          <a:lstStyle/>
          <a:p>
            <a:pPr marL="0" indent="0" algn="l">
              <a:lnSpc>
                <a:spcPts val="1950"/>
              </a:lnSpc>
              <a:buNone/>
            </a:pPr>
            <a:r>
              <a:rPr lang="en-US" sz="1300" dirty="0">
                <a:solidFill>
                  <a:srgbClr val="8FA3BF"/>
                </a:solidFill>
                <a:latin typeface="JetBrains Mono" pitchFamily="49" charset="0"/>
                <a:ea typeface="JetBrains Mono" pitchFamily="49" charset="-122"/>
                <a:cs typeface="JetBrains Mono" pitchFamily="49" charset="-120"/>
              </a:rPr>
              <a:t>-- Usuario de la aplicación: solo permisos sobre su base de datos</a:t>
            </a:r>
            <a:endParaRPr lang="en-US" sz="1300" dirty="0"/>
          </a:p>
          <a:p>
            <a:pPr marL="0" indent="0" algn="l">
              <a:lnSpc>
                <a:spcPts val="1950"/>
              </a:lnSpc>
              <a:buNone/>
            </a:pPr>
            <a:r>
              <a:rPr lang="en-US" sz="1300" dirty="0">
                <a:solidFill>
                  <a:srgbClr val="E6EAF0"/>
                </a:solidFill>
                <a:latin typeface="JetBrains Mono" pitchFamily="49" charset="0"/>
                <a:ea typeface="JetBrains Mono" pitchFamily="49" charset="-122"/>
                <a:cs typeface="JetBrains Mono" pitchFamily="49" charset="-120"/>
              </a:rPr>
              <a:t>CREATE USER 'alumno'@'localhost' IDENTIFIED BY 'alumno123';</a:t>
            </a:r>
            <a:endParaRPr lang="en-US" sz="1300" dirty="0"/>
          </a:p>
          <a:p>
            <a:pPr marL="0" indent="0" algn="l">
              <a:lnSpc>
                <a:spcPts val="1950"/>
              </a:lnSpc>
              <a:buNone/>
            </a:pPr>
            <a:r>
              <a:rPr lang="en-US" sz="1300" dirty="0">
                <a:solidFill>
                  <a:srgbClr val="E6EAF0"/>
                </a:solidFill>
                <a:latin typeface="JetBrains Mono" pitchFamily="49" charset="0"/>
                <a:ea typeface="JetBrains Mono" pitchFamily="49" charset="-122"/>
                <a:cs typeface="JetBrains Mono" pitchFamily="49" charset="-120"/>
              </a:rPr>
              <a:t>GRANT ALL PRIVILEGES ON tienda.* TO 'alumno'@'localhost';</a:t>
            </a:r>
            <a:endParaRPr lang="en-US" sz="1300" dirty="0"/>
          </a:p>
        </p:txBody>
      </p:sp>
      <p:sp>
        <p:nvSpPr>
          <p:cNvPr id="17" name="Text 12"/>
          <p:cNvSpPr/>
          <p:nvPr/>
        </p:nvSpPr>
        <p:spPr>
          <a:xfrm>
            <a:off x="812712" y="6238432"/>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2" y="2090427"/>
            <a:ext cx="10883574"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0A060"/>
                </a:solidFill>
                <a:latin typeface="JetBrains Mono" pitchFamily="49" charset="0"/>
                <a:ea typeface="JetBrains Mono" pitchFamily="49" charset="-122"/>
                <a:cs typeface="JetBrains Mono" pitchFamily="49" charset="-120"/>
              </a:rPr>
              <a:t>3</a:t>
            </a:r>
            <a:endParaRPr lang="en-US" sz="10000" dirty="0"/>
          </a:p>
        </p:txBody>
      </p:sp>
      <p:sp>
        <p:nvSpPr>
          <p:cNvPr id="3" name="Text 1"/>
          <p:cNvSpPr>
            <a:spLocks noGrp="1"/>
          </p:cNvSpPr>
          <p:nvPr>
            <p:ph type="title"/>
          </p:nvPr>
        </p:nvSpPr>
        <p:spPr>
          <a:xfrm>
            <a:off x="812712" y="3563606"/>
            <a:ext cx="10883574" cy="696009"/>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Establecimiento de conexiones</a:t>
            </a:r>
            <a:endParaRPr lang="en-US" sz="4800" dirty="0"/>
          </a:p>
        </p:txBody>
      </p:sp>
      <p:sp>
        <p:nvSpPr>
          <p:cNvPr id="4" name="Text 2"/>
          <p:cNvSpPr/>
          <p:nvPr/>
        </p:nvSpPr>
        <p:spPr>
          <a:xfrm>
            <a:off x="812712" y="4437391"/>
            <a:ext cx="10883574" cy="355578"/>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BDD"/>
                </a:solidFill>
                <a:latin typeface="IBM Plex Sans" pitchFamily="34" charset="0"/>
                <a:ea typeface="IBM Plex Sans" pitchFamily="34" charset="-122"/>
                <a:cs typeface="IBM Plex Sans" pitchFamily="34" charset="-120"/>
              </a:rPr>
              <a:t>Antes de ejecutar cualquier sentencia, hay que abrir una conexión.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3 · ESTABLECIMIENTO DE CONEXIONES</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Dónde está el servidor y quiénes somos</a:t>
            </a:r>
            <a:endParaRPr lang="en-US" sz="3200" dirty="0"/>
          </a:p>
        </p:txBody>
      </p:sp>
      <p:sp>
        <p:nvSpPr>
          <p:cNvPr id="4" name="Shape 2"/>
          <p:cNvSpPr/>
          <p:nvPr/>
        </p:nvSpPr>
        <p:spPr>
          <a:xfrm>
            <a:off x="812712" y="1938622"/>
            <a:ext cx="10566577" cy="0"/>
          </a:xfrm>
          <a:prstGeom prst="line">
            <a:avLst/>
          </a:prstGeom>
          <a:noFill/>
          <a:ln w="7056">
            <a:solidFill>
              <a:srgbClr val="141413">
                <a:alpha val="22000"/>
              </a:srgbClr>
            </a:solidFill>
            <a:prstDash val="solid"/>
          </a:ln>
        </p:spPr>
        <p:txBody>
          <a:bodyPr/>
          <a:lstStyle/>
          <a:p>
            <a:endParaRPr lang="es-ES"/>
          </a:p>
        </p:txBody>
      </p:sp>
      <p:sp>
        <p:nvSpPr>
          <p:cNvPr id="5" name="Shape 3"/>
          <p:cNvSpPr/>
          <p:nvPr/>
        </p:nvSpPr>
        <p:spPr>
          <a:xfrm>
            <a:off x="816240" y="1935094"/>
            <a:ext cx="0" cy="3058473"/>
          </a:xfrm>
          <a:prstGeom prst="line">
            <a:avLst/>
          </a:prstGeom>
          <a:noFill/>
          <a:ln w="7056">
            <a:solidFill>
              <a:srgbClr val="141413">
                <a:alpha val="22000"/>
              </a:srgbClr>
            </a:solidFill>
            <a:prstDash val="solid"/>
          </a:ln>
        </p:spPr>
        <p:txBody>
          <a:bodyPr/>
          <a:lstStyle/>
          <a:p>
            <a:endParaRPr lang="es-E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2167" y="2043750"/>
          <a:ext cx="10254721" cy="2848350"/>
        </p:xfrm>
        <a:graphic>
          <a:graphicData uri="http://schemas.openxmlformats.org/drawingml/2006/table">
            <a:tbl>
              <a:tblPr/>
              <a:tblGrid>
                <a:gridCol w="3076416">
                  <a:extLst>
                    <a:ext uri="{9D8B030D-6E8A-4147-A177-3AD203B41FA5}">
                      <a16:colId xmlns:a16="http://schemas.microsoft.com/office/drawing/2014/main" val="20000"/>
                    </a:ext>
                  </a:extLst>
                </a:gridCol>
                <a:gridCol w="4512077">
                  <a:extLst>
                    <a:ext uri="{9D8B030D-6E8A-4147-A177-3AD203B41FA5}">
                      <a16:colId xmlns:a16="http://schemas.microsoft.com/office/drawing/2014/main" val="20001"/>
                    </a:ext>
                  </a:extLst>
                </a:gridCol>
                <a:gridCol w="2666228">
                  <a:extLst>
                    <a:ext uri="{9D8B030D-6E8A-4147-A177-3AD203B41FA5}">
                      <a16:colId xmlns:a16="http://schemas.microsoft.com/office/drawing/2014/main" val="20002"/>
                    </a:ext>
                  </a:extLst>
                </a:gridCol>
              </a:tblGrid>
              <a:tr h="406907">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Parámetro</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Significado</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Ejemplo</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host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Dirección IP o nombre del servidor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localhost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port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Puerto TCP donde escucha MySQL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3306</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user / password</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Credenciales (autenticación)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alumno / ****</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database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Base de datos de trabajo</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tienda</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charset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Juego de caracteres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utf8mb4</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5"/>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ssl_ca, ssl_verify_cert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Cifrado TLS y verificación del servidor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ca.pem, True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812712" y="6238432"/>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3 · ESTABLECIMIENTO DE CONEXIONES</a:t>
            </a:r>
            <a:endParaRPr lang="en-US" sz="1400" dirty="0"/>
          </a:p>
        </p:txBody>
      </p:sp>
      <p:sp>
        <p:nvSpPr>
          <p:cNvPr id="3" name="Text 1"/>
          <p:cNvSpPr>
            <a:spLocks noGrp="1"/>
          </p:cNvSpPr>
          <p:nvPr>
            <p:ph type="title"/>
          </p:nvPr>
        </p:nvSpPr>
        <p:spPr>
          <a:xfrm>
            <a:off x="812712" y="1163179"/>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Abrir, usar y cerrar una conexión</a:t>
            </a:r>
            <a:endParaRPr lang="en-US" sz="3200" dirty="0"/>
          </a:p>
        </p:txBody>
      </p:sp>
      <p:sp>
        <p:nvSpPr>
          <p:cNvPr id="4" name="Text 2"/>
          <p:cNvSpPr/>
          <p:nvPr/>
        </p:nvSpPr>
        <p:spPr>
          <a:xfrm>
            <a:off x="812712" y="1884387"/>
            <a:ext cx="7112000" cy="3428008"/>
          </a:xfrm>
          <a:prstGeom prst="roundRect">
            <a:avLst>
              <a:gd name="adj" fmla="val 2964"/>
            </a:avLst>
          </a:prstGeom>
          <a:solidFill>
            <a:srgbClr val="14213D"/>
          </a:solidFill>
          <a:ln/>
        </p:spPr>
        <p:txBody>
          <a:bodyPr wrap="square" lIns="224242" tIns="198842" rIns="26122" bIns="173310" rtlCol="0" anchor="t">
            <a:normAutofit/>
          </a:bodyPr>
          <a:lstStyle/>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import mysql.connector</a:t>
            </a:r>
            <a:endParaRPr lang="en-US" sz="1200" dirty="0"/>
          </a:p>
          <a:p>
            <a:pPr marL="0" indent="0" algn="l">
              <a:lnSpc>
                <a:spcPts val="1800"/>
              </a:lnSpc>
              <a:buNone/>
            </a:pP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conexion = mysql.connector.connect(</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host="localhost", port=3306, user="alumno",</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password="alumno123", database="tienda")</a:t>
            </a:r>
            <a:endParaRPr lang="en-US" sz="1200" dirty="0"/>
          </a:p>
          <a:p>
            <a:pPr marL="0" indent="0" algn="l">
              <a:lnSpc>
                <a:spcPts val="1800"/>
              </a:lnSpc>
              <a:buNone/>
            </a:pP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cursor = conexion.cursor()</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cursor.execute("SELECT VERSION(), CURRENT_USER()")</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fila = cursor.fetchone()</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print("Usuario conectado:", fila[1])</a:t>
            </a:r>
            <a:endParaRPr lang="en-US" sz="1200" dirty="0"/>
          </a:p>
          <a:p>
            <a:pPr marL="0" indent="0" algn="l">
              <a:lnSpc>
                <a:spcPts val="1800"/>
              </a:lnSpc>
              <a:buNone/>
            </a:pP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cursor.close()</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conexion.close()</a:t>
            </a:r>
            <a:endParaRPr lang="en-US" sz="1200" dirty="0"/>
          </a:p>
        </p:txBody>
      </p:sp>
      <p:sp>
        <p:nvSpPr>
          <p:cNvPr id="5" name="Text 3"/>
          <p:cNvSpPr/>
          <p:nvPr/>
        </p:nvSpPr>
        <p:spPr>
          <a:xfrm>
            <a:off x="8221597" y="1884387"/>
            <a:ext cx="3246089" cy="1548959"/>
          </a:xfrm>
          <a:prstGeom prst="rect">
            <a:avLst/>
          </a:prstGeom>
          <a:noFill/>
          <a:ln/>
        </p:spPr>
        <p:txBody>
          <a:bodyPr wrap="square" lIns="0" tIns="0" rIns="0" bIns="0" rtlCol="0" anchor="t">
            <a:normAutofit/>
          </a:bodyPr>
          <a:lstStyle/>
          <a:p>
            <a:pPr marL="211115" indent="-211115" algn="l">
              <a:lnSpc>
                <a:spcPts val="2400"/>
              </a:lnSpc>
              <a:buSzPct val="100000"/>
              <a:buFontTx/>
              <a:buAutoNum type="arabicPeriod"/>
            </a:pPr>
            <a:r>
              <a:rPr lang="en-US" sz="1500" dirty="0">
                <a:solidFill>
                  <a:srgbClr val="4A5568"/>
                </a:solidFill>
                <a:latin typeface="IBM Plex Sans" pitchFamily="34" charset="0"/>
                <a:ea typeface="IBM Plex Sans" pitchFamily="34" charset="-122"/>
                <a:cs typeface="IBM Plex Sans" pitchFamily="34" charset="-120"/>
              </a:rPr>
              <a:t>Conectar</a:t>
            </a:r>
            <a:endParaRPr lang="en-US" sz="1500" dirty="0"/>
          </a:p>
          <a:p>
            <a:pPr marL="211115" indent="-211115" algn="l">
              <a:lnSpc>
                <a:spcPts val="2400"/>
              </a:lnSpc>
              <a:buSzPct val="100000"/>
              <a:buFontTx/>
              <a:buAutoNum type="arabicPeriod"/>
            </a:pPr>
            <a:r>
              <a:rPr lang="en-US" sz="1500" dirty="0">
                <a:solidFill>
                  <a:srgbClr val="4A5568"/>
                </a:solidFill>
                <a:latin typeface="IBM Plex Sans" pitchFamily="34" charset="0"/>
                <a:ea typeface="IBM Plex Sans" pitchFamily="34" charset="-122"/>
                <a:cs typeface="IBM Plex Sans" pitchFamily="34" charset="-120"/>
              </a:rPr>
              <a:t>Crear el cursor</a:t>
            </a:r>
            <a:endParaRPr lang="en-US" sz="1500" dirty="0"/>
          </a:p>
          <a:p>
            <a:pPr marL="211115" indent="-211115" algn="l">
              <a:lnSpc>
                <a:spcPts val="2400"/>
              </a:lnSpc>
              <a:buSzPct val="100000"/>
              <a:buFontTx/>
              <a:buAutoNum type="arabicPeriod"/>
            </a:pPr>
            <a:r>
              <a:rPr lang="en-US" sz="1500" dirty="0">
                <a:solidFill>
                  <a:srgbClr val="4A5568"/>
                </a:solidFill>
                <a:latin typeface="IBM Plex Sans" pitchFamily="34" charset="0"/>
                <a:ea typeface="IBM Plex Sans" pitchFamily="34" charset="-122"/>
                <a:cs typeface="IBM Plex Sans" pitchFamily="34" charset="-120"/>
              </a:rPr>
              <a:t>Ejecutar la sentencia</a:t>
            </a:r>
            <a:endParaRPr lang="en-US" sz="1500" dirty="0"/>
          </a:p>
          <a:p>
            <a:pPr marL="211115" indent="-211115" algn="l">
              <a:lnSpc>
                <a:spcPts val="2400"/>
              </a:lnSpc>
              <a:buSzPct val="100000"/>
              <a:buFontTx/>
              <a:buAutoNum type="arabicPeriod"/>
            </a:pPr>
            <a:r>
              <a:rPr lang="en-US" sz="1500" dirty="0">
                <a:solidFill>
                  <a:srgbClr val="4A5568"/>
                </a:solidFill>
                <a:latin typeface="IBM Plex Sans" pitchFamily="34" charset="0"/>
                <a:ea typeface="IBM Plex Sans" pitchFamily="34" charset="-122"/>
                <a:cs typeface="IBM Plex Sans" pitchFamily="34" charset="-120"/>
              </a:rPr>
              <a:t>Leer el resultado</a:t>
            </a:r>
            <a:endParaRPr lang="en-US" sz="1500" dirty="0"/>
          </a:p>
          <a:p>
            <a:pPr marL="211115" indent="-211115" algn="l">
              <a:lnSpc>
                <a:spcPts val="2400"/>
              </a:lnSpc>
              <a:buSzPct val="100000"/>
              <a:buFontTx/>
              <a:buAutoNum type="arabicPeriod"/>
            </a:pPr>
            <a:r>
              <a:rPr lang="en-US" sz="1500" dirty="0">
                <a:solidFill>
                  <a:srgbClr val="4A5568"/>
                </a:solidFill>
                <a:latin typeface="IBM Plex Sans" pitchFamily="34" charset="0"/>
                <a:ea typeface="IBM Plex Sans" pitchFamily="34" charset="-122"/>
                <a:cs typeface="IBM Plex Sans" pitchFamily="34" charset="-120"/>
              </a:rPr>
              <a:t>Cerrar siempre</a:t>
            </a:r>
            <a:endParaRPr lang="en-US" sz="1500" dirty="0"/>
          </a:p>
        </p:txBody>
      </p:sp>
      <p:sp>
        <p:nvSpPr>
          <p:cNvPr id="6" name="Text 4"/>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9 · 1_conexion.py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3 · ESTABLECIMIENTO DE CONEXIONES</a:t>
            </a:r>
            <a:endParaRPr lang="en-US" sz="1400" dirty="0"/>
          </a:p>
        </p:txBody>
      </p:sp>
      <p:sp>
        <p:nvSpPr>
          <p:cNvPr id="3" name="Text 1"/>
          <p:cNvSpPr>
            <a:spLocks noGrp="1"/>
          </p:cNvSpPr>
          <p:nvPr>
            <p:ph type="title"/>
          </p:nvPr>
        </p:nvSpPr>
        <p:spPr>
          <a:xfrm>
            <a:off x="812712" y="1163179"/>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Una conexión segura</a:t>
            </a:r>
            <a:endParaRPr lang="en-US" sz="3200" dirty="0"/>
          </a:p>
        </p:txBody>
      </p:sp>
      <p:sp>
        <p:nvSpPr>
          <p:cNvPr id="4" name="Shape 2"/>
          <p:cNvSpPr/>
          <p:nvPr/>
        </p:nvSpPr>
        <p:spPr>
          <a:xfrm>
            <a:off x="815887" y="1887562"/>
            <a:ext cx="3380317" cy="1719505"/>
          </a:xfrm>
          <a:prstGeom prst="roundRect">
            <a:avLst>
              <a:gd name="adj" fmla="val 5724"/>
            </a:avLst>
          </a:prstGeom>
          <a:solidFill>
            <a:srgbClr val="FFFFFF"/>
          </a:solidFill>
          <a:ln w="6350">
            <a:solidFill>
              <a:srgbClr val="DDE1E8"/>
            </a:solidFill>
            <a:prstDash val="solid"/>
          </a:ln>
        </p:spPr>
        <p:txBody>
          <a:bodyPr/>
          <a:lstStyle/>
          <a:p>
            <a:endParaRPr lang="es-ES"/>
          </a:p>
        </p:txBody>
      </p:sp>
      <p:pic>
        <p:nvPicPr>
          <p:cNvPr id="5" name="Image 0" descr="Lock"/>
          <p:cNvPicPr>
            <a:picLocks noChangeAspect="1"/>
          </p:cNvPicPr>
          <p:nvPr/>
        </p:nvPicPr>
        <p:blipFill>
          <a:blip r:embed="rId3"/>
          <a:srcRect/>
          <a:stretch/>
        </p:blipFill>
        <p:spPr>
          <a:xfrm>
            <a:off x="1048301" y="2119976"/>
            <a:ext cx="330178" cy="330178"/>
          </a:xfrm>
          <a:prstGeom prst="rect">
            <a:avLst/>
          </a:prstGeom>
        </p:spPr>
      </p:pic>
      <p:sp>
        <p:nvSpPr>
          <p:cNvPr id="6" name="Text 3"/>
          <p:cNvSpPr/>
          <p:nvPr/>
        </p:nvSpPr>
        <p:spPr>
          <a:xfrm>
            <a:off x="1048301" y="2526333"/>
            <a:ext cx="300295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Cifrado TLS</a:t>
            </a:r>
            <a:endParaRPr lang="en-US" sz="1800" dirty="0"/>
          </a:p>
        </p:txBody>
      </p:sp>
      <p:sp>
        <p:nvSpPr>
          <p:cNvPr id="7" name="Text 4"/>
          <p:cNvSpPr/>
          <p:nvPr/>
        </p:nvSpPr>
        <p:spPr>
          <a:xfrm>
            <a:off x="1048301" y="2876798"/>
            <a:ext cx="300295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Protege contraseña y datos en la red. Se comprueba con Ssl_cipher.</a:t>
            </a:r>
            <a:endParaRPr lang="en-US" sz="1400" dirty="0"/>
          </a:p>
        </p:txBody>
      </p:sp>
      <p:sp>
        <p:nvSpPr>
          <p:cNvPr id="8" name="Shape 5"/>
          <p:cNvSpPr/>
          <p:nvPr/>
        </p:nvSpPr>
        <p:spPr>
          <a:xfrm>
            <a:off x="4405731" y="1887562"/>
            <a:ext cx="3380427" cy="1719505"/>
          </a:xfrm>
          <a:prstGeom prst="roundRect">
            <a:avLst>
              <a:gd name="adj" fmla="val 5724"/>
            </a:avLst>
          </a:prstGeom>
          <a:solidFill>
            <a:srgbClr val="FFFFFF"/>
          </a:solidFill>
          <a:ln w="6350">
            <a:solidFill>
              <a:srgbClr val="DDE1E8"/>
            </a:solidFill>
            <a:prstDash val="solid"/>
          </a:ln>
        </p:spPr>
        <p:txBody>
          <a:bodyPr/>
          <a:lstStyle/>
          <a:p>
            <a:endParaRPr lang="es-ES"/>
          </a:p>
        </p:txBody>
      </p:sp>
      <p:pic>
        <p:nvPicPr>
          <p:cNvPr id="9" name="Image 1" descr="Key"/>
          <p:cNvPicPr>
            <a:picLocks noChangeAspect="1"/>
          </p:cNvPicPr>
          <p:nvPr/>
        </p:nvPicPr>
        <p:blipFill>
          <a:blip r:embed="rId4"/>
          <a:srcRect/>
          <a:stretch/>
        </p:blipFill>
        <p:spPr>
          <a:xfrm>
            <a:off x="4638146" y="2119976"/>
            <a:ext cx="330178" cy="330178"/>
          </a:xfrm>
          <a:prstGeom prst="rect">
            <a:avLst/>
          </a:prstGeom>
        </p:spPr>
      </p:pic>
      <p:sp>
        <p:nvSpPr>
          <p:cNvPr id="10" name="Text 6"/>
          <p:cNvSpPr/>
          <p:nvPr/>
        </p:nvSpPr>
        <p:spPr>
          <a:xfrm>
            <a:off x="4638146" y="2526333"/>
            <a:ext cx="3003066"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Credenciales fuera</a:t>
            </a:r>
            <a:endParaRPr lang="en-US" sz="1800" dirty="0"/>
          </a:p>
        </p:txBody>
      </p:sp>
      <p:sp>
        <p:nvSpPr>
          <p:cNvPr id="11" name="Text 7"/>
          <p:cNvSpPr/>
          <p:nvPr/>
        </p:nvSpPr>
        <p:spPr>
          <a:xfrm>
            <a:off x="4638146" y="2876798"/>
            <a:ext cx="300306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Se leen de variables de entorno, nunca escritas en el código.</a:t>
            </a:r>
            <a:endParaRPr lang="en-US" sz="1400" dirty="0"/>
          </a:p>
        </p:txBody>
      </p:sp>
      <p:sp>
        <p:nvSpPr>
          <p:cNvPr id="12" name="Shape 8"/>
          <p:cNvSpPr/>
          <p:nvPr/>
        </p:nvSpPr>
        <p:spPr>
          <a:xfrm>
            <a:off x="7995686" y="1887562"/>
            <a:ext cx="3380427" cy="1719505"/>
          </a:xfrm>
          <a:prstGeom prst="roundRect">
            <a:avLst>
              <a:gd name="adj" fmla="val 5724"/>
            </a:avLst>
          </a:prstGeom>
          <a:solidFill>
            <a:srgbClr val="FFFFFF"/>
          </a:solidFill>
          <a:ln w="6350">
            <a:solidFill>
              <a:srgbClr val="DDE1E8"/>
            </a:solidFill>
            <a:prstDash val="solid"/>
          </a:ln>
        </p:spPr>
        <p:txBody>
          <a:bodyPr/>
          <a:lstStyle/>
          <a:p>
            <a:endParaRPr lang="es-ES"/>
          </a:p>
        </p:txBody>
      </p:sp>
      <p:pic>
        <p:nvPicPr>
          <p:cNvPr id="13" name="Image 2" descr="Users"/>
          <p:cNvPicPr>
            <a:picLocks noChangeAspect="1"/>
          </p:cNvPicPr>
          <p:nvPr/>
        </p:nvPicPr>
        <p:blipFill>
          <a:blip r:embed="rId5"/>
          <a:srcRect/>
          <a:stretch/>
        </p:blipFill>
        <p:spPr>
          <a:xfrm>
            <a:off x="8228101" y="2119976"/>
            <a:ext cx="330178" cy="330178"/>
          </a:xfrm>
          <a:prstGeom prst="rect">
            <a:avLst/>
          </a:prstGeom>
        </p:spPr>
      </p:pic>
      <p:sp>
        <p:nvSpPr>
          <p:cNvPr id="14" name="Text 9"/>
          <p:cNvSpPr/>
          <p:nvPr/>
        </p:nvSpPr>
        <p:spPr>
          <a:xfrm>
            <a:off x="8228101" y="2526333"/>
            <a:ext cx="3003066"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Mínimo privilegio</a:t>
            </a:r>
            <a:endParaRPr lang="en-US" sz="1800" dirty="0"/>
          </a:p>
        </p:txBody>
      </p:sp>
      <p:sp>
        <p:nvSpPr>
          <p:cNvPr id="15" name="Text 10"/>
          <p:cNvSpPr/>
          <p:nvPr/>
        </p:nvSpPr>
        <p:spPr>
          <a:xfrm>
            <a:off x="8228101" y="2876798"/>
            <a:ext cx="300306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usuario propio para la aplicación. Nunca root.</a:t>
            </a:r>
            <a:endParaRPr lang="en-US" sz="1400" dirty="0"/>
          </a:p>
        </p:txBody>
      </p:sp>
      <p:sp>
        <p:nvSpPr>
          <p:cNvPr id="16" name="Text 11"/>
          <p:cNvSpPr/>
          <p:nvPr/>
        </p:nvSpPr>
        <p:spPr>
          <a:xfrm>
            <a:off x="812712" y="3864242"/>
            <a:ext cx="10566577" cy="1149504"/>
          </a:xfrm>
          <a:prstGeom prst="roundRect">
            <a:avLst>
              <a:gd name="adj" fmla="val 8839"/>
            </a:avLst>
          </a:prstGeom>
          <a:solidFill>
            <a:srgbClr val="14213D"/>
          </a:solidFill>
          <a:ln/>
        </p:spPr>
        <p:txBody>
          <a:bodyPr wrap="square" lIns="224242" tIns="173442" rIns="0" bIns="147998" rtlCol="0" anchor="t">
            <a:normAutofit/>
          </a:bodyPr>
          <a:lstStyle/>
          <a:p>
            <a:pPr marL="0" indent="0" algn="l">
              <a:lnSpc>
                <a:spcPts val="1950"/>
              </a:lnSpc>
              <a:buNone/>
            </a:pPr>
            <a:r>
              <a:rPr lang="en-US" sz="1300" dirty="0">
                <a:solidFill>
                  <a:srgbClr val="E6EAF0"/>
                </a:solidFill>
                <a:latin typeface="JetBrains Mono" pitchFamily="49" charset="0"/>
                <a:ea typeface="JetBrains Mono" pitchFamily="49" charset="-122"/>
                <a:cs typeface="JetBrains Mono" pitchFamily="49" charset="-120"/>
              </a:rPr>
              <a:t>conexion = mysql.connector.connect(host="servidor", user="alumno",</a:t>
            </a:r>
            <a:endParaRPr lang="en-US" sz="1300" dirty="0"/>
          </a:p>
          <a:p>
            <a:pPr marL="0" indent="0" algn="l">
              <a:lnSpc>
                <a:spcPts val="1950"/>
              </a:lnSpc>
              <a:buNone/>
            </a:pPr>
            <a:r>
              <a:rPr lang="en-US" sz="1300" dirty="0">
                <a:solidFill>
                  <a:srgbClr val="E6EAF0"/>
                </a:solidFill>
                <a:latin typeface="JetBrains Mono" pitchFamily="49" charset="0"/>
                <a:ea typeface="JetBrains Mono" pitchFamily="49" charset="-122"/>
                <a:cs typeface="JetBrains Mono" pitchFamily="49" charset="-120"/>
              </a:rPr>
              <a:t>    password=os.getenv("DB_PASSWORD"),  </a:t>
            </a:r>
            <a:r>
              <a:rPr lang="en-US" sz="1300" dirty="0">
                <a:solidFill>
                  <a:srgbClr val="8FA3BF"/>
                </a:solidFill>
                <a:latin typeface="JetBrains Mono" pitchFamily="49" charset="0"/>
                <a:ea typeface="JetBrains Mono" pitchFamily="49" charset="-122"/>
                <a:cs typeface="JetBrains Mono" pitchFamily="49" charset="-120"/>
              </a:rPr>
              <a:t># contraseña fuera del código</a:t>
            </a:r>
            <a:endParaRPr lang="en-US" sz="1300" dirty="0"/>
          </a:p>
          <a:p>
            <a:pPr marL="0" indent="0" algn="l">
              <a:lnSpc>
                <a:spcPts val="1950"/>
              </a:lnSpc>
              <a:buNone/>
            </a:pPr>
            <a:r>
              <a:rPr lang="en-US" sz="1300" dirty="0">
                <a:solidFill>
                  <a:srgbClr val="E6EAF0"/>
                </a:solidFill>
                <a:latin typeface="JetBrains Mono" pitchFamily="49" charset="0"/>
                <a:ea typeface="JetBrains Mono" pitchFamily="49" charset="-122"/>
                <a:cs typeface="JetBrains Mono" pitchFamily="49" charset="-120"/>
              </a:rPr>
              <a:t>    ssl_ca="ca.pem", ssl_verify_cert=True)  </a:t>
            </a:r>
            <a:r>
              <a:rPr lang="en-US" sz="1300" dirty="0">
                <a:solidFill>
                  <a:srgbClr val="8FA3BF"/>
                </a:solidFill>
                <a:latin typeface="JetBrains Mono" pitchFamily="49" charset="0"/>
                <a:ea typeface="JetBrains Mono" pitchFamily="49" charset="-122"/>
                <a:cs typeface="JetBrains Mono" pitchFamily="49" charset="-120"/>
              </a:rPr>
              <a:t># conexión cifrada</a:t>
            </a:r>
            <a:endParaRPr lang="en-US" sz="1300" dirty="0"/>
          </a:p>
        </p:txBody>
      </p:sp>
      <p:sp>
        <p:nvSpPr>
          <p:cNvPr id="17" name="Text 12"/>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3 · ESTABLECIMIENTO DE CONEXIONES</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Muchas peticiones: pool de conexiones</a:t>
            </a:r>
            <a:endParaRPr lang="en-US" sz="3200" dirty="0"/>
          </a:p>
        </p:txBody>
      </p:sp>
      <p:sp>
        <p:nvSpPr>
          <p:cNvPr id="4" name="Shape 2"/>
          <p:cNvSpPr/>
          <p:nvPr/>
        </p:nvSpPr>
        <p:spPr>
          <a:xfrm>
            <a:off x="815887" y="1887556"/>
            <a:ext cx="2906382" cy="1262437"/>
          </a:xfrm>
          <a:prstGeom prst="roundRect">
            <a:avLst>
              <a:gd name="adj" fmla="val 7796"/>
            </a:avLst>
          </a:prstGeom>
          <a:solidFill>
            <a:srgbClr val="FFFFFF"/>
          </a:solidFill>
          <a:ln w="6350">
            <a:solidFill>
              <a:srgbClr val="DDE1E8"/>
            </a:solidFill>
            <a:prstDash val="solid"/>
          </a:ln>
        </p:spPr>
        <p:txBody>
          <a:bodyPr/>
          <a:lstStyle/>
          <a:p>
            <a:endParaRPr lang="es-ES"/>
          </a:p>
        </p:txBody>
      </p:sp>
      <p:sp>
        <p:nvSpPr>
          <p:cNvPr id="5" name="Text 3"/>
          <p:cNvSpPr/>
          <p:nvPr/>
        </p:nvSpPr>
        <p:spPr>
          <a:xfrm>
            <a:off x="1022945" y="2094613"/>
            <a:ext cx="256703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4 peticiones</a:t>
            </a:r>
            <a:endParaRPr lang="en-US" sz="1800" dirty="0"/>
          </a:p>
        </p:txBody>
      </p:sp>
      <p:sp>
        <p:nvSpPr>
          <p:cNvPr id="6" name="Text 4"/>
          <p:cNvSpPr/>
          <p:nvPr/>
        </p:nvSpPr>
        <p:spPr>
          <a:xfrm>
            <a:off x="1022945" y="2445079"/>
            <a:ext cx="256703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Cada una pide una conexión prestada</a:t>
            </a:r>
            <a:endParaRPr lang="en-US" sz="1400" dirty="0"/>
          </a:p>
        </p:txBody>
      </p:sp>
      <p:pic>
        <p:nvPicPr>
          <p:cNvPr id="7" name="Image 0" descr="arrow-right"/>
          <p:cNvPicPr>
            <a:picLocks noChangeAspect="1"/>
          </p:cNvPicPr>
          <p:nvPr/>
        </p:nvPicPr>
        <p:blipFill>
          <a:blip r:embed="rId3"/>
          <a:srcRect/>
          <a:stretch/>
        </p:blipFill>
        <p:spPr>
          <a:xfrm>
            <a:off x="3903156" y="2379042"/>
            <a:ext cx="558712" cy="279356"/>
          </a:xfrm>
          <a:prstGeom prst="rect">
            <a:avLst/>
          </a:prstGeom>
        </p:spPr>
      </p:pic>
      <p:sp>
        <p:nvSpPr>
          <p:cNvPr id="8" name="Shape 5"/>
          <p:cNvSpPr/>
          <p:nvPr/>
        </p:nvSpPr>
        <p:spPr>
          <a:xfrm>
            <a:off x="4645929" y="1890731"/>
            <a:ext cx="2900142" cy="1256087"/>
          </a:xfrm>
          <a:prstGeom prst="roundRect">
            <a:avLst>
              <a:gd name="adj" fmla="val 7583"/>
            </a:avLst>
          </a:prstGeom>
          <a:solidFill>
            <a:srgbClr val="FDEBDD"/>
          </a:solidFill>
          <a:ln w="12700">
            <a:solidFill>
              <a:srgbClr val="B4561A"/>
            </a:solidFill>
            <a:prstDash val="solid"/>
          </a:ln>
        </p:spPr>
        <p:txBody>
          <a:bodyPr/>
          <a:lstStyle/>
          <a:p>
            <a:endParaRPr lang="es-ES"/>
          </a:p>
        </p:txBody>
      </p:sp>
      <p:sp>
        <p:nvSpPr>
          <p:cNvPr id="9" name="Text 6"/>
          <p:cNvSpPr/>
          <p:nvPr/>
        </p:nvSpPr>
        <p:spPr>
          <a:xfrm>
            <a:off x="4849813" y="2094613"/>
            <a:ext cx="2567146"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Pool de 2</a:t>
            </a:r>
            <a:endParaRPr lang="en-US" sz="1800" dirty="0"/>
          </a:p>
        </p:txBody>
      </p:sp>
      <p:sp>
        <p:nvSpPr>
          <p:cNvPr id="10" name="Text 7"/>
          <p:cNvSpPr/>
          <p:nvPr/>
        </p:nvSpPr>
        <p:spPr>
          <a:xfrm>
            <a:off x="4849813" y="2445079"/>
            <a:ext cx="256714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Conexiones ya abiertas que se reutilizan</a:t>
            </a:r>
            <a:endParaRPr lang="en-US" sz="1400" dirty="0"/>
          </a:p>
        </p:txBody>
      </p:sp>
      <p:pic>
        <p:nvPicPr>
          <p:cNvPr id="11" name="Image 1" descr="arrow-right"/>
          <p:cNvPicPr>
            <a:picLocks noChangeAspect="1"/>
          </p:cNvPicPr>
          <p:nvPr/>
        </p:nvPicPr>
        <p:blipFill>
          <a:blip r:embed="rId3"/>
          <a:srcRect/>
          <a:stretch/>
        </p:blipFill>
        <p:spPr>
          <a:xfrm>
            <a:off x="7730133" y="2379042"/>
            <a:ext cx="558712" cy="279356"/>
          </a:xfrm>
          <a:prstGeom prst="rect">
            <a:avLst/>
          </a:prstGeom>
        </p:spPr>
      </p:pic>
      <p:sp>
        <p:nvSpPr>
          <p:cNvPr id="12" name="Shape 8"/>
          <p:cNvSpPr/>
          <p:nvPr/>
        </p:nvSpPr>
        <p:spPr>
          <a:xfrm>
            <a:off x="8469732" y="2012020"/>
            <a:ext cx="2906382" cy="1013509"/>
          </a:xfrm>
          <a:prstGeom prst="roundRect">
            <a:avLst>
              <a:gd name="adj" fmla="val 9711"/>
            </a:avLst>
          </a:prstGeom>
          <a:solidFill>
            <a:srgbClr val="FFFFFF"/>
          </a:solidFill>
          <a:ln w="6350">
            <a:solidFill>
              <a:srgbClr val="DDE1E8"/>
            </a:solidFill>
            <a:prstDash val="solid"/>
          </a:ln>
        </p:spPr>
        <p:txBody>
          <a:bodyPr/>
          <a:lstStyle/>
          <a:p>
            <a:endParaRPr lang="es-ES"/>
          </a:p>
        </p:txBody>
      </p:sp>
      <p:sp>
        <p:nvSpPr>
          <p:cNvPr id="13" name="Text 9"/>
          <p:cNvSpPr/>
          <p:nvPr/>
        </p:nvSpPr>
        <p:spPr>
          <a:xfrm>
            <a:off x="8676791" y="2219077"/>
            <a:ext cx="256703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Servidor MySQL</a:t>
            </a:r>
            <a:endParaRPr lang="en-US" sz="1800" dirty="0"/>
          </a:p>
        </p:txBody>
      </p:sp>
      <p:sp>
        <p:nvSpPr>
          <p:cNvPr id="14" name="Text 10"/>
          <p:cNvSpPr/>
          <p:nvPr/>
        </p:nvSpPr>
        <p:spPr>
          <a:xfrm>
            <a:off x="8676791" y="2569542"/>
            <a:ext cx="2567033"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Solo ve 2 sesiones distintas</a:t>
            </a:r>
            <a:endParaRPr lang="en-US" sz="1400" dirty="0"/>
          </a:p>
        </p:txBody>
      </p:sp>
      <p:sp>
        <p:nvSpPr>
          <p:cNvPr id="15" name="Text 11"/>
          <p:cNvSpPr/>
          <p:nvPr/>
        </p:nvSpPr>
        <p:spPr>
          <a:xfrm>
            <a:off x="812712" y="3407172"/>
            <a:ext cx="10566577" cy="2006093"/>
          </a:xfrm>
          <a:prstGeom prst="roundRect">
            <a:avLst>
              <a:gd name="adj" fmla="val 5065"/>
            </a:avLst>
          </a:prstGeom>
          <a:solidFill>
            <a:srgbClr val="14213D"/>
          </a:solidFill>
          <a:ln/>
        </p:spPr>
        <p:txBody>
          <a:bodyPr wrap="square" lIns="224242" tIns="173442" rIns="0" bIns="147998" rtlCol="0" anchor="t">
            <a:normAutofit/>
          </a:bodyPr>
          <a:lstStyle/>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pool = pooling.MySQLConnectionPool(pool_name="mi_pool", pool_size=2,</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host="localhost", user="alumno", password="alumno123", database="tienda")</a:t>
            </a:r>
            <a:endParaRPr lang="en-US" sz="1200" dirty="0"/>
          </a:p>
          <a:p>
            <a:pPr marL="0" indent="0" algn="l">
              <a:lnSpc>
                <a:spcPts val="1800"/>
              </a:lnSpc>
              <a:buNone/>
            </a:pP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for i in range(4):</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conexion = pool.get_connection()   </a:t>
            </a:r>
            <a:r>
              <a:rPr lang="en-US" sz="1200" dirty="0">
                <a:solidFill>
                  <a:srgbClr val="8FA3BF"/>
                </a:solidFill>
                <a:latin typeface="JetBrains Mono" pitchFamily="49" charset="0"/>
                <a:ea typeface="JetBrains Mono" pitchFamily="49" charset="-122"/>
                <a:cs typeface="JetBrains Mono" pitchFamily="49" charset="-120"/>
              </a:rPr>
              <a:t># se pide prestada</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conexion.close()                   </a:t>
            </a:r>
            <a:r>
              <a:rPr lang="en-US" sz="1200" dirty="0">
                <a:solidFill>
                  <a:srgbClr val="8FA3BF"/>
                </a:solidFill>
                <a:latin typeface="JetBrains Mono" pitchFamily="49" charset="0"/>
                <a:ea typeface="JetBrains Mono" pitchFamily="49" charset="-122"/>
                <a:cs typeface="JetBrains Mono" pitchFamily="49" charset="-120"/>
              </a:rPr>
              <a:t># se devuelve al pool</a:t>
            </a:r>
            <a:endParaRPr lang="en-US" sz="1200" dirty="0"/>
          </a:p>
        </p:txBody>
      </p:sp>
      <p:sp>
        <p:nvSpPr>
          <p:cNvPr id="16" name="Text 12"/>
          <p:cNvSpPr/>
          <p:nvPr/>
        </p:nvSpPr>
        <p:spPr>
          <a:xfrm>
            <a:off x="812712" y="6238429"/>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11 · 2_pool.py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3 · ESTABLECIMIENTO DE CONEXIONES</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Cuando la conexión falla</a:t>
            </a:r>
            <a:endParaRPr lang="en-US" sz="3200" dirty="0"/>
          </a:p>
        </p:txBody>
      </p:sp>
      <p:sp>
        <p:nvSpPr>
          <p:cNvPr id="4" name="Shape 2"/>
          <p:cNvSpPr/>
          <p:nvPr/>
        </p:nvSpPr>
        <p:spPr>
          <a:xfrm>
            <a:off x="812712" y="1938622"/>
            <a:ext cx="10566577" cy="0"/>
          </a:xfrm>
          <a:prstGeom prst="line">
            <a:avLst/>
          </a:prstGeom>
          <a:noFill/>
          <a:ln w="7056">
            <a:solidFill>
              <a:srgbClr val="141413">
                <a:alpha val="22000"/>
              </a:srgbClr>
            </a:solidFill>
            <a:prstDash val="solid"/>
          </a:ln>
        </p:spPr>
        <p:txBody>
          <a:bodyPr/>
          <a:lstStyle/>
          <a:p>
            <a:endParaRPr lang="es-ES"/>
          </a:p>
        </p:txBody>
      </p:sp>
      <p:sp>
        <p:nvSpPr>
          <p:cNvPr id="5" name="Shape 3"/>
          <p:cNvSpPr/>
          <p:nvPr/>
        </p:nvSpPr>
        <p:spPr>
          <a:xfrm>
            <a:off x="816240" y="1935094"/>
            <a:ext cx="0" cy="2270015"/>
          </a:xfrm>
          <a:prstGeom prst="line">
            <a:avLst/>
          </a:prstGeom>
          <a:noFill/>
          <a:ln w="7056">
            <a:solidFill>
              <a:srgbClr val="141413">
                <a:alpha val="22000"/>
              </a:srgbClr>
            </a:solidFill>
            <a:prstDash val="solid"/>
          </a:ln>
        </p:spPr>
        <p:txBody>
          <a:bodyPr/>
          <a:lstStyle/>
          <a:p>
            <a:endParaRPr lang="es-E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2167" y="2056450"/>
          <a:ext cx="10254721" cy="2034536"/>
        </p:xfrm>
        <a:graphic>
          <a:graphicData uri="http://schemas.openxmlformats.org/drawingml/2006/table">
            <a:tbl>
              <a:tblPr/>
              <a:tblGrid>
                <a:gridCol w="1230567">
                  <a:extLst>
                    <a:ext uri="{9D8B030D-6E8A-4147-A177-3AD203B41FA5}">
                      <a16:colId xmlns:a16="http://schemas.microsoft.com/office/drawing/2014/main" val="20000"/>
                    </a:ext>
                  </a:extLst>
                </a:gridCol>
                <a:gridCol w="4717172">
                  <a:extLst>
                    <a:ext uri="{9D8B030D-6E8A-4147-A177-3AD203B41FA5}">
                      <a16:colId xmlns:a16="http://schemas.microsoft.com/office/drawing/2014/main" val="20001"/>
                    </a:ext>
                  </a:extLst>
                </a:gridCol>
                <a:gridCol w="4306983">
                  <a:extLst>
                    <a:ext uri="{9D8B030D-6E8A-4147-A177-3AD203B41FA5}">
                      <a16:colId xmlns:a16="http://schemas.microsoft.com/office/drawing/2014/main" val="20002"/>
                    </a:ext>
                  </a:extLst>
                </a:gridCol>
              </a:tblGrid>
              <a:tr h="406907">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Código</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Causa</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Constante en errorcode</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1045</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Usuario o contraseña incorrectos (autenticación)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ER_ACCESS_DENIED_ERROR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1044</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Sin permiso sobre la base de datos (autorización)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ER_DBACCESS_DENIED_ERROR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1049</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La base de datos no existe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ER_BAD_DB_ERROR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2003</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No se llega al servidor (host o puerto)</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CR_CONN_HOST_ERROR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812712" y="4509821"/>
            <a:ext cx="10883574"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Todos se capturan con </a:t>
            </a:r>
            <a:r>
              <a:rPr lang="en-US" sz="1500" b="1" dirty="0">
                <a:solidFill>
                  <a:srgbClr val="14213D"/>
                </a:solidFill>
                <a:latin typeface="IBM Plex Sans" pitchFamily="34" charset="0"/>
                <a:ea typeface="IBM Plex Sans" pitchFamily="34" charset="-122"/>
                <a:cs typeface="IBM Plex Sans" pitchFamily="34" charset="-120"/>
              </a:rPr>
              <a:t>except mysql.connector.Error as err</a:t>
            </a:r>
            <a:r>
              <a:rPr lang="en-US" sz="1500" dirty="0">
                <a:solidFill>
                  <a:srgbClr val="4A5568"/>
                </a:solidFill>
                <a:latin typeface="IBM Plex Sans" pitchFamily="34" charset="0"/>
                <a:ea typeface="IBM Plex Sans" pitchFamily="34" charset="-122"/>
                <a:cs typeface="IBM Plex Sans" pitchFamily="34" charset="-120"/>
              </a:rPr>
              <a:t> y se distinguen por err.errno.</a:t>
            </a:r>
            <a:endParaRPr lang="en-US" sz="1500" dirty="0"/>
          </a:p>
        </p:txBody>
      </p:sp>
      <p:sp>
        <p:nvSpPr>
          <p:cNvPr id="8" name="Text 5"/>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12 · 3_errores.py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2" y="2090427"/>
            <a:ext cx="10883574"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0A060"/>
                </a:solidFill>
                <a:latin typeface="JetBrains Mono" pitchFamily="49" charset="0"/>
                <a:ea typeface="JetBrains Mono" pitchFamily="49" charset="-122"/>
                <a:cs typeface="JetBrains Mono" pitchFamily="49" charset="-120"/>
              </a:rPr>
              <a:t>4</a:t>
            </a:r>
            <a:endParaRPr lang="en-US" sz="10000" dirty="0"/>
          </a:p>
        </p:txBody>
      </p:sp>
      <p:sp>
        <p:nvSpPr>
          <p:cNvPr id="3" name="Text 1"/>
          <p:cNvSpPr>
            <a:spLocks noGrp="1"/>
          </p:cNvSpPr>
          <p:nvPr>
            <p:ph type="title"/>
          </p:nvPr>
        </p:nvSpPr>
        <p:spPr>
          <a:xfrm>
            <a:off x="812712" y="3563603"/>
            <a:ext cx="10883574" cy="696009"/>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Sentencias de descripción de datos</a:t>
            </a:r>
            <a:endParaRPr lang="en-US" sz="4800" dirty="0"/>
          </a:p>
        </p:txBody>
      </p:sp>
      <p:sp>
        <p:nvSpPr>
          <p:cNvPr id="4" name="Text 2"/>
          <p:cNvSpPr/>
          <p:nvPr/>
        </p:nvSpPr>
        <p:spPr>
          <a:xfrm>
            <a:off x="812712" y="4437391"/>
            <a:ext cx="10883574" cy="355578"/>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BDD"/>
                </a:solidFill>
                <a:latin typeface="IBM Plex Sans" pitchFamily="34" charset="0"/>
                <a:ea typeface="IBM Plex Sans" pitchFamily="34" charset="-122"/>
                <a:cs typeface="IBM Plex Sans" pitchFamily="34" charset="-120"/>
              </a:rPr>
              <a:t>Crear, modificar y consultar la estructura de la base de datos.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4 · DESCRIPCIÓN DE DATOS</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DDL: trabajan con la forma, no con los datos</a:t>
            </a:r>
            <a:endParaRPr lang="en-US" sz="3200" dirty="0"/>
          </a:p>
        </p:txBody>
      </p:sp>
      <p:sp>
        <p:nvSpPr>
          <p:cNvPr id="4" name="Shape 2"/>
          <p:cNvSpPr/>
          <p:nvPr/>
        </p:nvSpPr>
        <p:spPr>
          <a:xfrm>
            <a:off x="812712" y="1938622"/>
            <a:ext cx="6604000" cy="0"/>
          </a:xfrm>
          <a:prstGeom prst="line">
            <a:avLst/>
          </a:prstGeom>
          <a:noFill/>
          <a:ln w="7056">
            <a:solidFill>
              <a:srgbClr val="141413">
                <a:alpha val="22000"/>
              </a:srgbClr>
            </a:solidFill>
            <a:prstDash val="solid"/>
          </a:ln>
        </p:spPr>
        <p:txBody>
          <a:bodyPr/>
          <a:lstStyle/>
          <a:p>
            <a:endParaRPr lang="es-ES"/>
          </a:p>
        </p:txBody>
      </p:sp>
      <p:sp>
        <p:nvSpPr>
          <p:cNvPr id="5" name="Shape 3"/>
          <p:cNvSpPr/>
          <p:nvPr/>
        </p:nvSpPr>
        <p:spPr>
          <a:xfrm>
            <a:off x="816240" y="1935094"/>
            <a:ext cx="0" cy="2651566"/>
          </a:xfrm>
          <a:prstGeom prst="line">
            <a:avLst/>
          </a:prstGeom>
          <a:noFill/>
          <a:ln w="7056">
            <a:solidFill>
              <a:srgbClr val="141413">
                <a:alpha val="22000"/>
              </a:srgbClr>
            </a:solidFill>
            <a:prstDash val="solid"/>
          </a:ln>
        </p:spPr>
        <p:txBody>
          <a:bodyPr/>
          <a:lstStyle/>
          <a:p>
            <a:endParaRPr lang="es-E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2167" y="2043750"/>
          <a:ext cx="6292144" cy="2441443"/>
        </p:xfrm>
        <a:graphic>
          <a:graphicData uri="http://schemas.openxmlformats.org/drawingml/2006/table">
            <a:tbl>
              <a:tblPr/>
              <a:tblGrid>
                <a:gridCol w="1761800">
                  <a:extLst>
                    <a:ext uri="{9D8B030D-6E8A-4147-A177-3AD203B41FA5}">
                      <a16:colId xmlns:a16="http://schemas.microsoft.com/office/drawing/2014/main" val="20000"/>
                    </a:ext>
                  </a:extLst>
                </a:gridCol>
                <a:gridCol w="4530344">
                  <a:extLst>
                    <a:ext uri="{9D8B030D-6E8A-4147-A177-3AD203B41FA5}">
                      <a16:colId xmlns:a16="http://schemas.microsoft.com/office/drawing/2014/main" val="20001"/>
                    </a:ext>
                  </a:extLst>
                </a:gridCol>
              </a:tblGrid>
              <a:tr h="406907">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Sentencia</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Uso</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CREATE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Crear bases de datos, tablas, índices, vistas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ALTER</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Añadir, cambiar o quitar columnas y restricciones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DROP</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Eliminar un objeto y todo su contenido</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TRUNCATE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Vaciar una tabla conservando su estructura</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RENAME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Cambiar el nombre de una tabla</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7670712" y="1935094"/>
            <a:ext cx="3708577" cy="2011385"/>
          </a:xfrm>
          <a:prstGeom prst="rect">
            <a:avLst/>
          </a:prstGeom>
          <a:solidFill>
            <a:srgbClr val="FDEBDD"/>
          </a:solidFill>
          <a:ln/>
        </p:spPr>
        <p:txBody>
          <a:bodyPr/>
          <a:lstStyle/>
          <a:p>
            <a:endParaRPr lang="es-ES"/>
          </a:p>
        </p:txBody>
      </p:sp>
      <p:sp>
        <p:nvSpPr>
          <p:cNvPr id="8" name="Shape 5"/>
          <p:cNvSpPr/>
          <p:nvPr/>
        </p:nvSpPr>
        <p:spPr>
          <a:xfrm>
            <a:off x="7689762" y="1935094"/>
            <a:ext cx="0" cy="2011385"/>
          </a:xfrm>
          <a:prstGeom prst="line">
            <a:avLst/>
          </a:prstGeom>
          <a:noFill/>
          <a:ln w="38100">
            <a:solidFill>
              <a:srgbClr val="B4561A"/>
            </a:solidFill>
            <a:prstDash val="solid"/>
          </a:ln>
        </p:spPr>
        <p:txBody>
          <a:bodyPr/>
          <a:lstStyle/>
          <a:p>
            <a:endParaRPr lang="es-ES"/>
          </a:p>
        </p:txBody>
      </p:sp>
      <p:pic>
        <p:nvPicPr>
          <p:cNvPr id="9" name="Image 0" descr="Warning"/>
          <p:cNvPicPr>
            <a:picLocks noChangeAspect="1"/>
          </p:cNvPicPr>
          <p:nvPr/>
        </p:nvPicPr>
        <p:blipFill>
          <a:blip r:embed="rId3"/>
          <a:srcRect/>
          <a:stretch/>
        </p:blipFill>
        <p:spPr>
          <a:xfrm>
            <a:off x="7934523" y="2163626"/>
            <a:ext cx="330178" cy="330178"/>
          </a:xfrm>
          <a:prstGeom prst="rect">
            <a:avLst/>
          </a:prstGeom>
        </p:spPr>
      </p:pic>
      <p:sp>
        <p:nvSpPr>
          <p:cNvPr id="10" name="Text 6"/>
          <p:cNvSpPr/>
          <p:nvPr/>
        </p:nvSpPr>
        <p:spPr>
          <a:xfrm>
            <a:off x="7934523" y="2595339"/>
            <a:ext cx="3312718"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COMMIT implícito</a:t>
            </a:r>
            <a:endParaRPr lang="en-US" sz="1800" dirty="0"/>
          </a:p>
        </p:txBody>
      </p:sp>
      <p:sp>
        <p:nvSpPr>
          <p:cNvPr id="11" name="Text 7"/>
          <p:cNvSpPr/>
          <p:nvPr/>
        </p:nvSpPr>
        <p:spPr>
          <a:xfrm>
            <a:off x="7934523" y="2971161"/>
            <a:ext cx="3312718" cy="77218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En MySQL cada sentencia DDL confirma la transacción: no se puede deshacer con rollback().</a:t>
            </a:r>
            <a:endParaRPr lang="en-US" sz="1400" dirty="0"/>
          </a:p>
        </p:txBody>
      </p:sp>
      <p:sp>
        <p:nvSpPr>
          <p:cNvPr id="12" name="Text 8"/>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4 · DESCRIPCIÓN DE DATOS</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DDL desde Python: cursor.execute()</a:t>
            </a:r>
            <a:endParaRPr lang="en-US" sz="3200" dirty="0"/>
          </a:p>
        </p:txBody>
      </p:sp>
      <p:sp>
        <p:nvSpPr>
          <p:cNvPr id="4" name="Text 2"/>
          <p:cNvSpPr/>
          <p:nvPr/>
        </p:nvSpPr>
        <p:spPr>
          <a:xfrm>
            <a:off x="812712" y="1884381"/>
            <a:ext cx="10566577" cy="3362634"/>
          </a:xfrm>
          <a:prstGeom prst="roundRect">
            <a:avLst>
              <a:gd name="adj" fmla="val 3021"/>
            </a:avLst>
          </a:prstGeom>
          <a:solidFill>
            <a:srgbClr val="14213D"/>
          </a:solidFill>
          <a:ln/>
        </p:spPr>
        <p:txBody>
          <a:bodyPr wrap="square" lIns="249598" tIns="198842" rIns="0" bIns="173310" rtlCol="0" anchor="t">
            <a:normAutofit/>
          </a:bodyPr>
          <a:lstStyle/>
          <a:p>
            <a:pPr marL="0" indent="0" algn="l">
              <a:lnSpc>
                <a:spcPts val="2080"/>
              </a:lnSpc>
              <a:buNone/>
            </a:pPr>
            <a:r>
              <a:rPr lang="en-US" sz="1300" dirty="0">
                <a:solidFill>
                  <a:srgbClr val="8FA3BF"/>
                </a:solidFill>
                <a:latin typeface="JetBrains Mono" pitchFamily="49" charset="0"/>
                <a:ea typeface="JetBrains Mono" pitchFamily="49" charset="-122"/>
                <a:cs typeface="JetBrains Mono" pitchFamily="49" charset="-120"/>
              </a:rPr>
              <a:t># Borrar si existe, para poder repetir el programa</a:t>
            </a:r>
            <a:endParaRPr lang="en-US" sz="1300" dirty="0"/>
          </a:p>
          <a:p>
            <a:pPr marL="0" indent="0" algn="l">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cursor.execute("DROP TABLE IF EXISTS clientes")</a:t>
            </a:r>
            <a:endParaRPr lang="en-US" sz="1300" dirty="0"/>
          </a:p>
          <a:p>
            <a:pPr marL="0" indent="0" algn="l">
              <a:lnSpc>
                <a:spcPts val="2080"/>
              </a:lnSpc>
              <a:buNone/>
            </a:pPr>
            <a:endParaRPr lang="en-US" sz="1300" dirty="0"/>
          </a:p>
          <a:p>
            <a:pPr marL="0" indent="0" algn="l">
              <a:lnSpc>
                <a:spcPts val="2080"/>
              </a:lnSpc>
              <a:buNone/>
            </a:pPr>
            <a:r>
              <a:rPr lang="en-US" sz="1300" dirty="0">
                <a:solidFill>
                  <a:srgbClr val="8FA3BF"/>
                </a:solidFill>
                <a:latin typeface="JetBrains Mono" pitchFamily="49" charset="0"/>
                <a:ea typeface="JetBrains Mono" pitchFamily="49" charset="-122"/>
                <a:cs typeface="JetBrains Mono" pitchFamily="49" charset="-120"/>
              </a:rPr>
              <a:t># Crear la tabla</a:t>
            </a:r>
            <a:endParaRPr lang="en-US" sz="1300" dirty="0"/>
          </a:p>
          <a:p>
            <a:pPr marL="0" indent="0" algn="l">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cursor.execute("CREATE TABLE clientes (id INT PRIMARY KEY, nombre VARCHAR(50))")</a:t>
            </a:r>
            <a:endParaRPr lang="en-US" sz="1300" dirty="0"/>
          </a:p>
          <a:p>
            <a:pPr marL="0" indent="0" algn="l">
              <a:lnSpc>
                <a:spcPts val="2080"/>
              </a:lnSpc>
              <a:buNone/>
            </a:pPr>
            <a:endParaRPr lang="en-US" sz="1300" dirty="0"/>
          </a:p>
          <a:p>
            <a:pPr marL="0" indent="0" algn="l">
              <a:lnSpc>
                <a:spcPts val="2080"/>
              </a:lnSpc>
              <a:buNone/>
            </a:pPr>
            <a:r>
              <a:rPr lang="en-US" sz="1300" dirty="0">
                <a:solidFill>
                  <a:srgbClr val="8FA3BF"/>
                </a:solidFill>
                <a:latin typeface="JetBrains Mono" pitchFamily="49" charset="0"/>
                <a:ea typeface="JetBrains Mono" pitchFamily="49" charset="-122"/>
                <a:cs typeface="JetBrains Mono" pitchFamily="49" charset="-120"/>
              </a:rPr>
              <a:t># Modificarla: añadir una columna</a:t>
            </a:r>
            <a:endParaRPr lang="en-US" sz="1300" dirty="0"/>
          </a:p>
          <a:p>
            <a:pPr marL="0" indent="0" algn="l">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cursor.execute("ALTER TABLE clientes ADD email VARCHAR(100)")</a:t>
            </a:r>
            <a:endParaRPr lang="en-US" sz="1300" dirty="0"/>
          </a:p>
          <a:p>
            <a:pPr marL="0" indent="0" algn="l">
              <a:lnSpc>
                <a:spcPts val="2080"/>
              </a:lnSpc>
              <a:buNone/>
            </a:pPr>
            <a:endParaRPr lang="en-US" sz="1300" dirty="0"/>
          </a:p>
          <a:p>
            <a:pPr marL="0" indent="0" algn="l">
              <a:lnSpc>
                <a:spcPts val="2080"/>
              </a:lnSpc>
              <a:buNone/>
            </a:pPr>
            <a:r>
              <a:rPr lang="en-US" sz="1300" dirty="0">
                <a:solidFill>
                  <a:srgbClr val="8FA3BF"/>
                </a:solidFill>
                <a:latin typeface="JetBrains Mono" pitchFamily="49" charset="0"/>
                <a:ea typeface="JetBrains Mono" pitchFamily="49" charset="-122"/>
                <a:cs typeface="JetBrains Mono" pitchFamily="49" charset="-120"/>
              </a:rPr>
              <a:t># Eliminarla</a:t>
            </a:r>
            <a:endParaRPr lang="en-US" sz="1300" dirty="0"/>
          </a:p>
          <a:p>
            <a:pPr marL="0" indent="0" algn="l">
              <a:lnSpc>
                <a:spcPts val="2080"/>
              </a:lnSpc>
              <a:buNone/>
            </a:pPr>
            <a:r>
              <a:rPr lang="en-US" sz="1300" dirty="0">
                <a:solidFill>
                  <a:srgbClr val="E6EAF0"/>
                </a:solidFill>
                <a:latin typeface="JetBrains Mono" pitchFamily="49" charset="0"/>
                <a:ea typeface="JetBrains Mono" pitchFamily="49" charset="-122"/>
                <a:cs typeface="JetBrains Mono" pitchFamily="49" charset="-120"/>
              </a:rPr>
              <a:t>cursor.execute("DROP TABLE clientes")</a:t>
            </a:r>
            <a:endParaRPr lang="en-US" sz="1300" dirty="0"/>
          </a:p>
        </p:txBody>
      </p:sp>
      <p:sp>
        <p:nvSpPr>
          <p:cNvPr id="5" name="Text 3"/>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15 · 4_estructura.py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4 · DESCRIPCIÓN DE DATOS</a:t>
            </a:r>
            <a:endParaRPr lang="en-US" sz="1400" dirty="0"/>
          </a:p>
        </p:txBody>
      </p:sp>
      <p:sp>
        <p:nvSpPr>
          <p:cNvPr id="3" name="Text 1"/>
          <p:cNvSpPr>
            <a:spLocks noGrp="1"/>
          </p:cNvSpPr>
          <p:nvPr>
            <p:ph type="title"/>
          </p:nvPr>
        </p:nvSpPr>
        <p:spPr>
          <a:xfrm>
            <a:off x="812712" y="1163172"/>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Metadatos: preguntar por la estructura</a:t>
            </a:r>
            <a:endParaRPr lang="en-US" sz="3200" dirty="0"/>
          </a:p>
        </p:txBody>
      </p:sp>
      <p:sp>
        <p:nvSpPr>
          <p:cNvPr id="4" name="Text 2"/>
          <p:cNvSpPr/>
          <p:nvPr/>
        </p:nvSpPr>
        <p:spPr>
          <a:xfrm>
            <a:off x="812712" y="1884381"/>
            <a:ext cx="6350000" cy="2234627"/>
          </a:xfrm>
          <a:prstGeom prst="roundRect">
            <a:avLst>
              <a:gd name="adj" fmla="val 4547"/>
            </a:avLst>
          </a:prstGeom>
          <a:solidFill>
            <a:srgbClr val="14213D"/>
          </a:solidFill>
          <a:ln/>
        </p:spPr>
        <p:txBody>
          <a:bodyPr wrap="square" lIns="224242" tIns="173442" rIns="48982" bIns="147998" rtlCol="0" anchor="t">
            <a:normAutofit/>
          </a:bodyPr>
          <a:lstStyle/>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cursor.execute("SHOW TABLES")</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for fila in cursor.fetchall():</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print("Tabla:", fila[0])</a:t>
            </a:r>
            <a:endParaRPr lang="en-US" sz="1200" dirty="0"/>
          </a:p>
          <a:p>
            <a:pPr marL="0" indent="0" algn="l">
              <a:lnSpc>
                <a:spcPts val="1800"/>
              </a:lnSpc>
              <a:buNone/>
            </a:pP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cursor.execute("DESCRIBE clientes")</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for columna in cursor.fetchall():</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print("Columna:", columna[0],</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 Tipo:", columna[1])</a:t>
            </a:r>
            <a:endParaRPr lang="en-US" sz="1200" dirty="0"/>
          </a:p>
        </p:txBody>
      </p:sp>
      <p:sp>
        <p:nvSpPr>
          <p:cNvPr id="5" name="Shape 3"/>
          <p:cNvSpPr/>
          <p:nvPr/>
        </p:nvSpPr>
        <p:spPr>
          <a:xfrm>
            <a:off x="7369065" y="1887556"/>
            <a:ext cx="4007048" cy="1876712"/>
          </a:xfrm>
          <a:prstGeom prst="roundRect">
            <a:avLst>
              <a:gd name="adj" fmla="val 5245"/>
            </a:avLst>
          </a:prstGeom>
          <a:solidFill>
            <a:srgbClr val="FFFFFF"/>
          </a:solidFill>
          <a:ln w="6350">
            <a:solidFill>
              <a:srgbClr val="DDE1E8"/>
            </a:solidFill>
            <a:prstDash val="solid"/>
          </a:ln>
        </p:spPr>
        <p:txBody>
          <a:bodyPr/>
          <a:lstStyle/>
          <a:p>
            <a:endParaRPr lang="es-ES"/>
          </a:p>
        </p:txBody>
      </p:sp>
      <p:sp>
        <p:nvSpPr>
          <p:cNvPr id="6" name="Text 4"/>
          <p:cNvSpPr/>
          <p:nvPr/>
        </p:nvSpPr>
        <p:spPr>
          <a:xfrm>
            <a:off x="7576124" y="2094613"/>
            <a:ext cx="3700719"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Resultado</a:t>
            </a:r>
            <a:endParaRPr lang="en-US" sz="1600" dirty="0"/>
          </a:p>
        </p:txBody>
      </p:sp>
      <p:sp>
        <p:nvSpPr>
          <p:cNvPr id="7" name="Text 5"/>
          <p:cNvSpPr/>
          <p:nvPr/>
        </p:nvSpPr>
        <p:spPr>
          <a:xfrm>
            <a:off x="7576124" y="2414544"/>
            <a:ext cx="3700719" cy="1168069"/>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Tabla: clientes</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Tabla: productos</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Columna: id | Tipo: int</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Columna: nombre | Tipo: varchar(50)</a:t>
            </a:r>
            <a:endParaRPr lang="en-US" sz="1200" dirty="0"/>
          </a:p>
          <a:p>
            <a:pPr marL="0" indent="0" algn="l">
              <a:lnSpc>
                <a:spcPts val="1800"/>
              </a:lnSpc>
              <a:buNone/>
            </a:pPr>
            <a:r>
              <a:rPr lang="en-US" sz="1200" dirty="0">
                <a:solidFill>
                  <a:srgbClr val="4A5568"/>
                </a:solidFill>
                <a:latin typeface="JetBrains Mono" pitchFamily="49" charset="0"/>
                <a:ea typeface="JetBrains Mono" pitchFamily="49" charset="-122"/>
                <a:cs typeface="JetBrains Mono" pitchFamily="49" charset="-120"/>
              </a:rPr>
              <a:t>Columna: email | Tipo: varchar(100)</a:t>
            </a:r>
            <a:endParaRPr lang="en-US" sz="1200" dirty="0"/>
          </a:p>
        </p:txBody>
      </p:sp>
      <p:sp>
        <p:nvSpPr>
          <p:cNvPr id="8" name="Text 6"/>
          <p:cNvSpPr/>
          <p:nvPr/>
        </p:nvSpPr>
        <p:spPr>
          <a:xfrm>
            <a:off x="812712" y="4373011"/>
            <a:ext cx="10883574" cy="5587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Otras formas: </a:t>
            </a:r>
            <a:r>
              <a:rPr lang="en-US" sz="1500" b="1" dirty="0">
                <a:solidFill>
                  <a:srgbClr val="14213D"/>
                </a:solidFill>
                <a:latin typeface="IBM Plex Sans" pitchFamily="34" charset="0"/>
                <a:ea typeface="IBM Plex Sans" pitchFamily="34" charset="-122"/>
                <a:cs typeface="IBM Plex Sans" pitchFamily="34" charset="-120"/>
              </a:rPr>
              <a:t>INFORMATION_SCHEMA</a:t>
            </a:r>
            <a:r>
              <a:rPr lang="en-US" sz="1500" dirty="0">
                <a:solidFill>
                  <a:srgbClr val="4A5568"/>
                </a:solidFill>
                <a:latin typeface="IBM Plex Sans" pitchFamily="34" charset="0"/>
                <a:ea typeface="IBM Plex Sans" pitchFamily="34" charset="-122"/>
                <a:cs typeface="IBM Plex Sans" pitchFamily="34" charset="-120"/>
              </a:rPr>
              <a:t> (estándar SQL, se filtra con WHERE) y </a:t>
            </a:r>
            <a:r>
              <a:rPr lang="en-US" sz="1500" b="1" dirty="0">
                <a:solidFill>
                  <a:srgbClr val="14213D"/>
                </a:solidFill>
                <a:latin typeface="IBM Plex Sans" pitchFamily="34" charset="0"/>
                <a:ea typeface="IBM Plex Sans" pitchFamily="34" charset="-122"/>
                <a:cs typeface="IBM Plex Sans" pitchFamily="34" charset="-120"/>
              </a:rPr>
              <a:t>cursor.description</a:t>
            </a:r>
            <a:r>
              <a:rPr lang="en-US" sz="1500" dirty="0">
                <a:solidFill>
                  <a:srgbClr val="4A5568"/>
                </a:solidFill>
                <a:latin typeface="IBM Plex Sans" pitchFamily="34" charset="0"/>
                <a:ea typeface="IBM Plex Sans" pitchFamily="34" charset="-122"/>
                <a:cs typeface="IBM Plex Sans" pitchFamily="34" charset="-120"/>
              </a:rPr>
              <a:t> (columnas de cualquier resultado).</a:t>
            </a:r>
            <a:endParaRPr lang="en-US" sz="1500" dirty="0"/>
          </a:p>
        </p:txBody>
      </p:sp>
      <p:sp>
        <p:nvSpPr>
          <p:cNvPr id="9" name="Text 7"/>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16 · 4_estructura.py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4 · DESCRIPCIÓN DE DATOS</a:t>
            </a:r>
            <a:endParaRPr lang="en-US" sz="1400" dirty="0"/>
          </a:p>
        </p:txBody>
      </p:sp>
      <p:sp>
        <p:nvSpPr>
          <p:cNvPr id="3" name="Text 1"/>
          <p:cNvSpPr>
            <a:spLocks noGrp="1"/>
          </p:cNvSpPr>
          <p:nvPr>
            <p:ph type="title"/>
          </p:nvPr>
        </p:nvSpPr>
        <p:spPr>
          <a:xfrm>
            <a:off x="812712" y="1163179"/>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Manejo de excepciones</a:t>
            </a:r>
            <a:endParaRPr lang="en-US" sz="3200" dirty="0"/>
          </a:p>
        </p:txBody>
      </p:sp>
      <p:sp>
        <p:nvSpPr>
          <p:cNvPr id="4" name="Shape 2"/>
          <p:cNvSpPr/>
          <p:nvPr/>
        </p:nvSpPr>
        <p:spPr>
          <a:xfrm>
            <a:off x="812712" y="1887915"/>
            <a:ext cx="5461000" cy="0"/>
          </a:xfrm>
          <a:prstGeom prst="line">
            <a:avLst/>
          </a:prstGeom>
          <a:noFill/>
          <a:ln w="7056">
            <a:solidFill>
              <a:srgbClr val="141413">
                <a:alpha val="22000"/>
              </a:srgbClr>
            </a:solidFill>
            <a:prstDash val="solid"/>
          </a:ln>
        </p:spPr>
        <p:txBody>
          <a:bodyPr/>
          <a:lstStyle/>
          <a:p>
            <a:endParaRPr lang="es-ES"/>
          </a:p>
        </p:txBody>
      </p:sp>
      <p:sp>
        <p:nvSpPr>
          <p:cNvPr id="5" name="Shape 3"/>
          <p:cNvSpPr/>
          <p:nvPr/>
        </p:nvSpPr>
        <p:spPr>
          <a:xfrm>
            <a:off x="816240" y="1884387"/>
            <a:ext cx="0" cy="2478264"/>
          </a:xfrm>
          <a:prstGeom prst="line">
            <a:avLst/>
          </a:prstGeom>
          <a:noFill/>
          <a:ln w="7056">
            <a:solidFill>
              <a:srgbClr val="141413">
                <a:alpha val="22000"/>
              </a:srgbClr>
            </a:solidFill>
            <a:prstDash val="solid"/>
          </a:ln>
        </p:spPr>
        <p:txBody>
          <a:bodyPr/>
          <a:lstStyle/>
          <a:p>
            <a:endParaRPr lang="es-E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9467" y="1993043"/>
          <a:ext cx="5174545" cy="2268141"/>
        </p:xfrm>
        <a:graphic>
          <a:graphicData uri="http://schemas.openxmlformats.org/drawingml/2006/table">
            <a:tbl>
              <a:tblPr/>
              <a:tblGrid>
                <a:gridCol w="2380291">
                  <a:extLst>
                    <a:ext uri="{9D8B030D-6E8A-4147-A177-3AD203B41FA5}">
                      <a16:colId xmlns:a16="http://schemas.microsoft.com/office/drawing/2014/main" val="20000"/>
                    </a:ext>
                  </a:extLst>
                </a:gridCol>
                <a:gridCol w="2794254">
                  <a:extLst>
                    <a:ext uri="{9D8B030D-6E8A-4147-A177-3AD203B41FA5}">
                      <a16:colId xmlns:a16="http://schemas.microsoft.com/office/drawing/2014/main" val="20001"/>
                    </a:ext>
                  </a:extLst>
                </a:gridCol>
              </a:tblGrid>
              <a:tr h="380339">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Excepción</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Cuándo</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629267">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ProgrammingError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Sintaxis, tabla o columna inexistente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629267">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IntegrityError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Clave duplicada o clave ajena inválida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629267">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Error</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 clase madre: atrapa cualquiera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27712" y="1884387"/>
            <a:ext cx="4851577" cy="2006093"/>
          </a:xfrm>
          <a:prstGeom prst="roundRect">
            <a:avLst>
              <a:gd name="adj" fmla="val 5065"/>
            </a:avLst>
          </a:prstGeom>
          <a:solidFill>
            <a:srgbClr val="14213D"/>
          </a:solidFill>
          <a:ln/>
        </p:spPr>
        <p:txBody>
          <a:bodyPr wrap="square" lIns="198776" tIns="173442" rIns="66942" bIns="147998" rtlCol="0" anchor="t">
            <a:normAutofit/>
          </a:bodyPr>
          <a:lstStyle/>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try:</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cursor.execute(</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"SELECT * FROM tabla_que_no_existe")</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except mysql.connector.ProgrammingError</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as error:</a:t>
            </a:r>
            <a:endParaRPr lang="en-US" sz="1200" dirty="0"/>
          </a:p>
          <a:p>
            <a:pPr marL="0" indent="0" algn="l">
              <a:lnSpc>
                <a:spcPts val="1800"/>
              </a:lnSpc>
              <a:buNone/>
            </a:pPr>
            <a:r>
              <a:rPr lang="en-US" sz="1200" dirty="0">
                <a:solidFill>
                  <a:srgbClr val="E6EAF0"/>
                </a:solidFill>
                <a:latin typeface="JetBrains Mono" pitchFamily="49" charset="0"/>
                <a:ea typeface="JetBrains Mono" pitchFamily="49" charset="-122"/>
                <a:cs typeface="JetBrains Mono" pitchFamily="49" charset="-120"/>
              </a:rPr>
              <a:t>    print(error.errno, error.msg)</a:t>
            </a:r>
            <a:endParaRPr lang="en-US" sz="1200" dirty="0"/>
          </a:p>
          <a:p>
            <a:pPr marL="0" indent="0" algn="l">
              <a:lnSpc>
                <a:spcPts val="1800"/>
              </a:lnSpc>
              <a:buNone/>
            </a:pPr>
            <a:r>
              <a:rPr lang="en-US" sz="1200" dirty="0">
                <a:solidFill>
                  <a:srgbClr val="8FA3BF"/>
                </a:solidFill>
                <a:latin typeface="JetBrains Mono" pitchFamily="49" charset="0"/>
                <a:ea typeface="JetBrains Mono" pitchFamily="49" charset="-122"/>
                <a:cs typeface="JetBrains Mono" pitchFamily="49" charset="-120"/>
              </a:rPr>
              <a:t># 1146 Table ... doesn't exist</a:t>
            </a:r>
            <a:endParaRPr lang="en-US" sz="1200" dirty="0"/>
          </a:p>
        </p:txBody>
      </p:sp>
      <p:sp>
        <p:nvSpPr>
          <p:cNvPr id="8" name="Text 5"/>
          <p:cNvSpPr/>
          <p:nvPr/>
        </p:nvSpPr>
        <p:spPr>
          <a:xfrm>
            <a:off x="812712" y="4616648"/>
            <a:ext cx="10883574" cy="29207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Con </a:t>
            </a:r>
            <a:r>
              <a:rPr lang="en-US" sz="1500" b="1" dirty="0">
                <a:solidFill>
                  <a:srgbClr val="14213D"/>
                </a:solidFill>
                <a:latin typeface="IBM Plex Sans" pitchFamily="34" charset="0"/>
                <a:ea typeface="IBM Plex Sans" pitchFamily="34" charset="-122"/>
                <a:cs typeface="IBM Plex Sans" pitchFamily="34" charset="-120"/>
              </a:rPr>
              <a:t>try / except</a:t>
            </a:r>
            <a:r>
              <a:rPr lang="en-US" sz="1500" dirty="0">
                <a:solidFill>
                  <a:srgbClr val="4A5568"/>
                </a:solidFill>
                <a:latin typeface="IBM Plex Sans" pitchFamily="34" charset="0"/>
                <a:ea typeface="IBM Plex Sans" pitchFamily="34" charset="-122"/>
                <a:cs typeface="IBM Plex Sans" pitchFamily="34" charset="-120"/>
              </a:rPr>
              <a:t> el programa no se detiene: muestra el error y sigue.</a:t>
            </a:r>
            <a:endParaRPr lang="en-US" sz="1500" dirty="0"/>
          </a:p>
        </p:txBody>
      </p:sp>
      <p:sp>
        <p:nvSpPr>
          <p:cNvPr id="9" name="Text 6"/>
          <p:cNvSpPr/>
          <p:nvPr/>
        </p:nvSpPr>
        <p:spPr>
          <a:xfrm>
            <a:off x="812712" y="6238441"/>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17 · 3_errores.py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DEMOSTRACIÓN</a:t>
            </a:r>
            <a:endParaRPr lang="en-US" sz="1400" dirty="0"/>
          </a:p>
        </p:txBody>
      </p:sp>
      <p:sp>
        <p:nvSpPr>
          <p:cNvPr id="3" name="Text 1"/>
          <p:cNvSpPr>
            <a:spLocks noGrp="1"/>
          </p:cNvSpPr>
          <p:nvPr>
            <p:ph type="title"/>
          </p:nvPr>
        </p:nvSpPr>
        <p:spPr>
          <a:xfrm>
            <a:off x="812712" y="1163179"/>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Los scripts, en orden</a:t>
            </a:r>
            <a:endParaRPr lang="en-US" sz="3200" dirty="0"/>
          </a:p>
        </p:txBody>
      </p:sp>
      <p:sp>
        <p:nvSpPr>
          <p:cNvPr id="4" name="Shape 2"/>
          <p:cNvSpPr/>
          <p:nvPr/>
        </p:nvSpPr>
        <p:spPr>
          <a:xfrm>
            <a:off x="812712" y="1887915"/>
            <a:ext cx="10566577" cy="0"/>
          </a:xfrm>
          <a:prstGeom prst="line">
            <a:avLst/>
          </a:prstGeom>
          <a:noFill/>
          <a:ln w="7056">
            <a:solidFill>
              <a:srgbClr val="141413">
                <a:alpha val="22000"/>
              </a:srgbClr>
            </a:solidFill>
            <a:prstDash val="solid"/>
          </a:ln>
        </p:spPr>
        <p:txBody>
          <a:bodyPr/>
          <a:lstStyle/>
          <a:p>
            <a:endParaRPr lang="es-ES"/>
          </a:p>
        </p:txBody>
      </p:sp>
      <p:sp>
        <p:nvSpPr>
          <p:cNvPr id="5" name="Shape 3"/>
          <p:cNvSpPr/>
          <p:nvPr/>
        </p:nvSpPr>
        <p:spPr>
          <a:xfrm>
            <a:off x="816240" y="1884387"/>
            <a:ext cx="0" cy="2492155"/>
          </a:xfrm>
          <a:prstGeom prst="line">
            <a:avLst/>
          </a:prstGeom>
          <a:noFill/>
          <a:ln w="7056">
            <a:solidFill>
              <a:srgbClr val="141413">
                <a:alpha val="22000"/>
              </a:srgbClr>
            </a:solidFill>
            <a:prstDash val="solid"/>
          </a:ln>
        </p:spPr>
        <p:txBody>
          <a:bodyPr/>
          <a:lstStyle/>
          <a:p>
            <a:endParaRPr lang="es-E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9467" y="1993043"/>
          <a:ext cx="10280121" cy="2282031"/>
        </p:xfrm>
        <a:graphic>
          <a:graphicData uri="http://schemas.openxmlformats.org/drawingml/2006/table">
            <a:tbl>
              <a:tblPr/>
              <a:tblGrid>
                <a:gridCol w="3084036">
                  <a:extLst>
                    <a:ext uri="{9D8B030D-6E8A-4147-A177-3AD203B41FA5}">
                      <a16:colId xmlns:a16="http://schemas.microsoft.com/office/drawing/2014/main" val="20000"/>
                    </a:ext>
                  </a:extLst>
                </a:gridCol>
                <a:gridCol w="1439217">
                  <a:extLst>
                    <a:ext uri="{9D8B030D-6E8A-4147-A177-3AD203B41FA5}">
                      <a16:colId xmlns:a16="http://schemas.microsoft.com/office/drawing/2014/main" val="20001"/>
                    </a:ext>
                  </a:extLst>
                </a:gridCol>
                <a:gridCol w="5756868">
                  <a:extLst>
                    <a:ext uri="{9D8B030D-6E8A-4147-A177-3AD203B41FA5}">
                      <a16:colId xmlns:a16="http://schemas.microsoft.com/office/drawing/2014/main" val="20002"/>
                    </a:ext>
                  </a:extLst>
                </a:gridCol>
              </a:tblGrid>
              <a:tr h="380339">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Fichero</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Apartado</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Qué muestra</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crear_bd.sql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Base de datos, usuario y permisos con GRANT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1_conexion.py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Conectar, ejecutar, leer y cerrar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2_pool.py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4 peticiones con solo 2 conexiones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3_errores.py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3 y 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Contraseña incorrecta y tabla inexistente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380339">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4_estructura.py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CREATE, ALTER, DROP, SHOW TABLES y DESCRIBE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812712" y="4630539"/>
            <a:ext cx="10566577" cy="485180"/>
          </a:xfrm>
          <a:prstGeom prst="roundRect">
            <a:avLst>
              <a:gd name="adj" fmla="val 15706"/>
            </a:avLst>
          </a:prstGeom>
          <a:solidFill>
            <a:srgbClr val="14213D"/>
          </a:solidFill>
          <a:ln/>
        </p:spPr>
        <p:txBody>
          <a:bodyPr wrap="square" lIns="155482" tIns="104682" rIns="0" bIns="79282" rtlCol="0" anchor="t">
            <a:normAutofit/>
          </a:bodyPr>
          <a:lstStyle/>
          <a:p>
            <a:pPr marL="0" indent="0" algn="l">
              <a:lnSpc>
                <a:spcPts val="1820"/>
              </a:lnSpc>
              <a:buNone/>
            </a:pPr>
            <a:r>
              <a:rPr lang="en-US" sz="1300" dirty="0">
                <a:solidFill>
                  <a:srgbClr val="E6EAF0"/>
                </a:solidFill>
                <a:latin typeface="JetBrains Mono" pitchFamily="49" charset="0"/>
                <a:ea typeface="JetBrains Mono" pitchFamily="49" charset="-122"/>
                <a:cs typeface="JetBrains Mono" pitchFamily="49" charset="-120"/>
              </a:rPr>
              <a:t>mysql -u root -p &lt; crear_bd.sql   →   python 1_conexion.py</a:t>
            </a:r>
            <a:endParaRPr lang="en-US" sz="1300" dirty="0"/>
          </a:p>
        </p:txBody>
      </p:sp>
      <p:sp>
        <p:nvSpPr>
          <p:cNvPr id="8" name="Text 5"/>
          <p:cNvSpPr/>
          <p:nvPr/>
        </p:nvSpPr>
        <p:spPr>
          <a:xfrm>
            <a:off x="812712" y="6238441"/>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4561A"/>
                </a:solidFill>
                <a:latin typeface="JetBrains Mono" pitchFamily="49" charset="0"/>
                <a:ea typeface="JetBrains Mono" pitchFamily="49" charset="-122"/>
                <a:cs typeface="JetBrains Mono" pitchFamily="49" charset="-120"/>
              </a:rPr>
              <a:t>RESUMEN</a:t>
            </a:r>
            <a:endParaRPr lang="en-US" sz="1400" dirty="0"/>
          </a:p>
        </p:txBody>
      </p:sp>
      <p:sp>
        <p:nvSpPr>
          <p:cNvPr id="3" name="Text 1"/>
          <p:cNvSpPr>
            <a:spLocks noGrp="1"/>
          </p:cNvSpPr>
          <p:nvPr>
            <p:ph type="title"/>
          </p:nvPr>
        </p:nvSpPr>
        <p:spPr>
          <a:xfrm>
            <a:off x="812712" y="1163179"/>
            <a:ext cx="10883574" cy="49261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Cuatro ideas para llevarse</a:t>
            </a:r>
            <a:endParaRPr lang="en-US" sz="3200" dirty="0"/>
          </a:p>
        </p:txBody>
      </p:sp>
      <p:sp>
        <p:nvSpPr>
          <p:cNvPr id="4" name="Shape 2"/>
          <p:cNvSpPr/>
          <p:nvPr/>
        </p:nvSpPr>
        <p:spPr>
          <a:xfrm>
            <a:off x="815887" y="1938275"/>
            <a:ext cx="5175294" cy="1313149"/>
          </a:xfrm>
          <a:prstGeom prst="roundRect">
            <a:avLst>
              <a:gd name="adj" fmla="val 7495"/>
            </a:avLst>
          </a:prstGeom>
          <a:solidFill>
            <a:srgbClr val="FFFFFF"/>
          </a:solidFill>
          <a:ln w="6350">
            <a:solidFill>
              <a:srgbClr val="DDE1E8"/>
            </a:solidFill>
            <a:prstDash val="solid"/>
          </a:ln>
        </p:spPr>
        <p:txBody>
          <a:bodyPr/>
          <a:lstStyle/>
          <a:p>
            <a:endParaRPr lang="es-ES"/>
          </a:p>
        </p:txBody>
      </p:sp>
      <p:sp>
        <p:nvSpPr>
          <p:cNvPr id="5" name="Text 3"/>
          <p:cNvSpPr/>
          <p:nvPr/>
        </p:nvSpPr>
        <p:spPr>
          <a:xfrm>
            <a:off x="1048301" y="2170695"/>
            <a:ext cx="4851780"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61A"/>
                </a:solidFill>
                <a:latin typeface="IBM Plex Sans" pitchFamily="34" charset="0"/>
                <a:ea typeface="IBM Plex Sans" pitchFamily="34" charset="-122"/>
                <a:cs typeface="IBM Plex Sans" pitchFamily="34" charset="-120"/>
              </a:rPr>
              <a:t>Lenguaje ≠ protocolo</a:t>
            </a:r>
            <a:endParaRPr lang="en-US" sz="1800" dirty="0"/>
          </a:p>
        </p:txBody>
      </p:sp>
      <p:sp>
        <p:nvSpPr>
          <p:cNvPr id="6" name="Text 4"/>
          <p:cNvSpPr/>
          <p:nvPr/>
        </p:nvSpPr>
        <p:spPr>
          <a:xfrm>
            <a:off x="1048301" y="2521148"/>
            <a:ext cx="4851780"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SQL dice qué hacer; el protocolo de MySQL lo transporta; el conector nos lo facilita.</a:t>
            </a:r>
            <a:endParaRPr lang="en-US" sz="1400" dirty="0"/>
          </a:p>
        </p:txBody>
      </p:sp>
      <p:sp>
        <p:nvSpPr>
          <p:cNvPr id="7" name="Shape 5"/>
          <p:cNvSpPr/>
          <p:nvPr/>
        </p:nvSpPr>
        <p:spPr>
          <a:xfrm>
            <a:off x="6200709" y="1938275"/>
            <a:ext cx="5175405" cy="1313149"/>
          </a:xfrm>
          <a:prstGeom prst="roundRect">
            <a:avLst>
              <a:gd name="adj" fmla="val 7495"/>
            </a:avLst>
          </a:prstGeom>
          <a:solidFill>
            <a:srgbClr val="FFFFFF"/>
          </a:solidFill>
          <a:ln w="6350">
            <a:solidFill>
              <a:srgbClr val="DDE1E8"/>
            </a:solidFill>
            <a:prstDash val="solid"/>
          </a:ln>
        </p:spPr>
        <p:txBody>
          <a:bodyPr/>
          <a:lstStyle/>
          <a:p>
            <a:endParaRPr lang="es-ES"/>
          </a:p>
        </p:txBody>
      </p:sp>
      <p:sp>
        <p:nvSpPr>
          <p:cNvPr id="8" name="Text 6"/>
          <p:cNvSpPr/>
          <p:nvPr/>
        </p:nvSpPr>
        <p:spPr>
          <a:xfrm>
            <a:off x="6433124" y="2170695"/>
            <a:ext cx="485189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61A"/>
                </a:solidFill>
                <a:latin typeface="IBM Plex Sans" pitchFamily="34" charset="0"/>
                <a:ea typeface="IBM Plex Sans" pitchFamily="34" charset="-122"/>
                <a:cs typeface="IBM Plex Sans" pitchFamily="34" charset="-120"/>
              </a:rPr>
              <a:t>Conexión segura y cerrada</a:t>
            </a:r>
            <a:endParaRPr lang="en-US" sz="1800" dirty="0"/>
          </a:p>
        </p:txBody>
      </p:sp>
      <p:sp>
        <p:nvSpPr>
          <p:cNvPr id="9" name="Text 7"/>
          <p:cNvSpPr/>
          <p:nvPr/>
        </p:nvSpPr>
        <p:spPr>
          <a:xfrm>
            <a:off x="6433124" y="2521148"/>
            <a:ext cx="485189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TLS, credenciales fuera del código, mínimo privilegio y cerrar siempre.</a:t>
            </a:r>
            <a:endParaRPr lang="en-US" sz="1400" dirty="0"/>
          </a:p>
        </p:txBody>
      </p:sp>
      <p:sp>
        <p:nvSpPr>
          <p:cNvPr id="10" name="Shape 8"/>
          <p:cNvSpPr/>
          <p:nvPr/>
        </p:nvSpPr>
        <p:spPr>
          <a:xfrm>
            <a:off x="815887" y="3460948"/>
            <a:ext cx="5175294" cy="1313149"/>
          </a:xfrm>
          <a:prstGeom prst="roundRect">
            <a:avLst>
              <a:gd name="adj" fmla="val 7495"/>
            </a:avLst>
          </a:prstGeom>
          <a:solidFill>
            <a:srgbClr val="FFFFFF"/>
          </a:solidFill>
          <a:ln w="6350">
            <a:solidFill>
              <a:srgbClr val="DDE1E8"/>
            </a:solidFill>
            <a:prstDash val="solid"/>
          </a:ln>
        </p:spPr>
        <p:txBody>
          <a:bodyPr/>
          <a:lstStyle/>
          <a:p>
            <a:endParaRPr lang="es-ES"/>
          </a:p>
        </p:txBody>
      </p:sp>
      <p:sp>
        <p:nvSpPr>
          <p:cNvPr id="11" name="Text 9"/>
          <p:cNvSpPr/>
          <p:nvPr/>
        </p:nvSpPr>
        <p:spPr>
          <a:xfrm>
            <a:off x="1048301" y="3693368"/>
            <a:ext cx="4851780"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61A"/>
                </a:solidFill>
                <a:latin typeface="IBM Plex Sans" pitchFamily="34" charset="0"/>
                <a:ea typeface="IBM Plex Sans" pitchFamily="34" charset="-122"/>
                <a:cs typeface="IBM Plex Sans" pitchFamily="34" charset="-120"/>
              </a:rPr>
              <a:t>DDL cambia la estructura</a:t>
            </a:r>
            <a:endParaRPr lang="en-US" sz="1800" dirty="0"/>
          </a:p>
        </p:txBody>
      </p:sp>
      <p:sp>
        <p:nvSpPr>
          <p:cNvPr id="12" name="Text 10"/>
          <p:cNvSpPr/>
          <p:nvPr/>
        </p:nvSpPr>
        <p:spPr>
          <a:xfrm>
            <a:off x="1048301" y="4043834"/>
            <a:ext cx="4851780"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CREATE, ALTER y DROP con cursor.execute(); en MySQL hacen commit implícito.</a:t>
            </a:r>
            <a:endParaRPr lang="en-US" sz="1400" dirty="0"/>
          </a:p>
        </p:txBody>
      </p:sp>
      <p:sp>
        <p:nvSpPr>
          <p:cNvPr id="13" name="Shape 11"/>
          <p:cNvSpPr/>
          <p:nvPr/>
        </p:nvSpPr>
        <p:spPr>
          <a:xfrm>
            <a:off x="6200709" y="3460948"/>
            <a:ext cx="5175405" cy="1313149"/>
          </a:xfrm>
          <a:prstGeom prst="roundRect">
            <a:avLst>
              <a:gd name="adj" fmla="val 7495"/>
            </a:avLst>
          </a:prstGeom>
          <a:solidFill>
            <a:srgbClr val="FFFFFF"/>
          </a:solidFill>
          <a:ln w="6350">
            <a:solidFill>
              <a:srgbClr val="DDE1E8"/>
            </a:solidFill>
            <a:prstDash val="solid"/>
          </a:ln>
        </p:spPr>
        <p:txBody>
          <a:bodyPr/>
          <a:lstStyle/>
          <a:p>
            <a:endParaRPr lang="es-ES"/>
          </a:p>
        </p:txBody>
      </p:sp>
      <p:sp>
        <p:nvSpPr>
          <p:cNvPr id="14" name="Text 12"/>
          <p:cNvSpPr/>
          <p:nvPr/>
        </p:nvSpPr>
        <p:spPr>
          <a:xfrm>
            <a:off x="6433124" y="3693368"/>
            <a:ext cx="485189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61A"/>
                </a:solidFill>
                <a:latin typeface="IBM Plex Sans" pitchFamily="34" charset="0"/>
                <a:ea typeface="IBM Plex Sans" pitchFamily="34" charset="-122"/>
                <a:cs typeface="IBM Plex Sans" pitchFamily="34" charset="-120"/>
              </a:rPr>
              <a:t>Errores controlados</a:t>
            </a:r>
            <a:endParaRPr lang="en-US" sz="1800" dirty="0"/>
          </a:p>
        </p:txBody>
      </p:sp>
      <p:sp>
        <p:nvSpPr>
          <p:cNvPr id="15" name="Text 13"/>
          <p:cNvSpPr/>
          <p:nvPr/>
        </p:nvSpPr>
        <p:spPr>
          <a:xfrm>
            <a:off x="6433124" y="4043834"/>
            <a:ext cx="485189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mysql.connector.Error y sus subclases, distinguidos por errno.</a:t>
            </a:r>
            <a:endParaRPr lang="en-US" sz="1400" dirty="0"/>
          </a:p>
        </p:txBody>
      </p:sp>
      <p:sp>
        <p:nvSpPr>
          <p:cNvPr id="16" name="Text 14"/>
          <p:cNvSpPr/>
          <p:nvPr/>
        </p:nvSpPr>
        <p:spPr>
          <a:xfrm>
            <a:off x="812712" y="6238441"/>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Unidad 2 · Manejo de conectores · 19</a:t>
            </a:r>
            <a:endParaRPr lang="en-US" sz="1200" dirty="0"/>
          </a:p>
        </p:txBody>
      </p:sp>
    </p:spTree>
  </p:cSld>
  <p:clrMapOvr>
    <a:masterClrMapping/>
  </p:clrMapOvr>
</p:sld>
</file>

<file path=ppt/theme/theme1.xml><?xml version="1.0" encoding="utf-8"?>
<a:theme xmlns:a="http://schemas.openxmlformats.org/drawingml/2006/main" name="Manejo de conectores: Python y MySQL">
  <a:themeElements>
    <a:clrScheme name="Manejo de conectores: Python y MySQL">
      <a:dk1>
        <a:srgbClr val="14213D"/>
      </a:dk1>
      <a:lt1>
        <a:srgbClr val="F6F5F0"/>
      </a:lt1>
      <a:dk2>
        <a:srgbClr val="4D566A"/>
      </a:dk2>
      <a:lt2>
        <a:srgbClr val="DFE0DE"/>
      </a:lt2>
      <a:accent1>
        <a:srgbClr val="B4561A"/>
      </a:accent1>
      <a:accent2>
        <a:srgbClr val="F0A060"/>
      </a:accent2>
      <a:accent3>
        <a:srgbClr val="4A5568"/>
      </a:accent3>
      <a:accent4>
        <a:srgbClr val="6B7280"/>
      </a:accent4>
      <a:accent5>
        <a:srgbClr val="BFCBDD"/>
      </a:accent5>
      <a:accent6>
        <a:srgbClr val="9AA0A6"/>
      </a:accent6>
      <a:hlink>
        <a:srgbClr val="0563C1"/>
      </a:hlink>
      <a:folHlink>
        <a:srgbClr val="954F72"/>
      </a:folHlink>
    </a:clrScheme>
    <a:fontScheme name="Manejo de conectores: Python y MySQ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2934</Words>
  <Application>Microsoft Office PowerPoint</Application>
  <PresentationFormat>Panorámica</PresentationFormat>
  <Paragraphs>310</Paragraphs>
  <Slides>19</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IBM Plex Sans</vt:lpstr>
      <vt:lpstr>JetBrains Mono</vt:lpstr>
      <vt:lpstr>Manejo de conectores: Python y MySQL</vt:lpstr>
      <vt:lpstr>Manejo de conectores</vt:lpstr>
      <vt:lpstr>Tres pasos para hablar con una base de datos</vt:lpstr>
      <vt:lpstr>SQL es el lenguaje; el protocolo es cómo viaja</vt:lpstr>
      <vt:lpstr>Una API estándar por lenguaje</vt:lpstr>
      <vt:lpstr>Conectores de MySQL para Python</vt:lpstr>
      <vt:lpstr>Autenticación, autorización y sesión</vt:lpstr>
      <vt:lpstr>Establecimiento de conexiones</vt:lpstr>
      <vt:lpstr>Dónde está el servidor y quiénes somos</vt:lpstr>
      <vt:lpstr>Abrir, usar y cerrar una conexión</vt:lpstr>
      <vt:lpstr>Una conexión segura</vt:lpstr>
      <vt:lpstr>Muchas peticiones: pool de conexiones</vt:lpstr>
      <vt:lpstr>Cuando la conexión falla</vt:lpstr>
      <vt:lpstr>Sentencias de descripción de datos</vt:lpstr>
      <vt:lpstr>DDL: trabajan con la forma, no con los datos</vt:lpstr>
      <vt:lpstr>DDL desde Python: cursor.execute()</vt:lpstr>
      <vt:lpstr>Metadatos: preguntar por la estructura</vt:lpstr>
      <vt:lpstr>Manejo de excepciones</vt:lpstr>
      <vt:lpstr>Los scripts, en orden</vt:lpstr>
      <vt:lpstr>Cuatro ideas para llevarse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Manejo de conectores: Python y MySQL</dc:title>
  <dc:subject/>
  <dc:creator/>
  <cp:lastModifiedBy>Vicente Pellicer Gomez Pardo</cp:lastModifiedBy>
  <cp:revision>2</cp:revision>
  <dcterms:created xsi:type="dcterms:W3CDTF">2026-10-12T16:24:44Z</dcterms:created>
  <dcterms:modified xsi:type="dcterms:W3CDTF">2026-10-18T14:37:43Z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2026-10-18T14:37:43Z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baebe467-47d5-48b9-8830-0d54fa0099cf</vt:lpwstr>
  </property>
  <property fmtid="{D5CDD505-2E9C-101B-9397-08002B2CF9AE}" pid="7" name="MSIP_Label_defa4170-0d19-0005-0004-bc88714345d2_ActionId">
    <vt:lpwstr>aaf9f957-0856-4eda-a45f-7a7db92a73ed</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