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4206240"/>
            <a:ext cx="3108960" cy="3108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8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UNIDAD DIDÁCTICA · PROGRAMACIÓN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77240" y="2331720"/>
            <a:ext cx="8412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Gestión de Ficheros</a:t>
            </a:r>
            <a:endParaRPr lang="en-US" sz="4400" dirty="0"/>
          </a:p>
          <a:p>
            <a:pPr indent="0" marL="0">
              <a:lnSpc>
                <a:spcPts val="48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 Programación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7863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acceso a datos a la persistencia: clases, flujos, serialización</a:t>
            </a:r>
            <a:endParaRPr lang="en-US" sz="16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operaciones sobre ficheros para aplicaciones robustas.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257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8" name="Image 0" descr="icons/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3310" y="5318150"/>
            <a:ext cx="382219" cy="382219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146304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0" name="Image 1" descr="icons/databa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3390" y="5318150"/>
            <a:ext cx="382219" cy="382219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2103120" y="5257800"/>
            <a:ext cx="502920" cy="50292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icons/folder_ope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63470" y="5318150"/>
            <a:ext cx="382219" cy="382219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2743200" y="525780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4" name="Image 3" descr="icons/shiel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03550" y="5318150"/>
            <a:ext cx="382219" cy="38221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vas a aprender en esta unidad?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 ficheros es una habilidad esencial en el mundo digital actual: permite crear, leer, modificar y eliminar datos de forma persistente en cualquier aplicación.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7590" y="2529230"/>
            <a:ext cx="382219" cy="382219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13639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de gestión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344728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Abrir, leer, escribir y cerrar ficheros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233672" y="224028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EA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4462272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2" name="Image 1" descr="icons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2622" y="2529230"/>
            <a:ext cx="382219" cy="38221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62272" y="313639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Formas de acceso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4462272" y="344728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Secuencial vs. aleatorio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7918704" y="224028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EA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147304" y="246888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07654" y="2529230"/>
            <a:ext cx="382219" cy="38221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47304" y="313639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de datos</a:t>
            </a:r>
            <a:endParaRPr lang="en-US" sz="1500" dirty="0"/>
          </a:p>
        </p:txBody>
      </p:sp>
      <p:sp>
        <p:nvSpPr>
          <p:cNvPr id="19" name="Text 14"/>
          <p:cNvSpPr txBox="1"/>
          <p:nvPr/>
        </p:nvSpPr>
        <p:spPr>
          <a:xfrm>
            <a:off x="8147304" y="344728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 de entrada y salida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548640" y="42519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EAF3F8"/>
          </a:solidFill>
          <a:ln/>
        </p:spPr>
      </p:sp>
      <p:sp>
        <p:nvSpPr>
          <p:cNvPr id="21" name="Shape 16"/>
          <p:cNvSpPr/>
          <p:nvPr/>
        </p:nvSpPr>
        <p:spPr>
          <a:xfrm>
            <a:off x="777240" y="4480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2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" y="4540910"/>
            <a:ext cx="382219" cy="382219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77240" y="514807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Serialización</a:t>
            </a:r>
            <a:endParaRPr lang="en-US" sz="1500" dirty="0"/>
          </a:p>
        </p:txBody>
      </p:sp>
      <p:sp>
        <p:nvSpPr>
          <p:cNvPr id="24" name="Text 18"/>
          <p:cNvSpPr txBox="1"/>
          <p:nvPr/>
        </p:nvSpPr>
        <p:spPr>
          <a:xfrm>
            <a:off x="777240" y="545896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Objetos ↔ representación binaria</a:t>
            </a:r>
            <a:endParaRPr lang="en-US" sz="1150" dirty="0"/>
          </a:p>
        </p:txBody>
      </p:sp>
      <p:sp>
        <p:nvSpPr>
          <p:cNvPr id="25" name="Shape 19"/>
          <p:cNvSpPr/>
          <p:nvPr/>
        </p:nvSpPr>
        <p:spPr>
          <a:xfrm>
            <a:off x="4233672" y="42519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EAF3F8"/>
          </a:solidFill>
          <a:ln/>
        </p:spPr>
      </p:sp>
      <p:sp>
        <p:nvSpPr>
          <p:cNvPr id="26" name="Shape 20"/>
          <p:cNvSpPr/>
          <p:nvPr/>
        </p:nvSpPr>
        <p:spPr>
          <a:xfrm>
            <a:off x="4462272" y="4480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7" name="Image 4" descr="icons/folder_o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2622" y="4540910"/>
            <a:ext cx="382219" cy="382219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4462272" y="514807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</a:t>
            </a:r>
            <a:endParaRPr lang="en-US" sz="1500" dirty="0"/>
          </a:p>
        </p:txBody>
      </p:sp>
      <p:sp>
        <p:nvSpPr>
          <p:cNvPr id="29" name="Text 22"/>
          <p:cNvSpPr txBox="1"/>
          <p:nvPr/>
        </p:nvSpPr>
        <p:spPr>
          <a:xfrm>
            <a:off x="4462272" y="545896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Directorios, copiar, mover, permisos</a:t>
            </a:r>
            <a:endParaRPr lang="en-US" sz="1150" dirty="0"/>
          </a:p>
        </p:txBody>
      </p:sp>
      <p:sp>
        <p:nvSpPr>
          <p:cNvPr id="30" name="Shape 23"/>
          <p:cNvSpPr/>
          <p:nvPr/>
        </p:nvSpPr>
        <p:spPr>
          <a:xfrm>
            <a:off x="7918704" y="4251960"/>
            <a:ext cx="3502152" cy="1783080"/>
          </a:xfrm>
          <a:prstGeom prst="roundRect">
            <a:avLst>
              <a:gd name="adj" fmla="val 4103"/>
            </a:avLst>
          </a:prstGeom>
          <a:solidFill>
            <a:srgbClr val="EAF3F8"/>
          </a:solidFill>
          <a:ln/>
        </p:spPr>
      </p:sp>
      <p:sp>
        <p:nvSpPr>
          <p:cNvPr id="31" name="Shape 24"/>
          <p:cNvSpPr/>
          <p:nvPr/>
        </p:nvSpPr>
        <p:spPr>
          <a:xfrm>
            <a:off x="8147304" y="4480560"/>
            <a:ext cx="502920" cy="50292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32" name="Image 5" descr="icons/warnin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07654" y="4540910"/>
            <a:ext cx="382219" cy="382219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8147304" y="5148072"/>
            <a:ext cx="3044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Excepciones</a:t>
            </a:r>
            <a:endParaRPr lang="en-US" sz="1500" dirty="0"/>
          </a:p>
        </p:txBody>
      </p:sp>
      <p:sp>
        <p:nvSpPr>
          <p:cNvPr id="34" name="Text 26"/>
          <p:cNvSpPr txBox="1"/>
          <p:nvPr/>
        </p:nvSpPr>
        <p:spPr>
          <a:xfrm>
            <a:off x="8147304" y="5458968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tratar errores comunes</a:t>
            </a:r>
            <a:endParaRPr lang="en-US" sz="1150" dirty="0"/>
          </a:p>
        </p:txBody>
      </p:sp>
      <p:sp>
        <p:nvSpPr>
          <p:cNvPr id="35" name="Text 27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Clases para la gestión de ficheros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63040"/>
            <a:ext cx="5029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1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lenguaje de programación ofrece clases específicas para manipular archivos. Proporcionan métodos y propiedades que encapsulan el ciclo de vida completo de un fichero, ocultando la complejidad del sistema operativo.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3520440"/>
            <a:ext cx="5029200" cy="1554480"/>
          </a:xfrm>
          <a:prstGeom prst="roundRect">
            <a:avLst>
              <a:gd name="adj" fmla="val 4706"/>
            </a:avLst>
          </a:prstGeom>
          <a:solidFill>
            <a:srgbClr val="EAF3F8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37033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Estas clases son la base sobre la que se construyen el acceso secuencial, el acceso aleatorio y los flujos de datos que veremos a continuación.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92240" y="1508760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8" name="Image 0" descr="icons/folder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60271" y="1576791"/>
            <a:ext cx="430865" cy="430865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7269480" y="1417320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Abrir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69480" y="174650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 la conexión con el fichero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775704" y="2075688"/>
            <a:ext cx="0" cy="950976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2" name="Shape 9"/>
          <p:cNvSpPr/>
          <p:nvPr/>
        </p:nvSpPr>
        <p:spPr>
          <a:xfrm>
            <a:off x="6492240" y="2679192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3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0271" y="2747223"/>
            <a:ext cx="430865" cy="430865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269480" y="258775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Leer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269480" y="29169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Recupera datos almacenados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775704" y="3246120"/>
            <a:ext cx="0" cy="950976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17" name="Shape 13"/>
          <p:cNvSpPr/>
          <p:nvPr/>
        </p:nvSpPr>
        <p:spPr>
          <a:xfrm>
            <a:off x="6492240" y="3849624"/>
            <a:ext cx="566928" cy="566928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8" name="Image 2" descr="icons/s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271" y="3917655"/>
            <a:ext cx="430865" cy="430865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269480" y="3758184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Escribir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7269480" y="4087368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 nueva información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6775704" y="4416552"/>
            <a:ext cx="0" cy="950976"/>
          </a:xfrm>
          <a:prstGeom prst="line">
            <a:avLst/>
          </a:prstGeom>
          <a:noFill/>
          <a:ln w="19050">
            <a:solidFill>
              <a:srgbClr val="1C7293"/>
            </a:solidFill>
            <a:prstDash val="dash"/>
          </a:ln>
        </p:spPr>
      </p:sp>
      <p:sp>
        <p:nvSpPr>
          <p:cNvPr id="22" name="Shape 17"/>
          <p:cNvSpPr/>
          <p:nvPr/>
        </p:nvSpPr>
        <p:spPr>
          <a:xfrm>
            <a:off x="6492240" y="5020056"/>
            <a:ext cx="566928" cy="566928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3" name="Image 3" descr="icons/clo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60271" y="5088087"/>
            <a:ext cx="430865" cy="430865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269480" y="4928616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Cerrar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269480" y="525780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 los recursos del sistema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A FICHEROS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secuencial vs. acceso aleatorio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método de acceso tiene sus propios usos: elegir el adecuado optimiza el rendimiento de la aplicación.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2331720"/>
            <a:ext cx="640080" cy="64008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7" name="Image 0" descr="icons/lis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1210" y="2408530"/>
            <a:ext cx="486461" cy="4864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73736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secuencial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914400" y="32004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datos se leen o escriben en orden lineal, uno tras otro, desde el principio del fichero.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914400" y="4114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Recorre el archivo de inicio a fin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914400" y="44988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Ideal para procesar todo el contenido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914400" y="488289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Simple e implementación ligera</a:t>
            </a:r>
            <a:endParaRPr lang="en-US" sz="1250" dirty="0"/>
          </a:p>
        </p:txBody>
      </p:sp>
      <p:sp>
        <p:nvSpPr>
          <p:cNvPr id="13" name="Text 10"/>
          <p:cNvSpPr txBox="1"/>
          <p:nvPr/>
        </p:nvSpPr>
        <p:spPr>
          <a:xfrm>
            <a:off x="914400" y="52669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Ejemplo: logs, ficheros de texto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355080" y="1965960"/>
            <a:ext cx="5257800" cy="4114800"/>
          </a:xfrm>
          <a:prstGeom prst="roundRect">
            <a:avLst>
              <a:gd name="adj" fmla="val 2222"/>
            </a:avLst>
          </a:prstGeom>
          <a:solidFill>
            <a:srgbClr val="EAF3F8"/>
          </a:solidFill>
          <a:ln/>
        </p:spPr>
      </p:sp>
      <p:sp>
        <p:nvSpPr>
          <p:cNvPr id="15" name="Shape 12"/>
          <p:cNvSpPr/>
          <p:nvPr/>
        </p:nvSpPr>
        <p:spPr>
          <a:xfrm>
            <a:off x="6720840" y="2331720"/>
            <a:ext cx="640080" cy="64008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1" descr="icons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7650" y="2408530"/>
            <a:ext cx="486461" cy="486461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7543800" y="24231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Acceso aleatorio</a:t>
            </a:r>
            <a:endParaRPr lang="en-US" sz="1900" dirty="0"/>
          </a:p>
        </p:txBody>
      </p:sp>
      <p:sp>
        <p:nvSpPr>
          <p:cNvPr id="18" name="Text 14"/>
          <p:cNvSpPr/>
          <p:nvPr/>
        </p:nvSpPr>
        <p:spPr>
          <a:xfrm>
            <a:off x="6720840" y="3200400"/>
            <a:ext cx="45262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Permite posicionarse y acceder directamente a cualquier punto del fichero, sin recorrer los anteriores.</a:t>
            </a:r>
            <a:endParaRPr lang="en-US" sz="1300" dirty="0"/>
          </a:p>
        </p:txBody>
      </p:sp>
      <p:sp>
        <p:nvSpPr>
          <p:cNvPr id="19" name="Text 15"/>
          <p:cNvSpPr txBox="1"/>
          <p:nvPr/>
        </p:nvSpPr>
        <p:spPr>
          <a:xfrm>
            <a:off x="6720840" y="4114800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Salta directamente a una posición</a:t>
            </a:r>
            <a:endParaRPr lang="en-US" sz="1250" dirty="0"/>
          </a:p>
        </p:txBody>
      </p:sp>
      <p:sp>
        <p:nvSpPr>
          <p:cNvPr id="20" name="Text 16"/>
          <p:cNvSpPr txBox="1"/>
          <p:nvPr/>
        </p:nvSpPr>
        <p:spPr>
          <a:xfrm>
            <a:off x="6720840" y="4498848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Ideal para registros de tamaño fijo</a:t>
            </a:r>
            <a:endParaRPr lang="en-US" sz="1250" dirty="0"/>
          </a:p>
        </p:txBody>
      </p:sp>
      <p:sp>
        <p:nvSpPr>
          <p:cNvPr id="21" name="Text 17"/>
          <p:cNvSpPr txBox="1"/>
          <p:nvPr/>
        </p:nvSpPr>
        <p:spPr>
          <a:xfrm>
            <a:off x="6720840" y="4882896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Mayor eficiencia en archivos grandes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6720840" y="5266944"/>
            <a:ext cx="4526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Ejemplo: bases de datos, índices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de datos desde y hacia ficheros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de flujo (streams) permiten trabajar con grandes volúmenes de información de forma eficiente, leyendo o escribiendo por partes en lugar de cargar todo en memoria.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5146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7" name="Image 0" descr="icons/import_fi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2585923"/>
            <a:ext cx="451714" cy="45171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600200" y="24963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de entrada</a:t>
            </a:r>
            <a:endParaRPr lang="en-US" sz="1550" dirty="0"/>
          </a:p>
        </p:txBody>
      </p:sp>
      <p:sp>
        <p:nvSpPr>
          <p:cNvPr id="9" name="Text 6"/>
          <p:cNvSpPr txBox="1"/>
          <p:nvPr/>
        </p:nvSpPr>
        <p:spPr>
          <a:xfrm>
            <a:off x="1600200" y="288036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Leen datos desde un fichero hacia el programa, en bloques manejables.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26480" y="22402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6400800" y="25146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1" descr="icons/export_fil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23" y="2585923"/>
            <a:ext cx="451714" cy="451714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7178040" y="24963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Flujos de salida</a:t>
            </a:r>
            <a:endParaRPr lang="en-US" sz="1550" dirty="0"/>
          </a:p>
        </p:txBody>
      </p:sp>
      <p:sp>
        <p:nvSpPr>
          <p:cNvPr id="14" name="Text 10"/>
          <p:cNvSpPr txBox="1"/>
          <p:nvPr/>
        </p:nvSpPr>
        <p:spPr>
          <a:xfrm>
            <a:off x="7178040" y="288036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Envían datos del programa hacia un fichero para su persistencia.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548640" y="44348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822960" y="47091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7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780483"/>
            <a:ext cx="451714" cy="451714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00200" y="46908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Manejo de excepciones</a:t>
            </a:r>
            <a:endParaRPr lang="en-US" sz="1550" dirty="0"/>
          </a:p>
        </p:txBody>
      </p:sp>
      <p:sp>
        <p:nvSpPr>
          <p:cNvPr id="19" name="Text 14"/>
          <p:cNvSpPr txBox="1"/>
          <p:nvPr/>
        </p:nvSpPr>
        <p:spPr>
          <a:xfrm>
            <a:off x="1600200" y="507492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Detectan y controlan errores durante la lectura o escritura.</a:t>
            </a:r>
            <a:endParaRPr lang="en-US" sz="1250" dirty="0"/>
          </a:p>
        </p:txBody>
      </p:sp>
      <p:sp>
        <p:nvSpPr>
          <p:cNvPr id="20" name="Shape 15"/>
          <p:cNvSpPr/>
          <p:nvPr/>
        </p:nvSpPr>
        <p:spPr>
          <a:xfrm>
            <a:off x="6126480" y="44348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21" name="Shape 16"/>
          <p:cNvSpPr/>
          <p:nvPr/>
        </p:nvSpPr>
        <p:spPr>
          <a:xfrm>
            <a:off x="6400800" y="470916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2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23" y="4780483"/>
            <a:ext cx="451714" cy="451714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7178040" y="46908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Optimización de memoria</a:t>
            </a:r>
            <a:endParaRPr lang="en-US" sz="1550" dirty="0"/>
          </a:p>
        </p:txBody>
      </p:sp>
      <p:sp>
        <p:nvSpPr>
          <p:cNvPr id="24" name="Text 18"/>
          <p:cNvSpPr txBox="1"/>
          <p:nvPr/>
        </p:nvSpPr>
        <p:spPr>
          <a:xfrm>
            <a:off x="7178040" y="507492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Procesan datos por bloques, evitando cargar ficheros completos en RAM.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DE OBJETOS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Serialización y deserialización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4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objetos complejos en una representación binaria para guardarlos en un fichero o transmitirlos por red, y recupéralos después para usarlos de nuevo en el programa.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30175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6" name="Shape 4"/>
          <p:cNvSpPr/>
          <p:nvPr/>
        </p:nvSpPr>
        <p:spPr>
          <a:xfrm>
            <a:off x="1421892" y="32186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7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2118" y="3288914"/>
            <a:ext cx="444764" cy="44476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548640" y="3886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</a:t>
            </a:r>
            <a:endParaRPr lang="en-US" sz="135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415137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memoria</a:t>
            </a:r>
            <a:endParaRPr lang="en-US" sz="1000" dirty="0"/>
          </a:p>
        </p:txBody>
      </p:sp>
      <p:sp>
        <p:nvSpPr>
          <p:cNvPr id="10" name="Text 7"/>
          <p:cNvSpPr txBox="1"/>
          <p:nvPr/>
        </p:nvSpPr>
        <p:spPr>
          <a:xfrm>
            <a:off x="2907792" y="347472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1" name="Shape 8"/>
          <p:cNvSpPr/>
          <p:nvPr/>
        </p:nvSpPr>
        <p:spPr>
          <a:xfrm>
            <a:off x="3520440" y="30175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065A82"/>
          </a:solidFill>
          <a:ln/>
        </p:spPr>
      </p:sp>
      <p:sp>
        <p:nvSpPr>
          <p:cNvPr id="12" name="Shape 9"/>
          <p:cNvSpPr/>
          <p:nvPr/>
        </p:nvSpPr>
        <p:spPr>
          <a:xfrm>
            <a:off x="4393692" y="32186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3" name="Image 1" descr="icons/lay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3918" y="3288914"/>
            <a:ext cx="444764" cy="4447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520440" y="3886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Serializar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520440" y="415137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a binario</a:t>
            </a:r>
            <a:endParaRPr lang="en-US" sz="1000" dirty="0"/>
          </a:p>
        </p:txBody>
      </p:sp>
      <p:sp>
        <p:nvSpPr>
          <p:cNvPr id="16" name="Text 12"/>
          <p:cNvSpPr txBox="1"/>
          <p:nvPr/>
        </p:nvSpPr>
        <p:spPr>
          <a:xfrm>
            <a:off x="5879592" y="347472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7" name="Shape 13"/>
          <p:cNvSpPr/>
          <p:nvPr/>
        </p:nvSpPr>
        <p:spPr>
          <a:xfrm>
            <a:off x="6492240" y="30175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C7293"/>
          </a:solidFill>
          <a:ln/>
        </p:spPr>
      </p:sp>
      <p:sp>
        <p:nvSpPr>
          <p:cNvPr id="18" name="Shape 14"/>
          <p:cNvSpPr/>
          <p:nvPr/>
        </p:nvSpPr>
        <p:spPr>
          <a:xfrm>
            <a:off x="7365492" y="32186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19" name="Image 2" descr="icons/fi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5718" y="3288914"/>
            <a:ext cx="444764" cy="44476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492240" y="3886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Fichero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415137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binario en disco</a:t>
            </a:r>
            <a:endParaRPr lang="en-US" sz="1000" dirty="0"/>
          </a:p>
        </p:txBody>
      </p:sp>
      <p:sp>
        <p:nvSpPr>
          <p:cNvPr id="22" name="Text 17"/>
          <p:cNvSpPr txBox="1"/>
          <p:nvPr/>
        </p:nvSpPr>
        <p:spPr>
          <a:xfrm>
            <a:off x="8851392" y="3474720"/>
            <a:ext cx="5669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23" name="Shape 18"/>
          <p:cNvSpPr/>
          <p:nvPr/>
        </p:nvSpPr>
        <p:spPr>
          <a:xfrm>
            <a:off x="9464040" y="301752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sp>
        <p:nvSpPr>
          <p:cNvPr id="24" name="Shape 19"/>
          <p:cNvSpPr/>
          <p:nvPr/>
        </p:nvSpPr>
        <p:spPr>
          <a:xfrm>
            <a:off x="10337292" y="3218688"/>
            <a:ext cx="585216" cy="585216"/>
          </a:xfrm>
          <a:prstGeom prst="ellipse">
            <a:avLst/>
          </a:prstGeom>
          <a:solidFill>
            <a:srgbClr val="FFFFFF">
              <a:alpha val="25000"/>
            </a:srgbClr>
          </a:solidFill>
          <a:ln/>
        </p:spPr>
      </p:sp>
      <p:pic>
        <p:nvPicPr>
          <p:cNvPr id="25" name="Image 3" descr="icons/databas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07518" y="3288914"/>
            <a:ext cx="444764" cy="44476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9464040" y="3886200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Objeto</a:t>
            </a:r>
            <a:endParaRPr lang="en-US" sz="1350" dirty="0"/>
          </a:p>
        </p:txBody>
      </p:sp>
      <p:sp>
        <p:nvSpPr>
          <p:cNvPr id="27" name="Text 21"/>
          <p:cNvSpPr txBox="1"/>
          <p:nvPr/>
        </p:nvSpPr>
        <p:spPr>
          <a:xfrm>
            <a:off x="9464040" y="4151376"/>
            <a:ext cx="23317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restaurado</a:t>
            </a:r>
            <a:endParaRPr lang="en-US" sz="1000" dirty="0"/>
          </a:p>
        </p:txBody>
      </p:sp>
      <p:sp>
        <p:nvSpPr>
          <p:cNvPr id="28" name="Text 22"/>
          <p:cNvSpPr/>
          <p:nvPr/>
        </p:nvSpPr>
        <p:spPr>
          <a:xfrm>
            <a:off x="548640" y="4800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Deserializar: el proceso inverso reconstruye el objeto original a partir del binario almacenado.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548640" y="534924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3F8"/>
          </a:solidFill>
          <a:ln/>
        </p:spPr>
      </p:sp>
      <p:sp>
        <p:nvSpPr>
          <p:cNvPr id="30" name="Text 24"/>
          <p:cNvSpPr/>
          <p:nvPr/>
        </p:nvSpPr>
        <p:spPr>
          <a:xfrm>
            <a:off x="822960" y="54864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¿Cuándo se usa? Al guardar el estado de una aplicación, enviar objetos entre sistemas distribuidos, o almacenar estructuras de datos complejas de forma compacta.</a:t>
            </a:r>
            <a:endParaRPr lang="en-US" sz="1300" dirty="0"/>
          </a:p>
        </p:txBody>
      </p:sp>
      <p:sp>
        <p:nvSpPr>
          <p:cNvPr id="31" name="Text 2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AVANZADA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Operaciones sobre ficheros y directorios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21295C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8288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folder_op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4283" y="19001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600200" y="1810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Directorios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600200" y="219456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Crear y eliminar carpetas para organizar la estructura de datos de la aplicación.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6126480" y="155448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10" name="Shape 7"/>
          <p:cNvSpPr/>
          <p:nvPr/>
        </p:nvSpPr>
        <p:spPr>
          <a:xfrm>
            <a:off x="6400800" y="182880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1" name="Image 1" descr="icons/cop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123" y="19001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178040" y="181051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Copiar</a:t>
            </a:r>
            <a:endParaRPr lang="en-US" sz="1600" dirty="0"/>
          </a:p>
        </p:txBody>
      </p:sp>
      <p:sp>
        <p:nvSpPr>
          <p:cNvPr id="13" name="Text 9"/>
          <p:cNvSpPr txBox="1"/>
          <p:nvPr/>
        </p:nvSpPr>
        <p:spPr>
          <a:xfrm>
            <a:off x="7178040" y="219456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Duplicar archivos manteniendo el original intacto, útil para copias de seguridad.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548640" y="37490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15" name="Shape 11"/>
          <p:cNvSpPr/>
          <p:nvPr/>
        </p:nvSpPr>
        <p:spPr>
          <a:xfrm>
            <a:off x="822960" y="4023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16" name="Image 2" descr="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409468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600200" y="40050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Mover</a:t>
            </a:r>
            <a:endParaRPr lang="en-US" sz="1600" dirty="0"/>
          </a:p>
        </p:txBody>
      </p:sp>
      <p:sp>
        <p:nvSpPr>
          <p:cNvPr id="18" name="Text 13"/>
          <p:cNvSpPr txBox="1"/>
          <p:nvPr/>
        </p:nvSpPr>
        <p:spPr>
          <a:xfrm>
            <a:off x="1600200" y="438912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Reubicar ficheros entre directorios, renombrando o reorganizando el contenido.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6126480" y="3749040"/>
            <a:ext cx="5257800" cy="1920240"/>
          </a:xfrm>
          <a:prstGeom prst="roundRect">
            <a:avLst>
              <a:gd name="adj" fmla="val 3810"/>
            </a:avLst>
          </a:prstGeom>
          <a:solidFill>
            <a:srgbClr val="EAF3F8"/>
          </a:solidFill>
          <a:ln/>
        </p:spPr>
      </p:sp>
      <p:sp>
        <p:nvSpPr>
          <p:cNvPr id="20" name="Shape 15"/>
          <p:cNvSpPr/>
          <p:nvPr/>
        </p:nvSpPr>
        <p:spPr>
          <a:xfrm>
            <a:off x="6400800" y="4023360"/>
            <a:ext cx="594360" cy="594360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21" name="Image 3" descr="icons/ke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123" y="409468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7178040" y="4005072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Permisos</a:t>
            </a:r>
            <a:endParaRPr lang="en-US" sz="1600" dirty="0"/>
          </a:p>
        </p:txBody>
      </p:sp>
      <p:sp>
        <p:nvSpPr>
          <p:cNvPr id="23" name="Text 17"/>
          <p:cNvSpPr txBox="1"/>
          <p:nvPr/>
        </p:nvSpPr>
        <p:spPr>
          <a:xfrm>
            <a:off x="7178040" y="4389120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Controlar quién puede leer, escribir o ejecutar cada fichero para proteger los datos.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ROBUSTEZ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515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Excepciones en el manejo de ficheros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Detectar y tratar los errores comunes es clave para crear aplicaciones robustas y confiables.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EAF3F8"/>
          </a:solidFill>
          <a:ln/>
        </p:spPr>
      </p:sp>
      <p:sp>
        <p:nvSpPr>
          <p:cNvPr id="6" name="Shape 4"/>
          <p:cNvSpPr/>
          <p:nvPr/>
        </p:nvSpPr>
        <p:spPr>
          <a:xfrm>
            <a:off x="1933956" y="23317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7" name="Image 0" descr="icons/l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1738" y="2419502"/>
            <a:ext cx="555955" cy="555955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777240" y="333756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de permiso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914400" y="3840480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programa no tiene autorización para leer, escribir o eliminar el fichero.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4233672" y="196596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EAF3F8"/>
          </a:solidFill>
          <a:ln/>
        </p:spPr>
      </p:sp>
      <p:sp>
        <p:nvSpPr>
          <p:cNvPr id="11" name="Shape 8"/>
          <p:cNvSpPr/>
          <p:nvPr/>
        </p:nvSpPr>
        <p:spPr>
          <a:xfrm>
            <a:off x="5618988" y="23317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2" name="Image 1" descr="icons/searc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6770" y="2419502"/>
            <a:ext cx="555955" cy="555955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4462272" y="333756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Archivo no existente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4599432" y="3840480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intenta acceder a una ruta o fichero que no está en el sistema.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7918704" y="1965960"/>
            <a:ext cx="3502152" cy="3566160"/>
          </a:xfrm>
          <a:prstGeom prst="roundRect">
            <a:avLst>
              <a:gd name="adj" fmla="val 2089"/>
            </a:avLst>
          </a:prstGeom>
          <a:solidFill>
            <a:srgbClr val="EAF3F8"/>
          </a:solidFill>
          <a:ln/>
        </p:spPr>
      </p:sp>
      <p:sp>
        <p:nvSpPr>
          <p:cNvPr id="16" name="Shape 12"/>
          <p:cNvSpPr/>
          <p:nvPr/>
        </p:nvSpPr>
        <p:spPr>
          <a:xfrm>
            <a:off x="9304020" y="2331720"/>
            <a:ext cx="731520" cy="731520"/>
          </a:xfrm>
          <a:prstGeom prst="ellipse">
            <a:avLst/>
          </a:prstGeom>
          <a:solidFill>
            <a:srgbClr val="21295C"/>
          </a:solidFill>
          <a:ln/>
        </p:spPr>
      </p:sp>
      <p:pic>
        <p:nvPicPr>
          <p:cNvPr id="17" name="Image 2" descr="icons/warnin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91802" y="2419502"/>
            <a:ext cx="555955" cy="555955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8147304" y="3337560"/>
            <a:ext cx="3044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Problemas de formato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8284464" y="3840480"/>
            <a:ext cx="2770632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contenido del fichero no coincide con el formato esperado por el programa.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B71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389120"/>
            <a:ext cx="4206240" cy="42062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6858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C7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RESUMEN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77240" y="1005840"/>
            <a:ext cx="9144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 concepto a la práctica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82296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6" name="Image 0" descr="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2020824"/>
            <a:ext cx="347472" cy="34747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444752" y="1920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clases de ficheros encapsulan abrir, leer, escribir y cerrar.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822960" y="2715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9" name="Image 1" descr="icons/rand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2770632"/>
            <a:ext cx="347472" cy="347472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444752" y="26700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acceso secuencial y el aleatorio se eligen según el rendimiento que necesites.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822960" y="34655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2" name="Image 2" descr="icons/exchan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3520440"/>
            <a:ext cx="347472" cy="347472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444752" y="3419856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flujos (streams) optimizan la memoria al trabajar con grandes volúmenes.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6400800" y="1965960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5" name="Image 3" descr="icons/lay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55664" y="2020824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022592" y="1920240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serialización permite persistir y transmitir objetos complejos.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6400800" y="2715768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18" name="Image 4" descr="icons/folder_open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5664" y="2770632"/>
            <a:ext cx="347472" cy="347472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7022592" y="2670048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operaciones de directorios, copia y permisos organizan y protegen los datos.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6400800" y="3465576"/>
            <a:ext cx="457200" cy="457200"/>
          </a:xfrm>
          <a:prstGeom prst="ellipse">
            <a:avLst/>
          </a:prstGeom>
          <a:solidFill>
            <a:srgbClr val="1C7293"/>
          </a:solidFill>
          <a:ln/>
        </p:spPr>
      </p:sp>
      <p:pic>
        <p:nvPicPr>
          <p:cNvPr id="21" name="Image 5" descr="icons/shiel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55664" y="3520440"/>
            <a:ext cx="347472" cy="347472"/>
          </a:xfrm>
          <a:prstGeom prst="rect">
            <a:avLst/>
          </a:prstGeom>
        </p:spPr>
      </p:pic>
      <p:sp>
        <p:nvSpPr>
          <p:cNvPr id="22" name="Text 14"/>
          <p:cNvSpPr txBox="1"/>
          <p:nvPr/>
        </p:nvSpPr>
        <p:spPr>
          <a:xfrm>
            <a:off x="7022592" y="3419856"/>
            <a:ext cx="4709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E4EE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bien las excepciones es la clave de una aplicación robusta y confiable.</a:t>
            </a:r>
            <a:endParaRPr lang="en-US" sz="1250" dirty="0"/>
          </a:p>
        </p:txBody>
      </p:sp>
      <p:sp>
        <p:nvSpPr>
          <p:cNvPr id="23" name="Text 15"/>
          <p:cNvSpPr/>
          <p:nvPr/>
        </p:nvSpPr>
        <p:spPr>
          <a:xfrm>
            <a:off x="822960" y="6080760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Preparado para enfrentar cualquier desafío de almacenamiento y manipulación de datos.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2026-09-07T16:35:42Z</dcterms:created>
  <dcterms:modified xsi:type="dcterms:W3CDTF">2026-09-07T16:35:42Z</dcterms:modified>
</cp:coreProperties>
</file>