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230"/>
        </a:solidFill>
      </p:bgPr>
    </p:bg>
    <p:spTree>
      <p:nvGrpSpPr>
        <p:cNvPr id="1" name=""/>
        <p:cNvGrpSpPr/>
        <p:nvPr/>
      </p:nvGrpSpPr>
      <p:grpSpPr>
        <a:xfrm>
          <a:off x="0" y="0"/>
          <a:ext cx="0" cy="0"/>
          <a:chOff x="0" y="0"/>
          <a:chExt cx="0" cy="0"/>
        </a:xfrm>
      </p:grpSpPr>
      <p:sp>
        <p:nvSpPr>
          <p:cNvPr id="2" name="Shape 0"/>
          <p:cNvSpPr/>
          <p:nvPr/>
        </p:nvSpPr>
        <p:spPr>
          <a:xfrm>
            <a:off x="6583680" y="-1097280"/>
            <a:ext cx="3840480" cy="3840480"/>
          </a:xfrm>
          <a:prstGeom prst="ellipse">
            <a:avLst/>
          </a:prstGeom>
          <a:solidFill>
            <a:srgbClr val="F2A541">
              <a:alpha val="20000"/>
            </a:srgbClr>
          </a:solidFill>
          <a:ln w="12700">
            <a:solidFill>
              <a:srgbClr val="1B2230">
                <a:alpha val="0"/>
              </a:srgbClr>
            </a:solidFill>
            <a:prstDash val="solid"/>
          </a:ln>
        </p:spPr>
      </p:sp>
      <p:sp>
        <p:nvSpPr>
          <p:cNvPr id="3" name="Shape 1"/>
          <p:cNvSpPr/>
          <p:nvPr/>
        </p:nvSpPr>
        <p:spPr>
          <a:xfrm>
            <a:off x="7406640" y="3108960"/>
            <a:ext cx="2377440" cy="2377440"/>
          </a:xfrm>
          <a:prstGeom prst="ellipse">
            <a:avLst/>
          </a:prstGeom>
          <a:solidFill>
            <a:srgbClr val="2A9D8F">
              <a:alpha val="25000"/>
            </a:srgbClr>
          </a:solidFill>
          <a:ln w="12700">
            <a:solidFill>
              <a:srgbClr val="1B2230">
                <a:alpha val="0"/>
              </a:srgbClr>
            </a:solidFill>
            <a:prstDash val="solid"/>
          </a:ln>
        </p:spPr>
      </p:sp>
      <p:sp>
        <p:nvSpPr>
          <p:cNvPr id="4" name="Text 2"/>
          <p:cNvSpPr txBox="1"/>
          <p:nvPr/>
        </p:nvSpPr>
        <p:spPr>
          <a:xfrm>
            <a:off x="548640" y="1097280"/>
            <a:ext cx="5486400" cy="365760"/>
          </a:xfrm>
          <a:prstGeom prst="rect">
            <a:avLst/>
          </a:prstGeom>
          <a:noFill/>
          <a:ln/>
        </p:spPr>
        <p:txBody>
          <a:bodyPr wrap="square" lIns="0" tIns="0" rIns="0" bIns="0" rtlCol="0" anchor="ctr"/>
          <a:lstStyle/>
          <a:p>
            <a:pPr indent="0" marL="0">
              <a:buNone/>
            </a:pPr>
            <a:r>
              <a:rPr lang="en-US" sz="1400" dirty="0">
                <a:solidFill>
                  <a:srgbClr val="F2A541"/>
                </a:solidFill>
                <a:latin typeface="Courier New" pitchFamily="34" charset="0"/>
                <a:ea typeface="Courier New" pitchFamily="34" charset="-122"/>
                <a:cs typeface="Courier New" pitchFamily="34" charset="-120"/>
              </a:rPr>
              <a:t>try  ·  except  ·  finally</a:t>
            </a:r>
            <a:endParaRPr lang="en-US" sz="1400" dirty="0"/>
          </a:p>
        </p:txBody>
      </p:sp>
      <p:sp>
        <p:nvSpPr>
          <p:cNvPr id="5" name="Text 3"/>
          <p:cNvSpPr txBox="1"/>
          <p:nvPr/>
        </p:nvSpPr>
        <p:spPr>
          <a:xfrm>
            <a:off x="548640" y="1554480"/>
            <a:ext cx="6583680" cy="155448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Detección y tratamiento de excepciones en el acceso a ficheros</a:t>
            </a:r>
            <a:endParaRPr lang="en-US" sz="3600" dirty="0"/>
          </a:p>
        </p:txBody>
      </p:sp>
      <p:sp>
        <p:nvSpPr>
          <p:cNvPr id="6" name="Text 4"/>
          <p:cNvSpPr txBox="1"/>
          <p:nvPr/>
        </p:nvSpPr>
        <p:spPr>
          <a:xfrm>
            <a:off x="548640" y="3291840"/>
            <a:ext cx="6217920" cy="731520"/>
          </a:xfrm>
          <a:prstGeom prst="rect">
            <a:avLst/>
          </a:prstGeom>
          <a:noFill/>
          <a:ln/>
        </p:spPr>
        <p:txBody>
          <a:bodyPr wrap="square" lIns="0" tIns="0" rIns="0" bIns="0" rtlCol="0" anchor="t"/>
          <a:lstStyle/>
          <a:p>
            <a:pPr indent="0" marL="0">
              <a:buNone/>
            </a:pPr>
            <a:r>
              <a:rPr lang="en-US" sz="1600" dirty="0">
                <a:solidFill>
                  <a:srgbClr val="C9D1DD"/>
                </a:solidFill>
                <a:latin typeface="Calibri" pitchFamily="34" charset="0"/>
                <a:ea typeface="Calibri" pitchFamily="34" charset="-122"/>
                <a:cs typeface="Calibri" pitchFamily="34" charset="-120"/>
              </a:rPr>
              <a:t>Cómo conseguir que un programa siga siendo robusto cuando trabajar con archivos no sale como se esperaba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Trabajar con ficheros no siempre sale bien</a:t>
            </a:r>
            <a:endParaRPr lang="en-US" sz="3000" dirty="0"/>
          </a:p>
        </p:txBody>
      </p:sp>
      <p:sp>
        <p:nvSpPr>
          <p:cNvPr id="3" name="Text 1"/>
          <p:cNvSpPr txBox="1"/>
          <p:nvPr/>
        </p:nvSpPr>
        <p:spPr>
          <a:xfrm>
            <a:off x="457200" y="1188720"/>
            <a:ext cx="4754880" cy="3474720"/>
          </a:xfrm>
          <a:prstGeom prst="rect">
            <a:avLst/>
          </a:prstGeom>
          <a:noFill/>
          <a:ln/>
        </p:spPr>
        <p:txBody>
          <a:bodyPr wrap="square" lIns="0" tIns="0" rIns="0" bIns="0" rtlCol="0" anchor="t"/>
          <a:lstStyle/>
          <a:p>
            <a:pPr indent="0" marL="0">
              <a:spcAft>
                <a:spcPts val="800"/>
              </a:spcAft>
              <a:buNone/>
            </a:pPr>
            <a:r>
              <a:rPr lang="en-US" sz="1500" dirty="0">
                <a:solidFill>
                  <a:srgbClr val="1F2937"/>
                </a:solidFill>
                <a:latin typeface="Calibri" pitchFamily="34" charset="0"/>
                <a:ea typeface="Calibri" pitchFamily="34" charset="-122"/>
                <a:cs typeface="Calibri" pitchFamily="34" charset="-120"/>
              </a:rPr>
              <a:t>En el mundo digital actual, gestionar ficheros de forma eficiente es una habilidad fundamental para cualquier desarrollador o programador.</a:t>
            </a:r>
            <a:endParaRPr lang="en-US" sz="1500" dirty="0"/>
          </a:p>
          <a:p>
            <a:pPr indent="0" marL="0">
              <a:spcAft>
                <a:spcPts val="800"/>
              </a:spcAft>
              <a:buNone/>
            </a:pPr>
            <a:r>
              <a:rPr lang="en-US" sz="1500" dirty="0">
                <a:solidFill>
                  <a:srgbClr val="1F2937"/>
                </a:solidFill>
                <a:latin typeface="Calibri" pitchFamily="34" charset="0"/>
                <a:ea typeface="Calibri" pitchFamily="34" charset="-122"/>
                <a:cs typeface="Calibri" pitchFamily="34" charset="-120"/>
              </a:rPr>
              <a:t>El problema es que, al trabajar con archivos, las cosas no siempre ocurren según lo esperado: constantemente aparecen situaciones que exigen manejar bien los errores y las excepciones.</a:t>
            </a:r>
            <a:endParaRPr lang="en-US" sz="1500" dirty="0"/>
          </a:p>
          <a:p>
            <a:pPr indent="0" marL="0">
              <a:spcAft>
                <a:spcPts val="800"/>
              </a:spcAft>
              <a:buNone/>
            </a:pPr>
            <a:r>
              <a:rPr lang="en-US" sz="1500" dirty="0">
                <a:solidFill>
                  <a:srgbClr val="1F2937"/>
                </a:solidFill>
                <a:latin typeface="Calibri" pitchFamily="34" charset="0"/>
                <a:ea typeface="Calibri" pitchFamily="34" charset="-122"/>
                <a:cs typeface="Calibri" pitchFamily="34" charset="-120"/>
              </a:rPr>
              <a:t>En esta subunidad veremos cómo detectar y tratar las excepciones que pueden surgir al acceder a ficheros, para que nuestro programa sea robusto y capaz de manejar situaciones inesperadas con elegancia.</a:t>
            </a:r>
            <a:endParaRPr lang="en-US" sz="1500" dirty="0"/>
          </a:p>
        </p:txBody>
      </p:sp>
      <p:sp>
        <p:nvSpPr>
          <p:cNvPr id="4" name="Shape 2"/>
          <p:cNvSpPr/>
          <p:nvPr/>
        </p:nvSpPr>
        <p:spPr>
          <a:xfrm>
            <a:off x="5669280" y="1234440"/>
            <a:ext cx="3017520" cy="1371600"/>
          </a:xfrm>
          <a:prstGeom prst="roundRect">
            <a:avLst>
              <a:gd name="adj" fmla="val 5333"/>
            </a:avLst>
          </a:prstGeom>
          <a:solidFill>
            <a:srgbClr val="F3F5F8"/>
          </a:solidFill>
          <a:ln w="12700">
            <a:solidFill>
              <a:srgbClr val="F3F5F8"/>
            </a:solidFill>
            <a:prstDash val="solid"/>
          </a:ln>
        </p:spPr>
      </p:sp>
      <p:sp>
        <p:nvSpPr>
          <p:cNvPr id="5" name="Text 3"/>
          <p:cNvSpPr txBox="1"/>
          <p:nvPr/>
        </p:nvSpPr>
        <p:spPr>
          <a:xfrm>
            <a:off x="5852160" y="1371600"/>
            <a:ext cx="2651760" cy="1097280"/>
          </a:xfrm>
          <a:prstGeom prst="rect">
            <a:avLst/>
          </a:prstGeom>
          <a:noFill/>
          <a:ln/>
        </p:spPr>
        <p:txBody>
          <a:bodyPr wrap="square" lIns="0" tIns="0" rIns="0" bIns="0" rtlCol="0" anchor="t"/>
          <a:lstStyle/>
          <a:p>
            <a:pPr indent="0" marL="0">
              <a:buNone/>
            </a:pPr>
            <a:r>
              <a:rPr lang="en-US" sz="1300" b="1" dirty="0">
                <a:solidFill>
                  <a:srgbClr val="2A9D8F"/>
                </a:solidFill>
                <a:latin typeface="Calibri" pitchFamily="34" charset="0"/>
                <a:ea typeface="Calibri" pitchFamily="34" charset="-122"/>
                <a:cs typeface="Calibri" pitchFamily="34" charset="-120"/>
              </a:rPr>
              <a:t>Lo que esperamos</a:t>
            </a:r>
            <a:endParaRPr lang="en-US" sz="1300" dirty="0"/>
          </a:p>
          <a:p>
            <a:pPr indent="0" marL="0">
              <a:buNone/>
            </a:pPr>
            <a:r>
              <a:rPr lang="en-US" sz="1300" dirty="0">
                <a:solidFill>
                  <a:srgbClr val="1F2937"/>
                </a:solidFill>
                <a:latin typeface="Calibri" pitchFamily="34" charset="0"/>
                <a:ea typeface="Calibri" pitchFamily="34" charset="-122"/>
                <a:cs typeface="Calibri" pitchFamily="34" charset="-120"/>
              </a:rPr>
              <a:t>Abrir el fichero → leer o escribir → cerrar</a:t>
            </a:r>
            <a:endParaRPr lang="en-US" sz="1300" dirty="0"/>
          </a:p>
        </p:txBody>
      </p:sp>
      <p:sp>
        <p:nvSpPr>
          <p:cNvPr id="6" name="Shape 4"/>
          <p:cNvSpPr/>
          <p:nvPr/>
        </p:nvSpPr>
        <p:spPr>
          <a:xfrm>
            <a:off x="5669280" y="2834640"/>
            <a:ext cx="3017520" cy="1737360"/>
          </a:xfrm>
          <a:prstGeom prst="roundRect">
            <a:avLst>
              <a:gd name="adj" fmla="val 4211"/>
            </a:avLst>
          </a:prstGeom>
          <a:solidFill>
            <a:srgbClr val="FDF1E1"/>
          </a:solidFill>
          <a:ln w="12700">
            <a:solidFill>
              <a:srgbClr val="FDF1E1"/>
            </a:solidFill>
            <a:prstDash val="solid"/>
          </a:ln>
        </p:spPr>
      </p:sp>
      <p:sp>
        <p:nvSpPr>
          <p:cNvPr id="7" name="Text 5"/>
          <p:cNvSpPr txBox="1"/>
          <p:nvPr/>
        </p:nvSpPr>
        <p:spPr>
          <a:xfrm>
            <a:off x="5852160" y="2971800"/>
            <a:ext cx="2651760" cy="1463040"/>
          </a:xfrm>
          <a:prstGeom prst="rect">
            <a:avLst/>
          </a:prstGeom>
          <a:noFill/>
          <a:ln/>
        </p:spPr>
        <p:txBody>
          <a:bodyPr wrap="square" lIns="0" tIns="0" rIns="0" bIns="0" rtlCol="0" anchor="t"/>
          <a:lstStyle/>
          <a:p>
            <a:pPr indent="0" marL="0">
              <a:buNone/>
            </a:pPr>
            <a:r>
              <a:rPr lang="en-US" sz="1300" b="1" dirty="0">
                <a:solidFill>
                  <a:srgbClr val="B86E0F"/>
                </a:solidFill>
                <a:latin typeface="Calibri" pitchFamily="34" charset="0"/>
                <a:ea typeface="Calibri" pitchFamily="34" charset="-122"/>
                <a:cs typeface="Calibri" pitchFamily="34" charset="-120"/>
              </a:rPr>
              <a:t>Lo que a veces ocurre</a:t>
            </a:r>
            <a:endParaRPr lang="en-US" sz="1300" dirty="0"/>
          </a:p>
          <a:p>
            <a:pPr indent="0" marL="0">
              <a:buNone/>
            </a:pPr>
            <a:r>
              <a:rPr lang="en-US" sz="1300" dirty="0">
                <a:solidFill>
                  <a:srgbClr val="1F2937"/>
                </a:solidFill>
                <a:latin typeface="Calibri" pitchFamily="34" charset="0"/>
                <a:ea typeface="Calibri" pitchFamily="34" charset="-122"/>
                <a:cs typeface="Calibri" pitchFamily="34" charset="-120"/>
              </a:rPr>
              <a:t>El fichero no existe, no tenemos permisos, falla la lectura… y el sistema lanza una excepción.</a:t>
            </a:r>
            <a:endParaRPr lang="en-US" sz="1300" dirty="0"/>
          </a:p>
        </p:txBody>
      </p:sp>
      <p:sp>
        <p:nvSpPr>
          <p:cNvPr id="8" name="Text 6"/>
          <p:cNvSpPr txBox="1"/>
          <p:nvPr/>
        </p:nvSpPr>
        <p:spPr>
          <a:xfrm>
            <a:off x="8412480" y="4754880"/>
            <a:ext cx="36576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Primer paso: detectar la excepción</a:t>
            </a:r>
            <a:endParaRPr lang="en-US" sz="3000" dirty="0"/>
          </a:p>
        </p:txBody>
      </p:sp>
      <p:sp>
        <p:nvSpPr>
          <p:cNvPr id="3" name="Text 1"/>
          <p:cNvSpPr txBox="1"/>
          <p:nvPr/>
        </p:nvSpPr>
        <p:spPr>
          <a:xfrm>
            <a:off x="457200" y="1188720"/>
            <a:ext cx="4389120" cy="3474720"/>
          </a:xfrm>
          <a:prstGeom prst="rect">
            <a:avLst/>
          </a:prstGeom>
          <a:noFill/>
          <a:ln/>
        </p:spPr>
        <p:txBody>
          <a:bodyPr wrap="square" lIns="0" tIns="0" rIns="0" bIns="0" rtlCol="0" anchor="t"/>
          <a:lstStyle/>
          <a:p>
            <a:pPr indent="0" marL="0">
              <a:spcAft>
                <a:spcPts val="800"/>
              </a:spcAft>
              <a:buNone/>
            </a:pPr>
            <a:r>
              <a:rPr lang="en-US" sz="1400" dirty="0">
                <a:solidFill>
                  <a:srgbClr val="1F2937"/>
                </a:solidFill>
                <a:latin typeface="Calibri" pitchFamily="34" charset="0"/>
                <a:ea typeface="Calibri" pitchFamily="34" charset="-122"/>
                <a:cs typeface="Calibri" pitchFamily="34" charset="-120"/>
              </a:rPr>
              <a:t>La detección de excepciones es un proceso fundamental en programación. Cuando se produce un error durante una operación —por ejemplo, al intentar leer o escribir en un fichero— el sistema genera una excepción.</a:t>
            </a:r>
            <a:endParaRPr lang="en-US" sz="1400" dirty="0"/>
          </a:p>
          <a:p>
            <a:pPr indent="0" marL="0">
              <a:spcAft>
                <a:spcPts val="800"/>
              </a:spcAft>
              <a:buNone/>
            </a:pPr>
            <a:r>
              <a:rPr lang="en-US" sz="1400" dirty="0">
                <a:solidFill>
                  <a:srgbClr val="1F2937"/>
                </a:solidFill>
                <a:latin typeface="Calibri" pitchFamily="34" charset="0"/>
                <a:ea typeface="Calibri" pitchFamily="34" charset="-122"/>
                <a:cs typeface="Calibri" pitchFamily="34" charset="-120"/>
              </a:rPr>
              <a:t>Identificarlas es importante porque nos permite tomar medidas adecuadas y evitar que el programa se bloquee o termine de golpe («crashee»).</a:t>
            </a:r>
            <a:endParaRPr lang="en-US" sz="1400" dirty="0"/>
          </a:p>
          <a:p>
            <a:pPr indent="0" marL="0">
              <a:spcAft>
                <a:spcPts val="800"/>
              </a:spcAft>
              <a:buNone/>
            </a:pPr>
            <a:r>
              <a:rPr lang="en-US" sz="1400" dirty="0">
                <a:solidFill>
                  <a:srgbClr val="1F2937"/>
                </a:solidFill>
                <a:latin typeface="Calibri" pitchFamily="34" charset="0"/>
                <a:ea typeface="Calibri" pitchFamily="34" charset="-122"/>
                <a:cs typeface="Calibri" pitchFamily="34" charset="-120"/>
              </a:rPr>
              <a:t>En Python, por ejemplo, se usan los bloques </a:t>
            </a:r>
            <a:pPr indent="0" marL="0">
              <a:spcAft>
                <a:spcPts val="800"/>
              </a:spcAft>
              <a:buNone/>
            </a:pPr>
            <a:r>
              <a:rPr lang="en-US" sz="1400" b="1" dirty="0">
                <a:solidFill>
                  <a:srgbClr val="1F2937"/>
                </a:solidFill>
                <a:latin typeface="Courier New" pitchFamily="34" charset="0"/>
                <a:ea typeface="Courier New" pitchFamily="34" charset="-122"/>
                <a:cs typeface="Courier New" pitchFamily="34" charset="-120"/>
              </a:rPr>
              <a:t>try</a:t>
            </a:r>
            <a:pPr indent="0" marL="0">
              <a:spcAft>
                <a:spcPts val="800"/>
              </a:spcAft>
              <a:buNone/>
            </a:pPr>
            <a:r>
              <a:rPr lang="en-US" sz="1400" dirty="0">
                <a:solidFill>
                  <a:srgbClr val="1F2937"/>
                </a:solidFill>
                <a:latin typeface="Calibri" pitchFamily="34" charset="0"/>
                <a:ea typeface="Calibri" pitchFamily="34" charset="-122"/>
                <a:cs typeface="Calibri" pitchFamily="34" charset="-120"/>
              </a:rPr>
              <a:t> y </a:t>
            </a:r>
            <a:pPr indent="0" marL="0">
              <a:spcAft>
                <a:spcPts val="800"/>
              </a:spcAft>
              <a:buNone/>
            </a:pPr>
            <a:r>
              <a:rPr lang="en-US" sz="1400" b="1" dirty="0">
                <a:solidFill>
                  <a:srgbClr val="1F2937"/>
                </a:solidFill>
                <a:latin typeface="Courier New" pitchFamily="34" charset="0"/>
                <a:ea typeface="Courier New" pitchFamily="34" charset="-122"/>
                <a:cs typeface="Courier New" pitchFamily="34" charset="-120"/>
              </a:rPr>
              <a:t>except</a:t>
            </a:r>
            <a:pPr indent="0" marL="0">
              <a:spcAft>
                <a:spcPts val="800"/>
              </a:spcAft>
              <a:buNone/>
            </a:pPr>
            <a:r>
              <a:rPr lang="en-US" sz="1400" dirty="0">
                <a:solidFill>
                  <a:srgbClr val="1F2937"/>
                </a:solidFill>
                <a:latin typeface="Calibri" pitchFamily="34" charset="0"/>
                <a:ea typeface="Calibri" pitchFamily="34" charset="-122"/>
                <a:cs typeface="Calibri" pitchFamily="34" charset="-120"/>
              </a:rPr>
              <a:t>: dentro de try va la operación que puede fallar y, si falla, Python salta al except.</a:t>
            </a:r>
            <a:endParaRPr lang="en-US" sz="1400" dirty="0"/>
          </a:p>
        </p:txBody>
      </p:sp>
      <p:sp>
        <p:nvSpPr>
          <p:cNvPr id="4" name="Shape 2"/>
          <p:cNvSpPr/>
          <p:nvPr/>
        </p:nvSpPr>
        <p:spPr>
          <a:xfrm>
            <a:off x="5120640" y="1234440"/>
            <a:ext cx="3566160" cy="2651760"/>
          </a:xfrm>
          <a:prstGeom prst="roundRect">
            <a:avLst>
              <a:gd name="adj" fmla="val 2759"/>
            </a:avLst>
          </a:prstGeom>
          <a:solidFill>
            <a:srgbClr val="232B3A"/>
          </a:solidFill>
          <a:ln w="12700">
            <a:solidFill>
              <a:srgbClr val="232B3A"/>
            </a:solidFill>
            <a:prstDash val="solid"/>
          </a:ln>
        </p:spPr>
      </p:sp>
      <p:sp>
        <p:nvSpPr>
          <p:cNvPr id="5" name="Text 3"/>
          <p:cNvSpPr txBox="1"/>
          <p:nvPr/>
        </p:nvSpPr>
        <p:spPr>
          <a:xfrm>
            <a:off x="5303520" y="1371600"/>
            <a:ext cx="3200400" cy="2377440"/>
          </a:xfrm>
          <a:prstGeom prst="rect">
            <a:avLst/>
          </a:prstGeom>
          <a:noFill/>
          <a:ln/>
        </p:spPr>
        <p:txBody>
          <a:bodyPr wrap="square" lIns="0" tIns="0" rIns="0" bIns="0" rtlCol="0" anchor="t"/>
          <a:lstStyle/>
          <a:p>
            <a:pPr indent="0" marL="0">
              <a:buNone/>
            </a:pPr>
            <a:r>
              <a:rPr lang="en-US" sz="1200" dirty="0">
                <a:solidFill>
                  <a:srgbClr val="8B95A7"/>
                </a:solidFill>
                <a:latin typeface="Courier New" pitchFamily="34" charset="0"/>
                <a:ea typeface="Courier New" pitchFamily="34" charset="-122"/>
                <a:cs typeface="Courier New" pitchFamily="34" charset="-120"/>
              </a:rPr>
              <a:t># Operación que puede fallar</a:t>
            </a:r>
            <a:endParaRPr lang="en-US" sz="1200" dirty="0"/>
          </a:p>
          <a:p>
            <a:pPr indent="0" marL="0">
              <a:buNone/>
            </a:pPr>
            <a:r>
              <a:rPr lang="en-US" sz="1200" dirty="0">
                <a:solidFill>
                  <a:srgbClr val="F2A541"/>
                </a:solidFill>
                <a:latin typeface="Courier New" pitchFamily="34" charset="0"/>
                <a:ea typeface="Courier New" pitchFamily="34" charset="-122"/>
                <a:cs typeface="Courier New" pitchFamily="34" charset="-120"/>
              </a:rPr>
              <a:t>try:</a:t>
            </a:r>
            <a:endParaRPr lang="en-US" sz="1200" dirty="0"/>
          </a:p>
          <a:p>
            <a:pPr indent="0" marL="0">
              <a:buNone/>
            </a:pPr>
            <a:r>
              <a:rPr lang="en-US" sz="1200" dirty="0">
                <a:solidFill>
                  <a:srgbClr val="E6E9EF"/>
                </a:solidFill>
                <a:latin typeface="Courier New" pitchFamily="34" charset="0"/>
                <a:ea typeface="Courier New" pitchFamily="34" charset="-122"/>
                <a:cs typeface="Courier New" pitchFamily="34" charset="-120"/>
              </a:rPr>
              <a:t>    f = open("datos.txt")</a:t>
            </a:r>
            <a:endParaRPr lang="en-US" sz="1200" dirty="0"/>
          </a:p>
          <a:p>
            <a:pPr indent="0" marL="0">
              <a:buNone/>
            </a:pPr>
            <a:r>
              <a:rPr lang="en-US" sz="1200" dirty="0">
                <a:solidFill>
                  <a:srgbClr val="E6E9EF"/>
                </a:solidFill>
                <a:latin typeface="Courier New" pitchFamily="34" charset="0"/>
                <a:ea typeface="Courier New" pitchFamily="34" charset="-122"/>
                <a:cs typeface="Courier New" pitchFamily="34" charset="-120"/>
              </a:rPr>
              <a:t>    contenido = f.read()</a:t>
            </a:r>
            <a:endParaRPr lang="en-US" sz="1200" dirty="0"/>
          </a:p>
          <a:p>
            <a:pPr indent="0" marL="0">
              <a:buNone/>
            </a:pPr>
            <a:endParaRPr lang="en-US" sz="1200" dirty="0"/>
          </a:p>
          <a:p>
            <a:pPr indent="0" marL="0">
              <a:buNone/>
            </a:pPr>
            <a:r>
              <a:rPr lang="en-US" sz="1200" dirty="0">
                <a:solidFill>
                  <a:srgbClr val="8B95A7"/>
                </a:solidFill>
                <a:latin typeface="Courier New" pitchFamily="34" charset="0"/>
                <a:ea typeface="Courier New" pitchFamily="34" charset="-122"/>
                <a:cs typeface="Courier New" pitchFamily="34" charset="-120"/>
              </a:rPr>
              <a:t># Aquí llegamos solo si hubo error</a:t>
            </a:r>
            <a:endParaRPr lang="en-US" sz="1200" dirty="0"/>
          </a:p>
          <a:p>
            <a:pPr indent="0" marL="0">
              <a:buNone/>
            </a:pPr>
            <a:r>
              <a:rPr lang="en-US" sz="1200" dirty="0">
                <a:solidFill>
                  <a:srgbClr val="F2A541"/>
                </a:solidFill>
                <a:latin typeface="Courier New" pitchFamily="34" charset="0"/>
                <a:ea typeface="Courier New" pitchFamily="34" charset="-122"/>
                <a:cs typeface="Courier New" pitchFamily="34" charset="-120"/>
              </a:rPr>
              <a:t>except Exception as e:</a:t>
            </a:r>
            <a:endParaRPr lang="en-US" sz="1200" dirty="0"/>
          </a:p>
          <a:p>
            <a:pPr indent="0" marL="0">
              <a:buNone/>
            </a:pPr>
            <a:r>
              <a:rPr lang="en-US" sz="1200" dirty="0">
                <a:solidFill>
                  <a:srgbClr val="E6E9EF"/>
                </a:solidFill>
                <a:latin typeface="Courier New" pitchFamily="34" charset="0"/>
                <a:ea typeface="Courier New" pitchFamily="34" charset="-122"/>
                <a:cs typeface="Courier New" pitchFamily="34" charset="-120"/>
              </a:rPr>
              <a:t>    print("Error:", e)</a:t>
            </a:r>
            <a:endParaRPr lang="en-US" sz="1200" dirty="0"/>
          </a:p>
        </p:txBody>
      </p:sp>
      <p:sp>
        <p:nvSpPr>
          <p:cNvPr id="6" name="Text 4"/>
          <p:cNvSpPr txBox="1"/>
          <p:nvPr/>
        </p:nvSpPr>
        <p:spPr>
          <a:xfrm>
            <a:off x="5120640" y="4023360"/>
            <a:ext cx="3566160" cy="457200"/>
          </a:xfrm>
          <a:prstGeom prst="rect">
            <a:avLst/>
          </a:prstGeom>
          <a:noFill/>
          <a:ln/>
        </p:spPr>
        <p:txBody>
          <a:bodyPr wrap="square" lIns="0" tIns="0" rIns="0" bIns="0" rtlCol="0" anchor="ctr"/>
          <a:lstStyle/>
          <a:p>
            <a:pPr indent="0" marL="0">
              <a:buNone/>
            </a:pPr>
            <a:r>
              <a:rPr lang="en-US" sz="1200" i="1" dirty="0">
                <a:solidFill>
                  <a:srgbClr val="5B6472"/>
                </a:solidFill>
                <a:latin typeface="Calibri" pitchFamily="34" charset="0"/>
                <a:ea typeface="Calibri" pitchFamily="34" charset="-122"/>
                <a:cs typeface="Calibri" pitchFamily="34" charset="-120"/>
              </a:rPr>
              <a:t>El programa no se detiene: la excepción queda «capturada».</a:t>
            </a:r>
            <a:endParaRPr lang="en-US" sz="1200" dirty="0"/>
          </a:p>
        </p:txBody>
      </p:sp>
      <p:sp>
        <p:nvSpPr>
          <p:cNvPr id="7" name="Text 5"/>
          <p:cNvSpPr txBox="1"/>
          <p:nvPr/>
        </p:nvSpPr>
        <p:spPr>
          <a:xfrm>
            <a:off x="8412480" y="4754880"/>
            <a:ext cx="36576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Segundo paso: decidir cómo reaccionar</a:t>
            </a:r>
            <a:endParaRPr lang="en-US" sz="3000" dirty="0"/>
          </a:p>
        </p:txBody>
      </p:sp>
      <p:sp>
        <p:nvSpPr>
          <p:cNvPr id="3" name="Text 1"/>
          <p:cNvSpPr txBox="1"/>
          <p:nvPr/>
        </p:nvSpPr>
        <p:spPr>
          <a:xfrm>
            <a:off x="457200" y="1097280"/>
            <a:ext cx="8229600" cy="822960"/>
          </a:xfrm>
          <a:prstGeom prst="rect">
            <a:avLst/>
          </a:prstGeom>
          <a:noFill/>
          <a:ln/>
        </p:spPr>
        <p:txBody>
          <a:bodyPr wrap="square" lIns="0" tIns="0" rIns="0" bIns="0" rtlCol="0" anchor="t"/>
          <a:lstStyle/>
          <a:p>
            <a:pPr indent="0" marL="0">
              <a:spcAft>
                <a:spcPts val="800"/>
              </a:spcAft>
              <a:buNone/>
            </a:pPr>
            <a:r>
              <a:rPr lang="en-US" sz="1500" dirty="0">
                <a:solidFill>
                  <a:srgbClr val="1F2937"/>
                </a:solidFill>
                <a:latin typeface="Calibri" pitchFamily="34" charset="0"/>
                <a:ea typeface="Calibri" pitchFamily="34" charset="-122"/>
                <a:cs typeface="Calibri" pitchFamily="34" charset="-120"/>
              </a:rPr>
              <a:t>El tratamiento de excepciones es otro aspecto crucial del manejo de ficheros. Una vez identificada una excepción, el programa tiene que saber cómo responder. Según la situación, puede hacer una de estas tres cosas:</a:t>
            </a:r>
            <a:endParaRPr lang="en-US" sz="1500" dirty="0"/>
          </a:p>
        </p:txBody>
      </p:sp>
      <p:sp>
        <p:nvSpPr>
          <p:cNvPr id="4" name="Shape 2"/>
          <p:cNvSpPr/>
          <p:nvPr/>
        </p:nvSpPr>
        <p:spPr>
          <a:xfrm>
            <a:off x="457200" y="2103120"/>
            <a:ext cx="2606040" cy="2377440"/>
          </a:xfrm>
          <a:prstGeom prst="roundRect">
            <a:avLst>
              <a:gd name="adj" fmla="val 3077"/>
            </a:avLst>
          </a:prstGeom>
          <a:solidFill>
            <a:srgbClr val="F3F5F8"/>
          </a:solidFill>
          <a:ln w="12700">
            <a:solidFill>
              <a:srgbClr val="F3F5F8"/>
            </a:solidFill>
            <a:prstDash val="solid"/>
          </a:ln>
        </p:spPr>
      </p:sp>
      <p:sp>
        <p:nvSpPr>
          <p:cNvPr id="5" name="Shape 3"/>
          <p:cNvSpPr/>
          <p:nvPr/>
        </p:nvSpPr>
        <p:spPr>
          <a:xfrm>
            <a:off x="640080" y="2286000"/>
            <a:ext cx="365760" cy="365760"/>
          </a:xfrm>
          <a:prstGeom prst="ellipse">
            <a:avLst/>
          </a:prstGeom>
          <a:solidFill>
            <a:srgbClr val="2A9D8F"/>
          </a:solidFill>
          <a:ln w="12700">
            <a:solidFill>
              <a:srgbClr val="2A9D8F"/>
            </a:solidFill>
            <a:prstDash val="solid"/>
          </a:ln>
        </p:spPr>
      </p:sp>
      <p:sp>
        <p:nvSpPr>
          <p:cNvPr id="6" name="Text 4"/>
          <p:cNvSpPr txBox="1"/>
          <p:nvPr/>
        </p:nvSpPr>
        <p:spPr>
          <a:xfrm>
            <a:off x="1143000" y="2286000"/>
            <a:ext cx="1783080" cy="36576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Informar al usuario</a:t>
            </a:r>
            <a:endParaRPr lang="en-US" sz="1400" dirty="0"/>
          </a:p>
        </p:txBody>
      </p:sp>
      <p:sp>
        <p:nvSpPr>
          <p:cNvPr id="7" name="Text 5"/>
          <p:cNvSpPr txBox="1"/>
          <p:nvPr/>
        </p:nvSpPr>
        <p:spPr>
          <a:xfrm>
            <a:off x="640080" y="2788920"/>
            <a:ext cx="2240280" cy="15544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Mostrar un mensaje de error amigable, que explique qué ha pasado sin asustar ni confundir a quien usa el programa.</a:t>
            </a:r>
            <a:endParaRPr lang="en-US" sz="1400" dirty="0"/>
          </a:p>
        </p:txBody>
      </p:sp>
      <p:sp>
        <p:nvSpPr>
          <p:cNvPr id="8" name="Shape 6"/>
          <p:cNvSpPr/>
          <p:nvPr/>
        </p:nvSpPr>
        <p:spPr>
          <a:xfrm>
            <a:off x="3268980" y="2103120"/>
            <a:ext cx="2606040" cy="2377440"/>
          </a:xfrm>
          <a:prstGeom prst="roundRect">
            <a:avLst>
              <a:gd name="adj" fmla="val 3077"/>
            </a:avLst>
          </a:prstGeom>
          <a:solidFill>
            <a:srgbClr val="F3F5F8"/>
          </a:solidFill>
          <a:ln w="12700">
            <a:solidFill>
              <a:srgbClr val="F3F5F8"/>
            </a:solidFill>
            <a:prstDash val="solid"/>
          </a:ln>
        </p:spPr>
      </p:sp>
      <p:sp>
        <p:nvSpPr>
          <p:cNvPr id="9" name="Shape 7"/>
          <p:cNvSpPr/>
          <p:nvPr/>
        </p:nvSpPr>
        <p:spPr>
          <a:xfrm>
            <a:off x="3451860" y="2286000"/>
            <a:ext cx="365760" cy="365760"/>
          </a:xfrm>
          <a:prstGeom prst="ellipse">
            <a:avLst/>
          </a:prstGeom>
          <a:solidFill>
            <a:srgbClr val="F2A541"/>
          </a:solidFill>
          <a:ln w="12700">
            <a:solidFill>
              <a:srgbClr val="F2A541"/>
            </a:solidFill>
            <a:prstDash val="solid"/>
          </a:ln>
        </p:spPr>
      </p:sp>
      <p:sp>
        <p:nvSpPr>
          <p:cNvPr id="10" name="Text 8"/>
          <p:cNvSpPr txBox="1"/>
          <p:nvPr/>
        </p:nvSpPr>
        <p:spPr>
          <a:xfrm>
            <a:off x="3954780" y="2286000"/>
            <a:ext cx="1783080" cy="36576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Recuperarse</a:t>
            </a:r>
            <a:endParaRPr lang="en-US" sz="1400" dirty="0"/>
          </a:p>
        </p:txBody>
      </p:sp>
      <p:sp>
        <p:nvSpPr>
          <p:cNvPr id="11" name="Text 9"/>
          <p:cNvSpPr txBox="1"/>
          <p:nvPr/>
        </p:nvSpPr>
        <p:spPr>
          <a:xfrm>
            <a:off x="3451860" y="2788920"/>
            <a:ext cx="2240280" cy="15544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Intentar resolver la situación y continuar: por ejemplo, volver a intentarlo o usar otra alternativa.</a:t>
            </a:r>
            <a:endParaRPr lang="en-US" sz="1400" dirty="0"/>
          </a:p>
        </p:txBody>
      </p:sp>
      <p:sp>
        <p:nvSpPr>
          <p:cNvPr id="12" name="Shape 10"/>
          <p:cNvSpPr/>
          <p:nvPr/>
        </p:nvSpPr>
        <p:spPr>
          <a:xfrm>
            <a:off x="6080760" y="2103120"/>
            <a:ext cx="2606040" cy="2377440"/>
          </a:xfrm>
          <a:prstGeom prst="roundRect">
            <a:avLst>
              <a:gd name="adj" fmla="val 3077"/>
            </a:avLst>
          </a:prstGeom>
          <a:solidFill>
            <a:srgbClr val="F3F5F8"/>
          </a:solidFill>
          <a:ln w="12700">
            <a:solidFill>
              <a:srgbClr val="F3F5F8"/>
            </a:solidFill>
            <a:prstDash val="solid"/>
          </a:ln>
        </p:spPr>
      </p:sp>
      <p:sp>
        <p:nvSpPr>
          <p:cNvPr id="13" name="Shape 11"/>
          <p:cNvSpPr/>
          <p:nvPr/>
        </p:nvSpPr>
        <p:spPr>
          <a:xfrm>
            <a:off x="6263640" y="2286000"/>
            <a:ext cx="365760" cy="365760"/>
          </a:xfrm>
          <a:prstGeom prst="ellipse">
            <a:avLst/>
          </a:prstGeom>
          <a:solidFill>
            <a:srgbClr val="D1495B"/>
          </a:solidFill>
          <a:ln w="12700">
            <a:solidFill>
              <a:srgbClr val="D1495B"/>
            </a:solidFill>
            <a:prstDash val="solid"/>
          </a:ln>
        </p:spPr>
      </p:sp>
      <p:sp>
        <p:nvSpPr>
          <p:cNvPr id="14" name="Text 12"/>
          <p:cNvSpPr txBox="1"/>
          <p:nvPr/>
        </p:nvSpPr>
        <p:spPr>
          <a:xfrm>
            <a:off x="6766560" y="2286000"/>
            <a:ext cx="1783080" cy="36576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Cerrar con seguridad</a:t>
            </a:r>
            <a:endParaRPr lang="en-US" sz="1400" dirty="0"/>
          </a:p>
        </p:txBody>
      </p:sp>
      <p:sp>
        <p:nvSpPr>
          <p:cNvPr id="15" name="Text 13"/>
          <p:cNvSpPr txBox="1"/>
          <p:nvPr/>
        </p:nvSpPr>
        <p:spPr>
          <a:xfrm>
            <a:off x="6263640" y="2788920"/>
            <a:ext cx="2240280" cy="15544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Si no es posible seguir, terminar el programa de manera controlada, sin dejar las cosas a medias.</a:t>
            </a:r>
            <a:endParaRPr lang="en-US" sz="1400" dirty="0"/>
          </a:p>
        </p:txBody>
      </p:sp>
      <p:sp>
        <p:nvSpPr>
          <p:cNvPr id="16" name="Text 14"/>
          <p:cNvSpPr txBox="1"/>
          <p:nvPr/>
        </p:nvSpPr>
        <p:spPr>
          <a:xfrm>
            <a:off x="8412480" y="4754880"/>
            <a:ext cx="36576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El bloque finally: lo que siempre se ejecuta</a:t>
            </a:r>
            <a:endParaRPr lang="en-US" sz="3000" dirty="0"/>
          </a:p>
        </p:txBody>
      </p:sp>
      <p:sp>
        <p:nvSpPr>
          <p:cNvPr id="3" name="Text 1"/>
          <p:cNvSpPr txBox="1"/>
          <p:nvPr/>
        </p:nvSpPr>
        <p:spPr>
          <a:xfrm>
            <a:off x="457200" y="1188720"/>
            <a:ext cx="4389120" cy="3474720"/>
          </a:xfrm>
          <a:prstGeom prst="rect">
            <a:avLst/>
          </a:prstGeom>
          <a:noFill/>
          <a:ln/>
        </p:spPr>
        <p:txBody>
          <a:bodyPr wrap="square" lIns="0" tIns="0" rIns="0" bIns="0" rtlCol="0" anchor="t"/>
          <a:lstStyle/>
          <a:p>
            <a:pPr indent="0" marL="0">
              <a:spcAft>
                <a:spcPts val="800"/>
              </a:spcAft>
              <a:buNone/>
            </a:pPr>
            <a:r>
              <a:rPr lang="en-US" sz="1400" dirty="0">
                <a:solidFill>
                  <a:srgbClr val="1F2937"/>
                </a:solidFill>
                <a:latin typeface="Calibri" pitchFamily="34" charset="0"/>
                <a:ea typeface="Calibri" pitchFamily="34" charset="-122"/>
                <a:cs typeface="Calibri" pitchFamily="34" charset="-120"/>
              </a:rPr>
              <a:t>En Python los bloques </a:t>
            </a:r>
            <a:pPr indent="0" marL="0">
              <a:spcAft>
                <a:spcPts val="800"/>
              </a:spcAft>
              <a:buNone/>
            </a:pPr>
            <a:r>
              <a:rPr lang="en-US" sz="1400" b="1" dirty="0">
                <a:solidFill>
                  <a:srgbClr val="1F2937"/>
                </a:solidFill>
                <a:latin typeface="Courier New" pitchFamily="34" charset="0"/>
                <a:ea typeface="Courier New" pitchFamily="34" charset="-122"/>
                <a:cs typeface="Courier New" pitchFamily="34" charset="-120"/>
              </a:rPr>
              <a:t>try</a:t>
            </a:r>
            <a:pPr indent="0" marL="0">
              <a:spcAft>
                <a:spcPts val="800"/>
              </a:spcAft>
              <a:buNone/>
            </a:pPr>
            <a:r>
              <a:rPr lang="en-US" sz="1400" dirty="0">
                <a:solidFill>
                  <a:srgbClr val="1F2937"/>
                </a:solidFill>
                <a:latin typeface="Calibri" pitchFamily="34" charset="0"/>
                <a:ea typeface="Calibri" pitchFamily="34" charset="-122"/>
                <a:cs typeface="Calibri" pitchFamily="34" charset="-120"/>
              </a:rPr>
              <a:t> y </a:t>
            </a:r>
            <a:pPr indent="0" marL="0">
              <a:spcAft>
                <a:spcPts val="800"/>
              </a:spcAft>
              <a:buNone/>
            </a:pPr>
            <a:r>
              <a:rPr lang="en-US" sz="1400" b="1" dirty="0">
                <a:solidFill>
                  <a:srgbClr val="1F2937"/>
                </a:solidFill>
                <a:latin typeface="Courier New" pitchFamily="34" charset="0"/>
                <a:ea typeface="Courier New" pitchFamily="34" charset="-122"/>
                <a:cs typeface="Courier New" pitchFamily="34" charset="-120"/>
              </a:rPr>
              <a:t>except</a:t>
            </a:r>
            <a:pPr indent="0" marL="0">
              <a:spcAft>
                <a:spcPts val="800"/>
              </a:spcAft>
              <a:buNone/>
            </a:pPr>
            <a:r>
              <a:rPr lang="en-US" sz="1400" dirty="0">
                <a:solidFill>
                  <a:srgbClr val="1F2937"/>
                </a:solidFill>
                <a:latin typeface="Calibri" pitchFamily="34" charset="0"/>
                <a:ea typeface="Calibri" pitchFamily="34" charset="-122"/>
                <a:cs typeface="Calibri" pitchFamily="34" charset="-120"/>
              </a:rPr>
              <a:t> sirven para tratar las excepciones, pero además existe el bloque </a:t>
            </a:r>
            <a:pPr indent="0" marL="0">
              <a:spcAft>
                <a:spcPts val="800"/>
              </a:spcAft>
              <a:buNone/>
            </a:pPr>
            <a:r>
              <a:rPr lang="en-US" sz="1400" b="1" dirty="0">
                <a:solidFill>
                  <a:srgbClr val="1F2937"/>
                </a:solidFill>
                <a:latin typeface="Courier New" pitchFamily="34" charset="0"/>
                <a:ea typeface="Courier New" pitchFamily="34" charset="-122"/>
                <a:cs typeface="Courier New" pitchFamily="34" charset="-120"/>
              </a:rPr>
              <a:t>finally</a:t>
            </a:r>
            <a:pPr indent="0" marL="0">
              <a:spcAft>
                <a:spcPts val="800"/>
              </a:spcAft>
              <a:buNone/>
            </a:pPr>
            <a:r>
              <a:rPr lang="en-US" sz="1400" dirty="0">
                <a:solidFill>
                  <a:srgbClr val="1F2937"/>
                </a:solidFill>
                <a:latin typeface="Calibri" pitchFamily="34" charset="0"/>
                <a:ea typeface="Calibri" pitchFamily="34" charset="-122"/>
                <a:cs typeface="Calibri" pitchFamily="34" charset="-120"/>
              </a:rPr>
              <a:t>.</a:t>
            </a:r>
            <a:endParaRPr lang="en-US" sz="1400" dirty="0"/>
          </a:p>
          <a:p>
            <a:pPr indent="0" marL="0">
              <a:spcAft>
                <a:spcPts val="800"/>
              </a:spcAft>
              <a:buNone/>
            </a:pPr>
            <a:r>
              <a:rPr lang="en-US" sz="1400" dirty="0">
                <a:solidFill>
                  <a:srgbClr val="1F2937"/>
                </a:solidFill>
                <a:latin typeface="Calibri" pitchFamily="34" charset="0"/>
                <a:ea typeface="Calibri" pitchFamily="34" charset="-122"/>
                <a:cs typeface="Calibri" pitchFamily="34" charset="-120"/>
              </a:rPr>
              <a:t>Su particularidad es que el código que contiene se ejecuta siempre, tanto si se produjo una excepción como si no.</a:t>
            </a:r>
            <a:endParaRPr lang="en-US" sz="1400" dirty="0"/>
          </a:p>
          <a:p>
            <a:pPr indent="0" marL="0">
              <a:spcAft>
                <a:spcPts val="800"/>
              </a:spcAft>
              <a:buNone/>
            </a:pPr>
            <a:r>
              <a:rPr lang="en-US" sz="1400" dirty="0">
                <a:solidFill>
                  <a:srgbClr val="1F2937"/>
                </a:solidFill>
                <a:latin typeface="Calibri" pitchFamily="34" charset="0"/>
                <a:ea typeface="Calibri" pitchFamily="34" charset="-122"/>
                <a:cs typeface="Calibri" pitchFamily="34" charset="-120"/>
              </a:rPr>
              <a:t>Por eso es el lugar ideal para las tareas que no pueden quedarse sin hacer, como cerrar un fichero que se había abierto.</a:t>
            </a:r>
            <a:endParaRPr lang="en-US" sz="1400" dirty="0"/>
          </a:p>
        </p:txBody>
      </p:sp>
      <p:sp>
        <p:nvSpPr>
          <p:cNvPr id="4" name="Shape 2"/>
          <p:cNvSpPr/>
          <p:nvPr/>
        </p:nvSpPr>
        <p:spPr>
          <a:xfrm>
            <a:off x="5120640" y="1234440"/>
            <a:ext cx="3566160" cy="2743200"/>
          </a:xfrm>
          <a:prstGeom prst="roundRect">
            <a:avLst>
              <a:gd name="adj" fmla="val 2667"/>
            </a:avLst>
          </a:prstGeom>
          <a:solidFill>
            <a:srgbClr val="232B3A"/>
          </a:solidFill>
          <a:ln w="12700">
            <a:solidFill>
              <a:srgbClr val="232B3A"/>
            </a:solidFill>
            <a:prstDash val="solid"/>
          </a:ln>
        </p:spPr>
      </p:sp>
      <p:sp>
        <p:nvSpPr>
          <p:cNvPr id="5" name="Text 3"/>
          <p:cNvSpPr txBox="1"/>
          <p:nvPr/>
        </p:nvSpPr>
        <p:spPr>
          <a:xfrm>
            <a:off x="5303520" y="1371600"/>
            <a:ext cx="3200400" cy="2468880"/>
          </a:xfrm>
          <a:prstGeom prst="rect">
            <a:avLst/>
          </a:prstGeom>
          <a:noFill/>
          <a:ln/>
        </p:spPr>
        <p:txBody>
          <a:bodyPr wrap="square" lIns="0" tIns="0" rIns="0" bIns="0" rtlCol="0" anchor="t"/>
          <a:lstStyle/>
          <a:p>
            <a:pPr indent="0" marL="0">
              <a:buNone/>
            </a:pPr>
            <a:r>
              <a:rPr lang="en-US" sz="1200" dirty="0">
                <a:solidFill>
                  <a:srgbClr val="E6E9EF"/>
                </a:solidFill>
                <a:latin typeface="Courier New" pitchFamily="34" charset="0"/>
                <a:ea typeface="Courier New" pitchFamily="34" charset="-122"/>
                <a:cs typeface="Courier New" pitchFamily="34" charset="-120"/>
              </a:rPr>
              <a:t>f = None</a:t>
            </a:r>
            <a:endParaRPr lang="en-US" sz="1200" dirty="0"/>
          </a:p>
          <a:p>
            <a:pPr indent="0" marL="0">
              <a:buNone/>
            </a:pPr>
            <a:r>
              <a:rPr lang="en-US" sz="1200" dirty="0">
                <a:solidFill>
                  <a:srgbClr val="F2A541"/>
                </a:solidFill>
                <a:latin typeface="Courier New" pitchFamily="34" charset="0"/>
                <a:ea typeface="Courier New" pitchFamily="34" charset="-122"/>
                <a:cs typeface="Courier New" pitchFamily="34" charset="-120"/>
              </a:rPr>
              <a:t>try:</a:t>
            </a:r>
            <a:endParaRPr lang="en-US" sz="1200" dirty="0"/>
          </a:p>
          <a:p>
            <a:pPr indent="0" marL="0">
              <a:buNone/>
            </a:pPr>
            <a:r>
              <a:rPr lang="en-US" sz="1200" dirty="0">
                <a:solidFill>
                  <a:srgbClr val="E6E9EF"/>
                </a:solidFill>
                <a:latin typeface="Courier New" pitchFamily="34" charset="0"/>
                <a:ea typeface="Courier New" pitchFamily="34" charset="-122"/>
                <a:cs typeface="Courier New" pitchFamily="34" charset="-120"/>
              </a:rPr>
              <a:t>    f = open("datos.txt")</a:t>
            </a:r>
            <a:endParaRPr lang="en-US" sz="1200" dirty="0"/>
          </a:p>
          <a:p>
            <a:pPr indent="0" marL="0">
              <a:buNone/>
            </a:pPr>
            <a:r>
              <a:rPr lang="en-US" sz="1200" dirty="0">
                <a:solidFill>
                  <a:srgbClr val="E6E9EF"/>
                </a:solidFill>
                <a:latin typeface="Courier New" pitchFamily="34" charset="0"/>
                <a:ea typeface="Courier New" pitchFamily="34" charset="-122"/>
                <a:cs typeface="Courier New" pitchFamily="34" charset="-120"/>
              </a:rPr>
              <a:t>    print(f.read())</a:t>
            </a:r>
            <a:endParaRPr lang="en-US" sz="1200" dirty="0"/>
          </a:p>
          <a:p>
            <a:pPr indent="0" marL="0">
              <a:buNone/>
            </a:pPr>
            <a:r>
              <a:rPr lang="en-US" sz="1200" dirty="0">
                <a:solidFill>
                  <a:srgbClr val="F2A541"/>
                </a:solidFill>
                <a:latin typeface="Courier New" pitchFamily="34" charset="0"/>
                <a:ea typeface="Courier New" pitchFamily="34" charset="-122"/>
                <a:cs typeface="Courier New" pitchFamily="34" charset="-120"/>
              </a:rPr>
              <a:t>except FileNotFoundError:</a:t>
            </a:r>
            <a:endParaRPr lang="en-US" sz="1200" dirty="0"/>
          </a:p>
          <a:p>
            <a:pPr indent="0" marL="0">
              <a:buNone/>
            </a:pPr>
            <a:r>
              <a:rPr lang="en-US" sz="1200" dirty="0">
                <a:solidFill>
                  <a:srgbClr val="E6E9EF"/>
                </a:solidFill>
                <a:latin typeface="Courier New" pitchFamily="34" charset="0"/>
                <a:ea typeface="Courier New" pitchFamily="34" charset="-122"/>
                <a:cs typeface="Courier New" pitchFamily="34" charset="-120"/>
              </a:rPr>
              <a:t>    print("El fichero no existe")</a:t>
            </a:r>
            <a:endParaRPr lang="en-US" sz="1200" dirty="0"/>
          </a:p>
          <a:p>
            <a:pPr indent="0" marL="0">
              <a:buNone/>
            </a:pPr>
            <a:r>
              <a:rPr lang="en-US" sz="1200" dirty="0">
                <a:solidFill>
                  <a:srgbClr val="F2A541"/>
                </a:solidFill>
                <a:latin typeface="Courier New" pitchFamily="34" charset="0"/>
                <a:ea typeface="Courier New" pitchFamily="34" charset="-122"/>
                <a:cs typeface="Courier New" pitchFamily="34" charset="-120"/>
              </a:rPr>
              <a:t>finally:</a:t>
            </a:r>
            <a:endParaRPr lang="en-US" sz="1200" dirty="0"/>
          </a:p>
          <a:p>
            <a:pPr indent="0" marL="0">
              <a:buNone/>
            </a:pPr>
            <a:r>
              <a:rPr lang="en-US" sz="1200" dirty="0">
                <a:solidFill>
                  <a:srgbClr val="8B95A7"/>
                </a:solidFill>
                <a:latin typeface="Courier New" pitchFamily="34" charset="0"/>
                <a:ea typeface="Courier New" pitchFamily="34" charset="-122"/>
                <a:cs typeface="Courier New" pitchFamily="34" charset="-120"/>
              </a:rPr>
              <a:t>    # Se ejecuta pase lo que pase</a:t>
            </a:r>
            <a:endParaRPr lang="en-US" sz="1200" dirty="0"/>
          </a:p>
          <a:p>
            <a:pPr indent="0" marL="0">
              <a:buNone/>
            </a:pPr>
            <a:r>
              <a:rPr lang="en-US" sz="1200" dirty="0">
                <a:solidFill>
                  <a:srgbClr val="E6E9EF"/>
                </a:solidFill>
                <a:latin typeface="Courier New" pitchFamily="34" charset="0"/>
                <a:ea typeface="Courier New" pitchFamily="34" charset="-122"/>
                <a:cs typeface="Courier New" pitchFamily="34" charset="-120"/>
              </a:rPr>
              <a:t>    if f:</a:t>
            </a:r>
            <a:endParaRPr lang="en-US" sz="1200" dirty="0"/>
          </a:p>
          <a:p>
            <a:pPr indent="0" marL="0">
              <a:buNone/>
            </a:pPr>
            <a:r>
              <a:rPr lang="en-US" sz="1200" dirty="0">
                <a:solidFill>
                  <a:srgbClr val="E6E9EF"/>
                </a:solidFill>
                <a:latin typeface="Courier New" pitchFamily="34" charset="0"/>
                <a:ea typeface="Courier New" pitchFamily="34" charset="-122"/>
                <a:cs typeface="Courier New" pitchFamily="34" charset="-120"/>
              </a:rPr>
              <a:t>        f.close()</a:t>
            </a:r>
            <a:endParaRPr lang="en-US" sz="1200" dirty="0"/>
          </a:p>
        </p:txBody>
      </p:sp>
      <p:sp>
        <p:nvSpPr>
          <p:cNvPr id="6" name="Text 4"/>
          <p:cNvSpPr txBox="1"/>
          <p:nvPr/>
        </p:nvSpPr>
        <p:spPr>
          <a:xfrm>
            <a:off x="8412480" y="4754880"/>
            <a:ext cx="36576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Por qué importa: seguridad y confiabilidad</a:t>
            </a:r>
            <a:endParaRPr lang="en-US" sz="3000" dirty="0"/>
          </a:p>
        </p:txBody>
      </p:sp>
      <p:sp>
        <p:nvSpPr>
          <p:cNvPr id="3" name="Text 1"/>
          <p:cNvSpPr txBox="1"/>
          <p:nvPr/>
        </p:nvSpPr>
        <p:spPr>
          <a:xfrm>
            <a:off x="457200" y="1097280"/>
            <a:ext cx="8229600" cy="822960"/>
          </a:xfrm>
          <a:prstGeom prst="rect">
            <a:avLst/>
          </a:prstGeom>
          <a:noFill/>
          <a:ln/>
        </p:spPr>
        <p:txBody>
          <a:bodyPr wrap="square" lIns="0" tIns="0" rIns="0" bIns="0" rtlCol="0" anchor="t"/>
          <a:lstStyle/>
          <a:p>
            <a:pPr indent="0" marL="0">
              <a:spcAft>
                <a:spcPts val="800"/>
              </a:spcAft>
              <a:buNone/>
            </a:pPr>
            <a:r>
              <a:rPr lang="en-US" sz="1500" dirty="0">
                <a:solidFill>
                  <a:srgbClr val="1F2937"/>
                </a:solidFill>
                <a:latin typeface="Calibri" pitchFamily="34" charset="0"/>
                <a:ea typeface="Calibri" pitchFamily="34" charset="-122"/>
                <a:cs typeface="Calibri" pitchFamily="34" charset="-120"/>
              </a:rPr>
              <a:t>Manejar bien las excepciones al acceder a ficheros es crucial para que el programa sea seguro y fiable. Detectarlas y tratarlas aporta dos beneficios distintos:</a:t>
            </a:r>
            <a:endParaRPr lang="en-US" sz="1500" dirty="0"/>
          </a:p>
        </p:txBody>
      </p:sp>
      <p:sp>
        <p:nvSpPr>
          <p:cNvPr id="4" name="Shape 2"/>
          <p:cNvSpPr/>
          <p:nvPr/>
        </p:nvSpPr>
        <p:spPr>
          <a:xfrm>
            <a:off x="457200" y="2103120"/>
            <a:ext cx="3977640" cy="2377440"/>
          </a:xfrm>
          <a:prstGeom prst="roundRect">
            <a:avLst>
              <a:gd name="adj" fmla="val 3077"/>
            </a:avLst>
          </a:prstGeom>
          <a:solidFill>
            <a:srgbClr val="F3F5F8"/>
          </a:solidFill>
          <a:ln w="12700">
            <a:solidFill>
              <a:srgbClr val="F3F5F8"/>
            </a:solidFill>
            <a:prstDash val="solid"/>
          </a:ln>
        </p:spPr>
      </p:sp>
      <p:sp>
        <p:nvSpPr>
          <p:cNvPr id="5" name="Shape 3"/>
          <p:cNvSpPr/>
          <p:nvPr/>
        </p:nvSpPr>
        <p:spPr>
          <a:xfrm>
            <a:off x="640080" y="2286000"/>
            <a:ext cx="365760" cy="365760"/>
          </a:xfrm>
          <a:prstGeom prst="ellipse">
            <a:avLst/>
          </a:prstGeom>
          <a:solidFill>
            <a:srgbClr val="2A9D8F"/>
          </a:solidFill>
          <a:ln w="12700">
            <a:solidFill>
              <a:srgbClr val="2A9D8F"/>
            </a:solidFill>
            <a:prstDash val="solid"/>
          </a:ln>
        </p:spPr>
      </p:sp>
      <p:sp>
        <p:nvSpPr>
          <p:cNvPr id="6" name="Text 4"/>
          <p:cNvSpPr txBox="1"/>
          <p:nvPr/>
        </p:nvSpPr>
        <p:spPr>
          <a:xfrm>
            <a:off x="1143000" y="2286000"/>
            <a:ext cx="3154680" cy="36576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Protege los datos y el sistema</a:t>
            </a:r>
            <a:endParaRPr lang="en-US" sz="1400" dirty="0"/>
          </a:p>
        </p:txBody>
      </p:sp>
      <p:sp>
        <p:nvSpPr>
          <p:cNvPr id="7" name="Text 5"/>
          <p:cNvSpPr txBox="1"/>
          <p:nvPr/>
        </p:nvSpPr>
        <p:spPr>
          <a:xfrm>
            <a:off x="640080" y="2788920"/>
            <a:ext cx="3611880" cy="15544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Al detectar y tratar las excepciones evitamos situaciones peligrosas, como la pérdida de datos o la corrupción del sistema, que podrían producirse si un error deja una operación con ficheros a medias.</a:t>
            </a:r>
            <a:endParaRPr lang="en-US" sz="1400" dirty="0"/>
          </a:p>
        </p:txBody>
      </p:sp>
      <p:sp>
        <p:nvSpPr>
          <p:cNvPr id="8" name="Shape 6"/>
          <p:cNvSpPr/>
          <p:nvPr/>
        </p:nvSpPr>
        <p:spPr>
          <a:xfrm>
            <a:off x="4709160" y="2103120"/>
            <a:ext cx="3977640" cy="2377440"/>
          </a:xfrm>
          <a:prstGeom prst="roundRect">
            <a:avLst>
              <a:gd name="adj" fmla="val 3077"/>
            </a:avLst>
          </a:prstGeom>
          <a:solidFill>
            <a:srgbClr val="F3F5F8"/>
          </a:solidFill>
          <a:ln w="12700">
            <a:solidFill>
              <a:srgbClr val="F3F5F8"/>
            </a:solidFill>
            <a:prstDash val="solid"/>
          </a:ln>
        </p:spPr>
      </p:sp>
      <p:sp>
        <p:nvSpPr>
          <p:cNvPr id="9" name="Shape 7"/>
          <p:cNvSpPr/>
          <p:nvPr/>
        </p:nvSpPr>
        <p:spPr>
          <a:xfrm>
            <a:off x="4892040" y="2286000"/>
            <a:ext cx="365760" cy="365760"/>
          </a:xfrm>
          <a:prstGeom prst="ellipse">
            <a:avLst/>
          </a:prstGeom>
          <a:solidFill>
            <a:srgbClr val="F2A541"/>
          </a:solidFill>
          <a:ln w="12700">
            <a:solidFill>
              <a:srgbClr val="F2A541"/>
            </a:solidFill>
            <a:prstDash val="solid"/>
          </a:ln>
        </p:spPr>
      </p:sp>
      <p:sp>
        <p:nvSpPr>
          <p:cNvPr id="10" name="Text 8"/>
          <p:cNvSpPr txBox="1"/>
          <p:nvPr/>
        </p:nvSpPr>
        <p:spPr>
          <a:xfrm>
            <a:off x="5394960" y="2286000"/>
            <a:ext cx="3154680" cy="36576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Ayuda a las personas</a:t>
            </a:r>
            <a:endParaRPr lang="en-US" sz="1400" dirty="0"/>
          </a:p>
        </p:txBody>
      </p:sp>
      <p:sp>
        <p:nvSpPr>
          <p:cNvPr id="11" name="Text 9"/>
          <p:cNvSpPr txBox="1"/>
          <p:nvPr/>
        </p:nvSpPr>
        <p:spPr>
          <a:xfrm>
            <a:off x="4892040" y="2788920"/>
            <a:ext cx="3611880" cy="15544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Proporcionar mensajes de error claros y amigables mejora la experiencia del usuario, que entiende qué ha ocurrido, y facilita el diagnóstico de problemas a quien tiene que corregirlos.</a:t>
            </a:r>
            <a:endParaRPr lang="en-US" sz="1400" dirty="0"/>
          </a:p>
        </p:txBody>
      </p:sp>
      <p:sp>
        <p:nvSpPr>
          <p:cNvPr id="12" name="Text 10"/>
          <p:cNvSpPr txBox="1"/>
          <p:nvPr/>
        </p:nvSpPr>
        <p:spPr>
          <a:xfrm>
            <a:off x="8412480" y="4754880"/>
            <a:ext cx="36576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Excepciones frecuentes al trabajar con ficheros</a:t>
            </a:r>
            <a:endParaRPr lang="en-US" sz="3000" dirty="0"/>
          </a:p>
        </p:txBody>
      </p:sp>
      <p:sp>
        <p:nvSpPr>
          <p:cNvPr id="3" name="Text 1"/>
          <p:cNvSpPr txBox="1"/>
          <p:nvPr/>
        </p:nvSpPr>
        <p:spPr>
          <a:xfrm>
            <a:off x="457200" y="1097280"/>
            <a:ext cx="8229600" cy="822960"/>
          </a:xfrm>
          <a:prstGeom prst="rect">
            <a:avLst/>
          </a:prstGeom>
          <a:noFill/>
          <a:ln/>
        </p:spPr>
        <p:txBody>
          <a:bodyPr wrap="square" lIns="0" tIns="0" rIns="0" bIns="0" rtlCol="0" anchor="t"/>
          <a:lstStyle/>
          <a:p>
            <a:pPr indent="0" marL="0">
              <a:spcAft>
                <a:spcPts val="800"/>
              </a:spcAft>
              <a:buNone/>
            </a:pPr>
            <a:r>
              <a:rPr lang="en-US" sz="1500" dirty="0">
                <a:solidFill>
                  <a:srgbClr val="1F2937"/>
                </a:solidFill>
                <a:latin typeface="Calibri" pitchFamily="34" charset="0"/>
                <a:ea typeface="Calibri" pitchFamily="34" charset="-122"/>
                <a:cs typeface="Calibri" pitchFamily="34" charset="-120"/>
              </a:rPr>
              <a:t>En Python hay varios tipos de excepciones que aparecen a menudo al acceder a ficheros. Cada una tiene un propósito específico y surge en situaciones diferentes; conocerlas permite tratar cada caso de la forma adecuada.</a:t>
            </a:r>
            <a:endParaRPr lang="en-US" sz="1500" dirty="0"/>
          </a:p>
        </p:txBody>
      </p:sp>
      <p:sp>
        <p:nvSpPr>
          <p:cNvPr id="4" name="Shape 2"/>
          <p:cNvSpPr/>
          <p:nvPr/>
        </p:nvSpPr>
        <p:spPr>
          <a:xfrm>
            <a:off x="457200" y="2148840"/>
            <a:ext cx="2606040" cy="2377440"/>
          </a:xfrm>
          <a:prstGeom prst="roundRect">
            <a:avLst>
              <a:gd name="adj" fmla="val 3077"/>
            </a:avLst>
          </a:prstGeom>
          <a:solidFill>
            <a:srgbClr val="F3F5F8"/>
          </a:solidFill>
          <a:ln w="12700">
            <a:solidFill>
              <a:srgbClr val="F3F5F8"/>
            </a:solidFill>
            <a:prstDash val="solid"/>
          </a:ln>
        </p:spPr>
      </p:sp>
      <p:sp>
        <p:nvSpPr>
          <p:cNvPr id="5" name="Shape 3"/>
          <p:cNvSpPr/>
          <p:nvPr/>
        </p:nvSpPr>
        <p:spPr>
          <a:xfrm>
            <a:off x="640080" y="2331720"/>
            <a:ext cx="2240280" cy="457200"/>
          </a:xfrm>
          <a:prstGeom prst="roundRect">
            <a:avLst>
              <a:gd name="adj" fmla="val 12000"/>
            </a:avLst>
          </a:prstGeom>
          <a:solidFill>
            <a:srgbClr val="2A9D8F"/>
          </a:solidFill>
          <a:ln w="12700">
            <a:solidFill>
              <a:srgbClr val="2A9D8F"/>
            </a:solidFill>
            <a:prstDash val="solid"/>
          </a:ln>
        </p:spPr>
      </p:sp>
      <p:sp>
        <p:nvSpPr>
          <p:cNvPr id="6" name="Text 4"/>
          <p:cNvSpPr txBox="1"/>
          <p:nvPr/>
        </p:nvSpPr>
        <p:spPr>
          <a:xfrm>
            <a:off x="640080" y="2331720"/>
            <a:ext cx="22402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FileNotFoundError</a:t>
            </a:r>
            <a:endParaRPr lang="en-US" sz="1300" dirty="0"/>
          </a:p>
        </p:txBody>
      </p:sp>
      <p:sp>
        <p:nvSpPr>
          <p:cNvPr id="7" name="Text 5"/>
          <p:cNvSpPr txBox="1"/>
          <p:nvPr/>
        </p:nvSpPr>
        <p:spPr>
          <a:xfrm>
            <a:off x="640080" y="2971800"/>
            <a:ext cx="2240280" cy="14630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Se produce cuando intentamos acceder a un fichero que no existe, por ejemplo porque el nombre o la ruta son incorrectos.</a:t>
            </a:r>
            <a:endParaRPr lang="en-US" sz="1400" dirty="0"/>
          </a:p>
        </p:txBody>
      </p:sp>
      <p:sp>
        <p:nvSpPr>
          <p:cNvPr id="8" name="Shape 6"/>
          <p:cNvSpPr/>
          <p:nvPr/>
        </p:nvSpPr>
        <p:spPr>
          <a:xfrm>
            <a:off x="3268980" y="2148840"/>
            <a:ext cx="2606040" cy="2377440"/>
          </a:xfrm>
          <a:prstGeom prst="roundRect">
            <a:avLst>
              <a:gd name="adj" fmla="val 3077"/>
            </a:avLst>
          </a:prstGeom>
          <a:solidFill>
            <a:srgbClr val="F3F5F8"/>
          </a:solidFill>
          <a:ln w="12700">
            <a:solidFill>
              <a:srgbClr val="F3F5F8"/>
            </a:solidFill>
            <a:prstDash val="solid"/>
          </a:ln>
        </p:spPr>
      </p:sp>
      <p:sp>
        <p:nvSpPr>
          <p:cNvPr id="9" name="Shape 7"/>
          <p:cNvSpPr/>
          <p:nvPr/>
        </p:nvSpPr>
        <p:spPr>
          <a:xfrm>
            <a:off x="3451860" y="2331720"/>
            <a:ext cx="2240280" cy="457200"/>
          </a:xfrm>
          <a:prstGeom prst="roundRect">
            <a:avLst>
              <a:gd name="adj" fmla="val 12000"/>
            </a:avLst>
          </a:prstGeom>
          <a:solidFill>
            <a:srgbClr val="D1495B"/>
          </a:solidFill>
          <a:ln w="12700">
            <a:solidFill>
              <a:srgbClr val="D1495B"/>
            </a:solidFill>
            <a:prstDash val="solid"/>
          </a:ln>
        </p:spPr>
      </p:sp>
      <p:sp>
        <p:nvSpPr>
          <p:cNvPr id="10" name="Text 8"/>
          <p:cNvSpPr txBox="1"/>
          <p:nvPr/>
        </p:nvSpPr>
        <p:spPr>
          <a:xfrm>
            <a:off x="3451860" y="2331720"/>
            <a:ext cx="22402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PermissionError</a:t>
            </a:r>
            <a:endParaRPr lang="en-US" sz="1300" dirty="0"/>
          </a:p>
        </p:txBody>
      </p:sp>
      <p:sp>
        <p:nvSpPr>
          <p:cNvPr id="11" name="Text 9"/>
          <p:cNvSpPr txBox="1"/>
          <p:nvPr/>
        </p:nvSpPr>
        <p:spPr>
          <a:xfrm>
            <a:off x="3451860" y="2971800"/>
            <a:ext cx="2240280" cy="14630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Ocurre cuando no tenemos los permisos necesarios para leer o escribir en el fichero.</a:t>
            </a:r>
            <a:endParaRPr lang="en-US" sz="1400" dirty="0"/>
          </a:p>
        </p:txBody>
      </p:sp>
      <p:sp>
        <p:nvSpPr>
          <p:cNvPr id="12" name="Shape 10"/>
          <p:cNvSpPr/>
          <p:nvPr/>
        </p:nvSpPr>
        <p:spPr>
          <a:xfrm>
            <a:off x="6080760" y="2148840"/>
            <a:ext cx="2606040" cy="2377440"/>
          </a:xfrm>
          <a:prstGeom prst="roundRect">
            <a:avLst>
              <a:gd name="adj" fmla="val 3077"/>
            </a:avLst>
          </a:prstGeom>
          <a:solidFill>
            <a:srgbClr val="F3F5F8"/>
          </a:solidFill>
          <a:ln w="12700">
            <a:solidFill>
              <a:srgbClr val="F3F5F8"/>
            </a:solidFill>
            <a:prstDash val="solid"/>
          </a:ln>
        </p:spPr>
      </p:sp>
      <p:sp>
        <p:nvSpPr>
          <p:cNvPr id="13" name="Shape 11"/>
          <p:cNvSpPr/>
          <p:nvPr/>
        </p:nvSpPr>
        <p:spPr>
          <a:xfrm>
            <a:off x="6263640" y="2331720"/>
            <a:ext cx="2240280" cy="457200"/>
          </a:xfrm>
          <a:prstGeom prst="roundRect">
            <a:avLst>
              <a:gd name="adj" fmla="val 12000"/>
            </a:avLst>
          </a:prstGeom>
          <a:solidFill>
            <a:srgbClr val="F2A541"/>
          </a:solidFill>
          <a:ln w="12700">
            <a:solidFill>
              <a:srgbClr val="F2A541"/>
            </a:solidFill>
            <a:prstDash val="solid"/>
          </a:ln>
        </p:spPr>
      </p:sp>
      <p:sp>
        <p:nvSpPr>
          <p:cNvPr id="14" name="Text 12"/>
          <p:cNvSpPr txBox="1"/>
          <p:nvPr/>
        </p:nvSpPr>
        <p:spPr>
          <a:xfrm>
            <a:off x="6263640" y="2331720"/>
            <a:ext cx="22402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IOError</a:t>
            </a:r>
            <a:endParaRPr lang="en-US" sz="1300" dirty="0"/>
          </a:p>
        </p:txBody>
      </p:sp>
      <p:sp>
        <p:nvSpPr>
          <p:cNvPr id="15" name="Text 13"/>
          <p:cNvSpPr txBox="1"/>
          <p:nvPr/>
        </p:nvSpPr>
        <p:spPr>
          <a:xfrm>
            <a:off x="6263640" y="2971800"/>
            <a:ext cx="2240280" cy="14630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Error general de entrada/salida: indica que algo ha fallado al leer o escribir. (En Python 3 es otro nombre de OSError.)</a:t>
            </a:r>
            <a:endParaRPr lang="en-US" sz="1400" dirty="0"/>
          </a:p>
        </p:txBody>
      </p:sp>
      <p:sp>
        <p:nvSpPr>
          <p:cNvPr id="16" name="Text 14"/>
          <p:cNvSpPr txBox="1"/>
          <p:nvPr/>
        </p:nvSpPr>
        <p:spPr>
          <a:xfrm>
            <a:off x="8412480" y="4754880"/>
            <a:ext cx="36576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Una regla clave: nunca ignorar una excepción</a:t>
            </a:r>
            <a:endParaRPr lang="en-US" sz="3000" dirty="0"/>
          </a:p>
        </p:txBody>
      </p:sp>
      <p:sp>
        <p:nvSpPr>
          <p:cNvPr id="3" name="Text 1"/>
          <p:cNvSpPr txBox="1"/>
          <p:nvPr/>
        </p:nvSpPr>
        <p:spPr>
          <a:xfrm>
            <a:off x="457200" y="1188720"/>
            <a:ext cx="4206240" cy="3474720"/>
          </a:xfrm>
          <a:prstGeom prst="rect">
            <a:avLst/>
          </a:prstGeom>
          <a:noFill/>
          <a:ln/>
        </p:spPr>
        <p:txBody>
          <a:bodyPr wrap="square" lIns="0" tIns="0" rIns="0" bIns="0" rtlCol="0" anchor="t"/>
          <a:lstStyle/>
          <a:p>
            <a:pPr indent="0" marL="0">
              <a:spcAft>
                <a:spcPts val="800"/>
              </a:spcAft>
              <a:buNone/>
            </a:pPr>
            <a:r>
              <a:rPr lang="en-US" sz="1400" dirty="0">
                <a:solidFill>
                  <a:srgbClr val="1F2937"/>
                </a:solidFill>
                <a:latin typeface="Calibri" pitchFamily="34" charset="0"/>
                <a:ea typeface="Calibri" pitchFamily="34" charset="-122"/>
                <a:cs typeface="Calibri" pitchFamily="34" charset="-120"/>
              </a:rPr>
              <a:t>Al trabajar con excepciones en Python es importante recordar que no debemos ignorarlas.</a:t>
            </a:r>
            <a:endParaRPr lang="en-US" sz="1400" dirty="0"/>
          </a:p>
          <a:p>
            <a:pPr indent="0" marL="0">
              <a:spcAft>
                <a:spcPts val="800"/>
              </a:spcAft>
              <a:buNone/>
            </a:pPr>
            <a:r>
              <a:rPr lang="en-US" sz="1400" dirty="0">
                <a:solidFill>
                  <a:srgbClr val="1F2937"/>
                </a:solidFill>
                <a:latin typeface="Calibri" pitchFamily="34" charset="0"/>
                <a:ea typeface="Calibri" pitchFamily="34" charset="-122"/>
                <a:cs typeface="Calibri" pitchFamily="34" charset="-120"/>
              </a:rPr>
              <a:t>Ignorar una excepción puede llevar a situaciones peligrosas y difíciles de diagnosticar: el error sigue ahí, pero nadie se entera y el programa continúa como si nada.</a:t>
            </a:r>
            <a:endParaRPr lang="en-US" sz="1400" dirty="0"/>
          </a:p>
          <a:p>
            <a:pPr indent="0" marL="0">
              <a:spcAft>
                <a:spcPts val="800"/>
              </a:spcAft>
              <a:buNone/>
            </a:pPr>
            <a:r>
              <a:rPr lang="en-US" sz="1400" dirty="0">
                <a:solidFill>
                  <a:srgbClr val="1F2937"/>
                </a:solidFill>
                <a:latin typeface="Calibri" pitchFamily="34" charset="0"/>
                <a:ea typeface="Calibri" pitchFamily="34" charset="-122"/>
                <a:cs typeface="Calibri" pitchFamily="34" charset="-120"/>
              </a:rPr>
              <a:t>Lo correcto es tratar cada excepción adecuadamente y darle un manejo eficaz, para evitar problemas mayores.</a:t>
            </a:r>
            <a:endParaRPr lang="en-US" sz="1400" dirty="0"/>
          </a:p>
        </p:txBody>
      </p:sp>
      <p:sp>
        <p:nvSpPr>
          <p:cNvPr id="4" name="Text 2"/>
          <p:cNvSpPr txBox="1"/>
          <p:nvPr/>
        </p:nvSpPr>
        <p:spPr>
          <a:xfrm>
            <a:off x="4937760" y="1188720"/>
            <a:ext cx="3749040" cy="274320"/>
          </a:xfrm>
          <a:prstGeom prst="rect">
            <a:avLst/>
          </a:prstGeom>
          <a:noFill/>
          <a:ln/>
        </p:spPr>
        <p:txBody>
          <a:bodyPr wrap="square" lIns="0" tIns="0" rIns="0" bIns="0" rtlCol="0" anchor="ctr"/>
          <a:lstStyle/>
          <a:p>
            <a:pPr indent="0" marL="0">
              <a:buNone/>
            </a:pPr>
            <a:r>
              <a:rPr lang="en-US" sz="1300" b="1" dirty="0">
                <a:solidFill>
                  <a:srgbClr val="D1495B"/>
                </a:solidFill>
                <a:latin typeface="Calibri" pitchFamily="34" charset="0"/>
                <a:ea typeface="Calibri" pitchFamily="34" charset="-122"/>
                <a:cs typeface="Calibri" pitchFamily="34" charset="-120"/>
              </a:rPr>
              <a:t>Ignorarla</a:t>
            </a:r>
            <a:endParaRPr lang="en-US" sz="1300" dirty="0"/>
          </a:p>
        </p:txBody>
      </p:sp>
      <p:sp>
        <p:nvSpPr>
          <p:cNvPr id="5" name="Shape 3"/>
          <p:cNvSpPr/>
          <p:nvPr/>
        </p:nvSpPr>
        <p:spPr>
          <a:xfrm>
            <a:off x="4937760" y="1508760"/>
            <a:ext cx="3749040" cy="1188720"/>
          </a:xfrm>
          <a:prstGeom prst="roundRect">
            <a:avLst>
              <a:gd name="adj" fmla="val 6154"/>
            </a:avLst>
          </a:prstGeom>
          <a:solidFill>
            <a:srgbClr val="232B3A"/>
          </a:solidFill>
          <a:ln w="12700">
            <a:solidFill>
              <a:srgbClr val="232B3A"/>
            </a:solidFill>
            <a:prstDash val="solid"/>
          </a:ln>
        </p:spPr>
      </p:sp>
      <p:sp>
        <p:nvSpPr>
          <p:cNvPr id="6" name="Text 4"/>
          <p:cNvSpPr txBox="1"/>
          <p:nvPr/>
        </p:nvSpPr>
        <p:spPr>
          <a:xfrm>
            <a:off x="5120640" y="1645920"/>
            <a:ext cx="3383280" cy="914400"/>
          </a:xfrm>
          <a:prstGeom prst="rect">
            <a:avLst/>
          </a:prstGeom>
          <a:noFill/>
          <a:ln/>
        </p:spPr>
        <p:txBody>
          <a:bodyPr wrap="square" lIns="0" tIns="0" rIns="0" bIns="0" rtlCol="0" anchor="t"/>
          <a:lstStyle/>
          <a:p>
            <a:pPr indent="0" marL="0">
              <a:buNone/>
            </a:pPr>
            <a:r>
              <a:rPr lang="en-US" sz="1150" dirty="0">
                <a:solidFill>
                  <a:srgbClr val="F2A541"/>
                </a:solidFill>
                <a:latin typeface="Courier New" pitchFamily="34" charset="0"/>
                <a:ea typeface="Courier New" pitchFamily="34" charset="-122"/>
                <a:cs typeface="Courier New" pitchFamily="34" charset="-120"/>
              </a:rPr>
              <a:t>try:</a:t>
            </a:r>
            <a:endParaRPr lang="en-US" sz="1150" dirty="0"/>
          </a:p>
          <a:p>
            <a:pPr indent="0" marL="0">
              <a:buNone/>
            </a:pPr>
            <a:r>
              <a:rPr lang="en-US" sz="1150" dirty="0">
                <a:solidFill>
                  <a:srgbClr val="E6E9EF"/>
                </a:solidFill>
                <a:latin typeface="Courier New" pitchFamily="34" charset="0"/>
                <a:ea typeface="Courier New" pitchFamily="34" charset="-122"/>
                <a:cs typeface="Courier New" pitchFamily="34" charset="-120"/>
              </a:rPr>
              <a:t>    f = open("datos.txt")</a:t>
            </a:r>
            <a:endParaRPr lang="en-US" sz="1150" dirty="0"/>
          </a:p>
          <a:p>
            <a:pPr indent="0" marL="0">
              <a:buNone/>
            </a:pPr>
            <a:r>
              <a:rPr lang="en-US" sz="1150" dirty="0">
                <a:solidFill>
                  <a:srgbClr val="F2A541"/>
                </a:solidFill>
                <a:latin typeface="Courier New" pitchFamily="34" charset="0"/>
                <a:ea typeface="Courier New" pitchFamily="34" charset="-122"/>
                <a:cs typeface="Courier New" pitchFamily="34" charset="-120"/>
              </a:rPr>
              <a:t>except:</a:t>
            </a:r>
            <a:endParaRPr lang="en-US" sz="1150" dirty="0"/>
          </a:p>
          <a:p>
            <a:pPr indent="0" marL="0">
              <a:buNone/>
            </a:pPr>
            <a:r>
              <a:rPr lang="en-US" sz="1150" dirty="0">
                <a:solidFill>
                  <a:srgbClr val="F28B98"/>
                </a:solidFill>
                <a:latin typeface="Courier New" pitchFamily="34" charset="0"/>
                <a:ea typeface="Courier New" pitchFamily="34" charset="-122"/>
                <a:cs typeface="Courier New" pitchFamily="34" charset="-120"/>
              </a:rPr>
              <a:t>    pass   # el error desaparece</a:t>
            </a:r>
            <a:endParaRPr lang="en-US" sz="1150" dirty="0"/>
          </a:p>
        </p:txBody>
      </p:sp>
      <p:sp>
        <p:nvSpPr>
          <p:cNvPr id="7" name="Text 5"/>
          <p:cNvSpPr txBox="1"/>
          <p:nvPr/>
        </p:nvSpPr>
        <p:spPr>
          <a:xfrm>
            <a:off x="4937760" y="2880360"/>
            <a:ext cx="3749040" cy="274320"/>
          </a:xfrm>
          <a:prstGeom prst="rect">
            <a:avLst/>
          </a:prstGeom>
          <a:noFill/>
          <a:ln/>
        </p:spPr>
        <p:txBody>
          <a:bodyPr wrap="square" lIns="0" tIns="0" rIns="0" bIns="0" rtlCol="0" anchor="ctr"/>
          <a:lstStyle/>
          <a:p>
            <a:pPr indent="0" marL="0">
              <a:buNone/>
            </a:pPr>
            <a:r>
              <a:rPr lang="en-US" sz="1300" b="1" dirty="0">
                <a:solidFill>
                  <a:srgbClr val="2A9D8F"/>
                </a:solidFill>
                <a:latin typeface="Calibri" pitchFamily="34" charset="0"/>
                <a:ea typeface="Calibri" pitchFamily="34" charset="-122"/>
                <a:cs typeface="Calibri" pitchFamily="34" charset="-120"/>
              </a:rPr>
              <a:t>Tratarla</a:t>
            </a:r>
            <a:endParaRPr lang="en-US" sz="1300" dirty="0"/>
          </a:p>
        </p:txBody>
      </p:sp>
      <p:sp>
        <p:nvSpPr>
          <p:cNvPr id="8" name="Shape 6"/>
          <p:cNvSpPr/>
          <p:nvPr/>
        </p:nvSpPr>
        <p:spPr>
          <a:xfrm>
            <a:off x="4937760" y="3200400"/>
            <a:ext cx="3749040" cy="1188720"/>
          </a:xfrm>
          <a:prstGeom prst="roundRect">
            <a:avLst>
              <a:gd name="adj" fmla="val 6154"/>
            </a:avLst>
          </a:prstGeom>
          <a:solidFill>
            <a:srgbClr val="232B3A"/>
          </a:solidFill>
          <a:ln w="12700">
            <a:solidFill>
              <a:srgbClr val="232B3A"/>
            </a:solidFill>
            <a:prstDash val="solid"/>
          </a:ln>
        </p:spPr>
      </p:sp>
      <p:sp>
        <p:nvSpPr>
          <p:cNvPr id="9" name="Text 7"/>
          <p:cNvSpPr txBox="1"/>
          <p:nvPr/>
        </p:nvSpPr>
        <p:spPr>
          <a:xfrm>
            <a:off x="5120640" y="3337560"/>
            <a:ext cx="3383280" cy="914400"/>
          </a:xfrm>
          <a:prstGeom prst="rect">
            <a:avLst/>
          </a:prstGeom>
          <a:noFill/>
          <a:ln/>
        </p:spPr>
        <p:txBody>
          <a:bodyPr wrap="square" lIns="0" tIns="0" rIns="0" bIns="0" rtlCol="0" anchor="t"/>
          <a:lstStyle/>
          <a:p>
            <a:pPr indent="0" marL="0">
              <a:buNone/>
            </a:pPr>
            <a:r>
              <a:rPr lang="en-US" sz="1150" dirty="0">
                <a:solidFill>
                  <a:srgbClr val="F2A541"/>
                </a:solidFill>
                <a:latin typeface="Courier New" pitchFamily="34" charset="0"/>
                <a:ea typeface="Courier New" pitchFamily="34" charset="-122"/>
                <a:cs typeface="Courier New" pitchFamily="34" charset="-120"/>
              </a:rPr>
              <a:t>try:</a:t>
            </a:r>
            <a:endParaRPr lang="en-US" sz="1150" dirty="0"/>
          </a:p>
          <a:p>
            <a:pPr indent="0" marL="0">
              <a:buNone/>
            </a:pPr>
            <a:r>
              <a:rPr lang="en-US" sz="1150" dirty="0">
                <a:solidFill>
                  <a:srgbClr val="E6E9EF"/>
                </a:solidFill>
                <a:latin typeface="Courier New" pitchFamily="34" charset="0"/>
                <a:ea typeface="Courier New" pitchFamily="34" charset="-122"/>
                <a:cs typeface="Courier New" pitchFamily="34" charset="-120"/>
              </a:rPr>
              <a:t>    f = open("datos.txt")</a:t>
            </a:r>
            <a:endParaRPr lang="en-US" sz="1150" dirty="0"/>
          </a:p>
          <a:p>
            <a:pPr indent="0" marL="0">
              <a:buNone/>
            </a:pPr>
            <a:r>
              <a:rPr lang="en-US" sz="1150" dirty="0">
                <a:solidFill>
                  <a:srgbClr val="F2A541"/>
                </a:solidFill>
                <a:latin typeface="Courier New" pitchFamily="34" charset="0"/>
                <a:ea typeface="Courier New" pitchFamily="34" charset="-122"/>
                <a:cs typeface="Courier New" pitchFamily="34" charset="-120"/>
              </a:rPr>
              <a:t>except FileNotFoundError:</a:t>
            </a:r>
            <a:endParaRPr lang="en-US" sz="1150" dirty="0"/>
          </a:p>
          <a:p>
            <a:pPr indent="0" marL="0">
              <a:buNone/>
            </a:pPr>
            <a:r>
              <a:rPr lang="en-US" sz="1150" dirty="0">
                <a:solidFill>
                  <a:srgbClr val="8FD9CF"/>
                </a:solidFill>
                <a:latin typeface="Courier New" pitchFamily="34" charset="0"/>
                <a:ea typeface="Courier New" pitchFamily="34" charset="-122"/>
                <a:cs typeface="Courier New" pitchFamily="34" charset="-120"/>
              </a:rPr>
              <a:t>    print("No se encuentra datos.txt")</a:t>
            </a:r>
            <a:endParaRPr lang="en-US" sz="1150" dirty="0"/>
          </a:p>
        </p:txBody>
      </p:sp>
      <p:sp>
        <p:nvSpPr>
          <p:cNvPr id="10" name="Text 8"/>
          <p:cNvSpPr txBox="1"/>
          <p:nvPr/>
        </p:nvSpPr>
        <p:spPr>
          <a:xfrm>
            <a:off x="8412480" y="4754880"/>
            <a:ext cx="36576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230"/>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En conclusión</a:t>
            </a:r>
            <a:endParaRPr lang="en-US" sz="3200" dirty="0"/>
          </a:p>
        </p:txBody>
      </p:sp>
      <p:sp>
        <p:nvSpPr>
          <p:cNvPr id="3" name="Text 1"/>
          <p:cNvSpPr txBox="1"/>
          <p:nvPr/>
        </p:nvSpPr>
        <p:spPr>
          <a:xfrm>
            <a:off x="548640" y="1143000"/>
            <a:ext cx="8046720" cy="1188720"/>
          </a:xfrm>
          <a:prstGeom prst="rect">
            <a:avLst/>
          </a:prstGeom>
          <a:noFill/>
          <a:ln/>
        </p:spPr>
        <p:txBody>
          <a:bodyPr wrap="square" lIns="0" tIns="0" rIns="0" bIns="0" rtlCol="0" anchor="t"/>
          <a:lstStyle/>
          <a:p>
            <a:pPr indent="0" marL="0">
              <a:buNone/>
            </a:pPr>
            <a:r>
              <a:rPr lang="en-US" sz="1500" dirty="0">
                <a:solidFill>
                  <a:srgbClr val="D5DBE4"/>
                </a:solidFill>
                <a:latin typeface="Calibri" pitchFamily="34" charset="0"/>
                <a:ea typeface="Calibri" pitchFamily="34" charset="-122"/>
                <a:cs typeface="Calibri" pitchFamily="34" charset="-120"/>
              </a:rPr>
              <a:t>El manejo de excepciones en el acceso a ficheros es una habilidad fundamental que todo desarrollador debe dominar. Detectarlas y tratarlas de manera adecuada asegura la seguridad y la confiabilidad de nuestros programas, mejora la experiencia del usuario y facilita el diagnóstico de problemas.</a:t>
            </a:r>
            <a:endParaRPr lang="en-US" sz="1500" dirty="0"/>
          </a:p>
        </p:txBody>
      </p:sp>
      <p:sp>
        <p:nvSpPr>
          <p:cNvPr id="4" name="Shape 2"/>
          <p:cNvSpPr/>
          <p:nvPr/>
        </p:nvSpPr>
        <p:spPr>
          <a:xfrm>
            <a:off x="548640" y="2606040"/>
            <a:ext cx="2560320" cy="1920240"/>
          </a:xfrm>
          <a:prstGeom prst="roundRect">
            <a:avLst>
              <a:gd name="adj" fmla="val 3810"/>
            </a:avLst>
          </a:prstGeom>
          <a:solidFill>
            <a:srgbClr val="283144"/>
          </a:solidFill>
          <a:ln w="12700">
            <a:solidFill>
              <a:srgbClr val="283144"/>
            </a:solidFill>
            <a:prstDash val="solid"/>
          </a:ln>
        </p:spPr>
      </p:sp>
      <p:sp>
        <p:nvSpPr>
          <p:cNvPr id="5" name="Text 3"/>
          <p:cNvSpPr txBox="1"/>
          <p:nvPr/>
        </p:nvSpPr>
        <p:spPr>
          <a:xfrm>
            <a:off x="731520" y="2743200"/>
            <a:ext cx="2194560" cy="411480"/>
          </a:xfrm>
          <a:prstGeom prst="rect">
            <a:avLst/>
          </a:prstGeom>
          <a:noFill/>
          <a:ln/>
        </p:spPr>
        <p:txBody>
          <a:bodyPr wrap="square" lIns="0" tIns="0" rIns="0" bIns="0" rtlCol="0" anchor="ctr"/>
          <a:lstStyle/>
          <a:p>
            <a:pPr indent="0" marL="0">
              <a:buNone/>
            </a:pPr>
            <a:r>
              <a:rPr lang="en-US" sz="1500" b="1" dirty="0">
                <a:solidFill>
                  <a:srgbClr val="F2A541"/>
                </a:solidFill>
                <a:latin typeface="Courier New" pitchFamily="34" charset="0"/>
                <a:ea typeface="Courier New" pitchFamily="34" charset="-122"/>
                <a:cs typeface="Courier New" pitchFamily="34" charset="-120"/>
              </a:rPr>
              <a:t>try / except</a:t>
            </a:r>
            <a:endParaRPr lang="en-US" sz="1500" dirty="0"/>
          </a:p>
        </p:txBody>
      </p:sp>
      <p:sp>
        <p:nvSpPr>
          <p:cNvPr id="6" name="Text 4"/>
          <p:cNvSpPr txBox="1"/>
          <p:nvPr/>
        </p:nvSpPr>
        <p:spPr>
          <a:xfrm>
            <a:off x="731520" y="3246120"/>
            <a:ext cx="2194560" cy="1188720"/>
          </a:xfrm>
          <a:prstGeom prst="rect">
            <a:avLst/>
          </a:prstGeom>
          <a:noFill/>
          <a:ln/>
        </p:spPr>
        <p:txBody>
          <a:bodyPr wrap="square" lIns="0" tIns="0" rIns="0" bIns="0" rtlCol="0" anchor="t"/>
          <a:lstStyle/>
          <a:p>
            <a:pPr indent="0" marL="0">
              <a:buNone/>
            </a:pPr>
            <a:r>
              <a:rPr lang="en-US" sz="1300" dirty="0">
                <a:solidFill>
                  <a:srgbClr val="E6E9EF"/>
                </a:solidFill>
                <a:latin typeface="Calibri" pitchFamily="34" charset="0"/>
                <a:ea typeface="Calibri" pitchFamily="34" charset="-122"/>
                <a:cs typeface="Calibri" pitchFamily="34" charset="-120"/>
              </a:rPr>
              <a:t>Detectan y tratan las excepciones que surgen al trabajar con ficheros.</a:t>
            </a:r>
            <a:endParaRPr lang="en-US" sz="1300" dirty="0"/>
          </a:p>
        </p:txBody>
      </p:sp>
      <p:sp>
        <p:nvSpPr>
          <p:cNvPr id="7" name="Shape 5"/>
          <p:cNvSpPr/>
          <p:nvPr/>
        </p:nvSpPr>
        <p:spPr>
          <a:xfrm>
            <a:off x="3291840" y="2606040"/>
            <a:ext cx="2560320" cy="1920240"/>
          </a:xfrm>
          <a:prstGeom prst="roundRect">
            <a:avLst>
              <a:gd name="adj" fmla="val 3810"/>
            </a:avLst>
          </a:prstGeom>
          <a:solidFill>
            <a:srgbClr val="283144"/>
          </a:solidFill>
          <a:ln w="12700">
            <a:solidFill>
              <a:srgbClr val="283144"/>
            </a:solidFill>
            <a:prstDash val="solid"/>
          </a:ln>
        </p:spPr>
      </p:sp>
      <p:sp>
        <p:nvSpPr>
          <p:cNvPr id="8" name="Text 6"/>
          <p:cNvSpPr txBox="1"/>
          <p:nvPr/>
        </p:nvSpPr>
        <p:spPr>
          <a:xfrm>
            <a:off x="3474720" y="2743200"/>
            <a:ext cx="2194560" cy="411480"/>
          </a:xfrm>
          <a:prstGeom prst="rect">
            <a:avLst/>
          </a:prstGeom>
          <a:noFill/>
          <a:ln/>
        </p:spPr>
        <p:txBody>
          <a:bodyPr wrap="square" lIns="0" tIns="0" rIns="0" bIns="0" rtlCol="0" anchor="ctr"/>
          <a:lstStyle/>
          <a:p>
            <a:pPr indent="0" marL="0">
              <a:buNone/>
            </a:pPr>
            <a:r>
              <a:rPr lang="en-US" sz="1500" b="1" dirty="0">
                <a:solidFill>
                  <a:srgbClr val="2A9D8F"/>
                </a:solidFill>
                <a:latin typeface="Courier New" pitchFamily="34" charset="0"/>
                <a:ea typeface="Courier New" pitchFamily="34" charset="-122"/>
                <a:cs typeface="Courier New" pitchFamily="34" charset="-120"/>
              </a:rPr>
              <a:t>finally</a:t>
            </a:r>
            <a:endParaRPr lang="en-US" sz="1500" dirty="0"/>
          </a:p>
        </p:txBody>
      </p:sp>
      <p:sp>
        <p:nvSpPr>
          <p:cNvPr id="9" name="Text 7"/>
          <p:cNvSpPr txBox="1"/>
          <p:nvPr/>
        </p:nvSpPr>
        <p:spPr>
          <a:xfrm>
            <a:off x="3474720" y="3246120"/>
            <a:ext cx="2194560" cy="1188720"/>
          </a:xfrm>
          <a:prstGeom prst="rect">
            <a:avLst/>
          </a:prstGeom>
          <a:noFill/>
          <a:ln/>
        </p:spPr>
        <p:txBody>
          <a:bodyPr wrap="square" lIns="0" tIns="0" rIns="0" bIns="0" rtlCol="0" anchor="t"/>
          <a:lstStyle/>
          <a:p>
            <a:pPr indent="0" marL="0">
              <a:buNone/>
            </a:pPr>
            <a:r>
              <a:rPr lang="en-US" sz="1300" dirty="0">
                <a:solidFill>
                  <a:srgbClr val="E6E9EF"/>
                </a:solidFill>
                <a:latin typeface="Calibri" pitchFamily="34" charset="0"/>
                <a:ea typeface="Calibri" pitchFamily="34" charset="-122"/>
                <a:cs typeface="Calibri" pitchFamily="34" charset="-120"/>
              </a:rPr>
              <a:t>Ejecuta el código que debe correr ocurra o no una excepción.</a:t>
            </a:r>
            <a:endParaRPr lang="en-US" sz="1300" dirty="0"/>
          </a:p>
        </p:txBody>
      </p:sp>
      <p:sp>
        <p:nvSpPr>
          <p:cNvPr id="10" name="Shape 8"/>
          <p:cNvSpPr/>
          <p:nvPr/>
        </p:nvSpPr>
        <p:spPr>
          <a:xfrm>
            <a:off x="6035040" y="2606040"/>
            <a:ext cx="2560320" cy="1920240"/>
          </a:xfrm>
          <a:prstGeom prst="roundRect">
            <a:avLst>
              <a:gd name="adj" fmla="val 3810"/>
            </a:avLst>
          </a:prstGeom>
          <a:solidFill>
            <a:srgbClr val="283144"/>
          </a:solidFill>
          <a:ln w="12700">
            <a:solidFill>
              <a:srgbClr val="283144"/>
            </a:solidFill>
            <a:prstDash val="solid"/>
          </a:ln>
        </p:spPr>
      </p:sp>
      <p:sp>
        <p:nvSpPr>
          <p:cNvPr id="11" name="Text 9"/>
          <p:cNvSpPr txBox="1"/>
          <p:nvPr/>
        </p:nvSpPr>
        <p:spPr>
          <a:xfrm>
            <a:off x="6217920" y="2743200"/>
            <a:ext cx="2194560" cy="411480"/>
          </a:xfrm>
          <a:prstGeom prst="rect">
            <a:avLst/>
          </a:prstGeom>
          <a:noFill/>
          <a:ln/>
        </p:spPr>
        <p:txBody>
          <a:bodyPr wrap="square" lIns="0" tIns="0" rIns="0" bIns="0" rtlCol="0" anchor="ctr"/>
          <a:lstStyle/>
          <a:p>
            <a:pPr indent="0" marL="0">
              <a:buNone/>
            </a:pPr>
            <a:r>
              <a:rPr lang="en-US" sz="1500" b="1" dirty="0">
                <a:solidFill>
                  <a:srgbClr val="D1495B"/>
                </a:solidFill>
                <a:latin typeface="Courier New" pitchFamily="34" charset="0"/>
                <a:ea typeface="Courier New" pitchFamily="34" charset="-122"/>
                <a:cs typeface="Courier New" pitchFamily="34" charset="-120"/>
              </a:rPr>
              <a:t>No ignorar</a:t>
            </a:r>
            <a:endParaRPr lang="en-US" sz="1500" dirty="0"/>
          </a:p>
        </p:txBody>
      </p:sp>
      <p:sp>
        <p:nvSpPr>
          <p:cNvPr id="12" name="Text 10"/>
          <p:cNvSpPr txBox="1"/>
          <p:nvPr/>
        </p:nvSpPr>
        <p:spPr>
          <a:xfrm>
            <a:off x="6217920" y="3246120"/>
            <a:ext cx="2194560" cy="1188720"/>
          </a:xfrm>
          <a:prstGeom prst="rect">
            <a:avLst/>
          </a:prstGeom>
          <a:noFill/>
          <a:ln/>
        </p:spPr>
        <p:txBody>
          <a:bodyPr wrap="square" lIns="0" tIns="0" rIns="0" bIns="0" rtlCol="0" anchor="t"/>
          <a:lstStyle/>
          <a:p>
            <a:pPr indent="0" marL="0">
              <a:buNone/>
            </a:pPr>
            <a:r>
              <a:rPr lang="en-US" sz="1300" dirty="0">
                <a:solidFill>
                  <a:srgbClr val="E6E9EF"/>
                </a:solidFill>
                <a:latin typeface="Calibri" pitchFamily="34" charset="0"/>
                <a:ea typeface="Calibri" pitchFamily="34" charset="-122"/>
                <a:cs typeface="Calibri" pitchFamily="34" charset="-120"/>
              </a:rPr>
              <a:t>Dar siempre un manejo eficaz para evitar problemas mayores.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Detección y tratamiento de excepciones en el acceso a ficheros</dc:title>
  <dc:subject>PptxGenJS Presentation</dc:subject>
  <dc:creator>PptxGenJS</dc:creator>
  <cp:lastModifiedBy>PptxGenJS</cp:lastModifiedBy>
  <cp:revision>1</cp:revision>
  <dcterms:created xsi:type="dcterms:W3CDTF">2026-09-26T20:27:30Z</dcterms:created>
  <dcterms:modified xsi:type="dcterms:W3CDTF">2026-09-26T20:27:30Z</dcterms:modified>
</cp:coreProperties>
</file>