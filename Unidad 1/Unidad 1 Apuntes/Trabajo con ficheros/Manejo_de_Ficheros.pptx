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029200" cy="5029200"/>
          </a:xfrm>
          <a:prstGeom prst="ellipse">
            <a:avLst/>
          </a:prstGeom>
          <a:solidFill>
            <a:srgbClr val="2B3A8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2926080" cy="292608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2B3A8F"/>
          </a:solidFill>
          <a:ln/>
        </p:spPr>
      </p:sp>
      <p:pic>
        <p:nvPicPr>
          <p:cNvPr id="5" name="Image 0" descr="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26170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Ficheros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para crear, leer, escribir y proteger datos persistentes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introductorio · Programación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del capítulo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completo por el manejo de ficheros, de lo básico a la aplicación práctica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39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339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739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gestión de ficheros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939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leer, escribir y eliminar archivos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339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339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7739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acceso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0939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límites de cada modalidad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1236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9123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datos (streams)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72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grandes volúmenes de información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67004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291236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9123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secuencial y aleatorio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072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escribir en el orden que se necesite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8907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730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de objetos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reconstruir objetos complejos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4845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38907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730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tratar errores de E/S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2686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8691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4869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709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con ficheros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todo en programas robustos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para la gestión de ficheros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92240" cy="4937760"/>
          </a:xfrm>
          <a:prstGeom prst="roundRect">
            <a:avLst>
              <a:gd name="adj" fmla="val 1852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Interfaz común para operar con archivos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6B87"/>
                </a:solidFill>
              </a:rPr>
              <a:t>Estas clases exponen los métodos básicos con los que cualquier programa interactúa con el sistema de archivos.
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6243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archivos nuevos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3558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2826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contenido existente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01421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94106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modificar datos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67258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5994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archivos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228600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1779" y="2988259"/>
            <a:ext cx="1521562" cy="15215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589520" y="2286000"/>
            <a:ext cx="2926080" cy="2926080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acceso a un fichero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modalidad ofrece ventajas y limitaciones distintas según el uso previsto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equ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secuencial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leen o escriben en orden, uno detrás de otro.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eficiente para procesar todo el archivo.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llegar a un dato hay que recorrer los anteriores.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aleatorio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10896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accede directamente a cualquier posición del archivo.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inmediato a cualquier registro.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conocer la posición exacta del dato.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2B3A8F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datos hacia y desde ficheros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 flujo (streams) permiten mover información de manera eficiente entre el programa y el disco, sin cargar todo el archivo en memoria a la vez.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194560" cy="1005840"/>
          </a:xfrm>
          <a:prstGeom prst="roundRect">
            <a:avLst>
              <a:gd name="adj" fmla="val 8182"/>
            </a:avLst>
          </a:prstGeom>
          <a:solidFill>
            <a:srgbClr val="2B3A8F"/>
          </a:solidFill>
          <a:ln/>
        </p:spPr>
      </p:sp>
      <p:pic>
        <p:nvPicPr>
          <p:cNvPr id="6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337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16352" y="3493008"/>
            <a:ext cx="457200" cy="23774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3108960"/>
            <a:ext cx="2194560" cy="1005840"/>
          </a:xfrm>
          <a:prstGeom prst="roundRect">
            <a:avLst>
              <a:gd name="adj" fmla="val 8182"/>
            </a:avLst>
          </a:prstGeom>
          <a:solidFill>
            <a:srgbClr val="2B3A8F"/>
          </a:solidFill>
          <a:ln/>
        </p:spPr>
      </p:sp>
      <p:pic>
        <p:nvPicPr>
          <p:cNvPr id="10" name="Image 1" descr="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3337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(Stream)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88152" y="3493008"/>
            <a:ext cx="457200" cy="23774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6492240" y="3108960"/>
            <a:ext cx="2194560" cy="1005840"/>
          </a:xfrm>
          <a:prstGeom prst="roundRect">
            <a:avLst>
              <a:gd name="adj" fmla="val 8182"/>
            </a:avLst>
          </a:prstGeom>
          <a:solidFill>
            <a:srgbClr val="2B3A8F"/>
          </a:solidFill>
          <a:ln/>
        </p:spPr>
      </p:sp>
      <p:pic>
        <p:nvPicPr>
          <p:cNvPr id="14" name="Image 2" descr="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3375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31089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663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trabajar con grandes cantidades de información sin agotar la memoria disponible.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Serialización y deserialización de objetos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para almacenar y recuperar objetos complejos en ficheros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5146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690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 objeto en memoria en una forma que puede guardarse en disco (bytes o texto estructurado).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3480" y="3447288"/>
            <a:ext cx="685800" cy="329184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19456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25146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045" y="26901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2648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Deserialización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Reconstruye el objeto original a partir de los datos guardados, listo para usarse de nuevo en el programa.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para aplicaciones que necesitan persistencia de datos entre ejecuciones.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excepciones en ficheros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tratar errores comunes de lectura y escritura mantiene las aplicaciones robustas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63040" cy="14630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71370"/>
            <a:ext cx="760781" cy="7607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68880" y="196596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BEE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65176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no encontrado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68880" y="2587752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BEEE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51760" y="25877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insuficientes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468880" y="3209544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BEE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51760" y="3209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lleno o sin espacio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468880" y="3831336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BEEE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1760" y="38313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en uso por otro proceso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49440" y="192024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6948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27432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las excepciones evita que la aplicación se detenga de forma abrupta ante un fallo de E/S.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informar al usuario, reintentar la operación o cerrar recursos de forma segura, garantizando aplicaciones fiables.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aplicaciones con ficheros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técnicas del capítulo se combinan en programas reales y seguros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clases y tipo de acceso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volumen y patrón de uso de los datos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81528" y="3547872"/>
            <a:ext cx="201168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flujos de forma segura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Gestionando la conexión entre programa y disco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24728" y="3547872"/>
            <a:ext cx="201168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Leer, escribir o serializar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la técnica adecuada a cada dato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67928" y="3547872"/>
            <a:ext cx="201168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68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068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excepciones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Anticipando y tratando los errores posibles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B3A8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2B3A8F"/>
          </a:solidFill>
          <a:ln/>
        </p:spPr>
      </p:sp>
      <p:pic>
        <p:nvPicPr>
          <p:cNvPr id="4" name="Image 0" descr="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fundamento sólido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capítulo sienta las bases del manejo de ficheros: clases de gestión, tipos de acceso, flujos de datos, serialización y tratamiento de excepciones. Un conjunto de habilidades esencial sobre el que se apoyarán las futuras aplicaciones que interactúen con el sistema de archivos.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937760"/>
            <a:ext cx="2121408" cy="411480"/>
          </a:xfrm>
          <a:prstGeom prst="roundRect">
            <a:avLst>
              <a:gd name="adj" fmla="val 48889"/>
            </a:avLst>
          </a:prstGeom>
          <a:solidFill>
            <a:srgbClr val="2B3A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9377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operaciones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27248" y="4937760"/>
            <a:ext cx="2944368" cy="411480"/>
          </a:xfrm>
          <a:prstGeom prst="roundRect">
            <a:avLst>
              <a:gd name="adj" fmla="val 48889"/>
            </a:avLst>
          </a:prstGeom>
          <a:solidFill>
            <a:srgbClr val="2B3A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27248" y="493776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secuencial / aleatorio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54496" y="4937760"/>
            <a:ext cx="932688" cy="411480"/>
          </a:xfrm>
          <a:prstGeom prst="roundRect">
            <a:avLst>
              <a:gd name="adj" fmla="val 48889"/>
            </a:avLst>
          </a:prstGeom>
          <a:solidFill>
            <a:srgbClr val="2B3A8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54496" y="49377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70064" y="4937760"/>
            <a:ext cx="1481328" cy="411480"/>
          </a:xfrm>
          <a:prstGeom prst="roundRect">
            <a:avLst>
              <a:gd name="adj" fmla="val 48889"/>
            </a:avLst>
          </a:prstGeom>
          <a:solidFill>
            <a:srgbClr val="2B3A8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70064" y="49377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34272" y="4937760"/>
            <a:ext cx="1298448" cy="411480"/>
          </a:xfrm>
          <a:prstGeom prst="roundRect">
            <a:avLst>
              <a:gd name="adj" fmla="val 48889"/>
            </a:avLst>
          </a:prstGeom>
          <a:solidFill>
            <a:srgbClr val="2B3A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034272" y="49377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2026-09-08T08:04:08Z</dcterms:created>
  <dcterms:modified xsi:type="dcterms:W3CDTF">2026-09-08T08:04:08Z</dcterms:modified>
</cp:coreProperties>
</file>