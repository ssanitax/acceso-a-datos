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c2ebe65a-4893-a6f0-51f2-70149bd16a7b}">
          <p14:sldIdLst>
            <p14:sldId id="256"/>
            <p14:sldId id="257"/>
            <p14:sldId id="258"/>
          </p14:sldIdLst>
        </p14:section>
        <p14:section name="Herramientas por lenguaje" id="{1bcbc4c0-c9a1-5d14-0059-ca5e48835c2f}">
          <p14:sldIdLst>
            <p14:sldId id="259"/>
            <p14:sldId id="260"/>
            <p14:sldId id="261"/>
            <p14:sldId id="262"/>
            <p14:sldId id="263"/>
          </p14:sldIdLst>
        </p14:section>
        <p14:section name="SQLAlchemy a fondo" id="{918a1075-35d6-b795-8578-f96eb60db0cc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onclusión" id="{d8a0c35a-a5ba-fafb-eff7-3a90697750b7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sobre herramientas de mapeo objeto-relacional en distintos lenguajes, con SQLAlchemy desarrollado en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Herramientas ORM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Mapeo objeto-relacional: qué ofrece cada herramienta y SQLAlchemy a fondo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¿Qué es un ORM?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Traduce entre los objetos de un programa y las tablas de una base de datos. Tú trabajas con objetos; el ORM escribe y ejecuta el SQL.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Clase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017520" y="1984248"/>
            <a:ext cx="731520" cy="32918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182880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Tabla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Atributo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17520" y="2852928"/>
            <a:ext cx="731520" cy="32918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269748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Columna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Objeto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17520" y="3721608"/>
            <a:ext cx="731520" cy="32918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356616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Fila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Python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Cliente("Ana", "Valencia")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Base de datos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clientes ...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Dos estilos de ORM</a:t>
            </a:r>
            <a:endParaRPr lang="en-US" sz="3000" dirty="0"/>
          </a:p>
        </p:txBody>
      </p:sp>
      <p:sp>
        <p:nvSpPr>
          <p:cNvPr id="3" name="card Active Record"/>
          <p:cNvSpPr/>
          <p:nvPr/>
        </p:nvSpPr>
        <p:spPr>
          <a:xfrm>
            <a:off x="45720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Active Record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55648"/>
            <a:ext cx="3758184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objeto se guarda a sí mismo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cliente.save()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Más sencillo y directo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Django ORM, Eloquent, Rails, Peewee</a:t>
            </a:r>
            <a:endParaRPr lang="en-US" sz="1600" dirty="0"/>
          </a:p>
        </p:txBody>
      </p:sp>
      <p:sp>
        <p:nvSpPr>
          <p:cNvPr id="8" name="card Data Mapper"/>
          <p:cNvSpPr/>
          <p:nvPr/>
        </p:nvSpPr>
        <p:spPr>
          <a:xfrm>
            <a:off x="470916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Mapper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1755648"/>
            <a:ext cx="3758184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sesión gestiona los objetos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session.add(cliente)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Separa los datos de la base de datos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SQLAlchemy, Hibernate, Doctrine, EF Core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Herramientas por lenguaje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Python · Java · C# · JavaScript · PHP · Ruby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</a:t>
            </a:r>
            <a:endParaRPr lang="en-US" sz="3000" dirty="0"/>
          </a:p>
        </p:txBody>
      </p:sp>
      <p:sp>
        <p:nvSpPr>
          <p:cNvPr id="3" name="card SQLAlchemy"/>
          <p:cNvSpPr/>
          <p:nvPr/>
        </p:nvSpPr>
        <p:spPr>
          <a:xfrm>
            <a:off x="45720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SQLAlchemy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más completo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ORM + Core (SQL en Python)</a:t>
            </a:r>
            <a:endParaRPr lang="en-US" sz="1300" dirty="0"/>
          </a:p>
        </p:txBody>
      </p:sp>
      <p:sp>
        <p:nvSpPr>
          <p:cNvPr id="8" name="card Django ORM"/>
          <p:cNvSpPr/>
          <p:nvPr/>
        </p:nvSpPr>
        <p:spPr>
          <a:xfrm>
            <a:off x="324612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DJ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Django ORM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Integrado en Django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Muy fácil de usar</a:t>
            </a:r>
            <a:endParaRPr lang="en-US" sz="1300" dirty="0"/>
          </a:p>
        </p:txBody>
      </p:sp>
      <p:sp>
        <p:nvSpPr>
          <p:cNvPr id="13" name="card Peewee"/>
          <p:cNvSpPr/>
          <p:nvPr/>
        </p:nvSpPr>
        <p:spPr>
          <a:xfrm>
            <a:off x="603504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PW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Peewee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Pequeño y sencillo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Ideal para aprender</a:t>
            </a:r>
            <a:endParaRPr lang="en-US" sz="1300" dirty="0"/>
          </a:p>
        </p:txBody>
      </p:sp>
      <p:sp>
        <p:nvSpPr>
          <p:cNvPr id="18" name="card Pony ORM"/>
          <p:cNvSpPr/>
          <p:nvPr/>
        </p:nvSpPr>
        <p:spPr>
          <a:xfrm>
            <a:off x="45720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Pony ORM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Consultas como generadores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Sintaxis muy pythónica</a:t>
            </a:r>
            <a:endParaRPr lang="en-US" sz="1300" dirty="0"/>
          </a:p>
        </p:txBody>
      </p:sp>
      <p:sp>
        <p:nvSpPr>
          <p:cNvPr id="23" name="card SQLModel"/>
          <p:cNvSpPr/>
          <p:nvPr/>
        </p:nvSpPr>
        <p:spPr>
          <a:xfrm>
            <a:off x="324612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SM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SQLModel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35584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SQLAlchemy + Pydantic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Pensado para FastAPI</a:t>
            </a:r>
            <a:endParaRPr lang="en-US" sz="1300" dirty="0"/>
          </a:p>
        </p:txBody>
      </p:sp>
      <p:sp>
        <p:nvSpPr>
          <p:cNvPr id="28" name="card Tortoise ORM"/>
          <p:cNvSpPr/>
          <p:nvPr/>
        </p:nvSpPr>
        <p:spPr>
          <a:xfrm>
            <a:off x="603504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Tortoise ORM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14476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Asíncrono (async/await)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Inspirado en Django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Java y C# / .NET</a:t>
            </a:r>
            <a:endParaRPr lang="en-US" sz="3000" dirty="0"/>
          </a:p>
        </p:txBody>
      </p:sp>
      <p:sp>
        <p:nvSpPr>
          <p:cNvPr id="3" name="card Hibernate"/>
          <p:cNvSpPr/>
          <p:nvPr/>
        </p:nvSpPr>
        <p:spPr>
          <a:xfrm>
            <a:off x="45720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HB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Hibernate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clásico de Java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Implementa el estándar JPA</a:t>
            </a:r>
            <a:endParaRPr lang="en-US" sz="1300" dirty="0"/>
          </a:p>
        </p:txBody>
      </p:sp>
      <p:sp>
        <p:nvSpPr>
          <p:cNvPr id="8" name="card EclipseLink"/>
          <p:cNvSpPr/>
          <p:nvPr/>
        </p:nvSpPr>
        <p:spPr>
          <a:xfrm>
            <a:off x="324612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EclipseLink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Otra implementación de JPA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Referencia de Jakarta</a:t>
            </a:r>
            <a:endParaRPr lang="en-US" sz="1300" dirty="0"/>
          </a:p>
        </p:txBody>
      </p:sp>
      <p:sp>
        <p:nvSpPr>
          <p:cNvPr id="13" name="card MyBatis"/>
          <p:cNvSpPr/>
          <p:nvPr/>
        </p:nvSpPr>
        <p:spPr>
          <a:xfrm>
            <a:off x="603504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887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MyBatis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Mapeador de SQL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Tú escribes el SQL</a:t>
            </a:r>
            <a:endParaRPr lang="en-US" sz="1300" dirty="0"/>
          </a:p>
        </p:txBody>
      </p:sp>
      <p:sp>
        <p:nvSpPr>
          <p:cNvPr id="18" name="card EF Core"/>
          <p:cNvSpPr/>
          <p:nvPr/>
        </p:nvSpPr>
        <p:spPr>
          <a:xfrm>
            <a:off x="45720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EF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 Core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oficial de Microsoft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Consultas con LINQ</a:t>
            </a:r>
            <a:endParaRPr lang="en-US" sz="1300" dirty="0"/>
          </a:p>
        </p:txBody>
      </p:sp>
      <p:sp>
        <p:nvSpPr>
          <p:cNvPr id="23" name="card Dapper"/>
          <p:cNvSpPr/>
          <p:nvPr/>
        </p:nvSpPr>
        <p:spPr>
          <a:xfrm>
            <a:off x="324612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Dapper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35584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Micro-ORM muy rápido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Ligero, SQL a mano</a:t>
            </a:r>
            <a:endParaRPr lang="en-US" sz="1300" dirty="0"/>
          </a:p>
        </p:txBody>
      </p:sp>
      <p:sp>
        <p:nvSpPr>
          <p:cNvPr id="28" name="card NHibernate"/>
          <p:cNvSpPr/>
          <p:nvPr/>
        </p:nvSpPr>
        <p:spPr>
          <a:xfrm>
            <a:off x="603504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NH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NHibernate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14476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Hibernate para .NET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Muy configurable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Fila superior: Java · Fila inferior: C# / .NET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JavaScript, PHP y Ruby</a:t>
            </a:r>
            <a:endParaRPr lang="en-US" sz="3000" dirty="0"/>
          </a:p>
        </p:txBody>
      </p:sp>
      <p:sp>
        <p:nvSpPr>
          <p:cNvPr id="3" name="card Prisma"/>
          <p:cNvSpPr/>
          <p:nvPr/>
        </p:nvSpPr>
        <p:spPr>
          <a:xfrm>
            <a:off x="45720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Prisma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JS/TS · Esquema propio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Tipado automático</a:t>
            </a:r>
            <a:endParaRPr lang="en-US" sz="1300" dirty="0"/>
          </a:p>
        </p:txBody>
      </p:sp>
      <p:sp>
        <p:nvSpPr>
          <p:cNvPr id="8" name="card Sequelize"/>
          <p:cNvSpPr/>
          <p:nvPr/>
        </p:nvSpPr>
        <p:spPr>
          <a:xfrm>
            <a:off x="324612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SQ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Sequelize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JS · Veterano en Node.js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Muchas bases de datos</a:t>
            </a:r>
            <a:endParaRPr lang="en-US" sz="1300" dirty="0"/>
          </a:p>
        </p:txBody>
      </p:sp>
      <p:sp>
        <p:nvSpPr>
          <p:cNvPr id="13" name="card TypeORM"/>
          <p:cNvSpPr/>
          <p:nvPr/>
        </p:nvSpPr>
        <p:spPr>
          <a:xfrm>
            <a:off x="6035040" y="10515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TypeORM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7099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TS · Clases y decoradores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Estilo Hibernate</a:t>
            </a:r>
            <a:endParaRPr lang="en-US" sz="1300" dirty="0"/>
          </a:p>
        </p:txBody>
      </p:sp>
      <p:sp>
        <p:nvSpPr>
          <p:cNvPr id="18" name="card Drizzle ORM"/>
          <p:cNvSpPr/>
          <p:nvPr/>
        </p:nvSpPr>
        <p:spPr>
          <a:xfrm>
            <a:off x="45720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DZ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Drizzle ORM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TS · Ligero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Muy cercano al SQL</a:t>
            </a:r>
            <a:endParaRPr lang="en-US" sz="1300" dirty="0"/>
          </a:p>
        </p:txBody>
      </p:sp>
      <p:sp>
        <p:nvSpPr>
          <p:cNvPr id="23" name="card Eloquent / Doctrine"/>
          <p:cNvSpPr/>
          <p:nvPr/>
        </p:nvSpPr>
        <p:spPr>
          <a:xfrm>
            <a:off x="324612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0175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EQ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Eloquent / Doctrine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35584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PHP · Laravel / Symfony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Active Record / Data Mapper</a:t>
            </a:r>
            <a:endParaRPr lang="en-US" sz="1300" dirty="0"/>
          </a:p>
        </p:txBody>
      </p:sp>
      <p:sp>
        <p:nvSpPr>
          <p:cNvPr id="28" name="card Active Record"/>
          <p:cNvSpPr/>
          <p:nvPr/>
        </p:nvSpPr>
        <p:spPr>
          <a:xfrm>
            <a:off x="603504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Active Record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144768" y="3538728"/>
            <a:ext cx="238658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Ruby on Rails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Dio nombre al patrón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Comparativa rápida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37744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Peewee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MyBatis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Mapeador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JS/TS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Propio (esquema)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Eloquent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SQLAlchemy a fondo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El ORM más usado en Python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¿Qué es SQLAlchemy?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Librería de Python de código abierto para trabajar con bases de datos relacionales.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Funciona con SQLite, PostgreSQL, MySQL, Oracle, SQL Server…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Versión actual: serie 2.0 (estilo de consultas con select()).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instala con: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352044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sqlalchemy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74920" y="1170432"/>
            <a:ext cx="34747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B33"/>
                </a:solidFill>
              </a:rPr>
              <a:t>ORM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D2B33"/>
                </a:solidFill>
              </a:rPr>
              <a:t>Clases, objetos, sesiones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148840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221992"/>
            <a:ext cx="34747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SQL escrito con Python: select(), insert()…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3200400"/>
            <a:ext cx="37490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3273552"/>
            <a:ext cx="34747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Base de datos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SQLite, PostgreSQL, MySQL…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Dos capas: puedes usar solo el Core o el ORM completo encima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Las piezas clave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61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B33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051560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Engine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conexión con la base de datos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161288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1252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create_engine("sqlite:///tienda.db")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B33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947672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Base / modelo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Clase de la que heredan tus tablas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0574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Cliente(Base): 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B33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843784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Session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"conversación" con la base de datos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953512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Session(engine) as session: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962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B33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739896"/>
            <a:ext cx="32918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commit()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Confirma y guarda los cambios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3849624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39410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session.commit()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Definir un modelo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1538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create_engine,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sqlalchemy.orm import (DeclarativeBase,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Mapped, mapped_column)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create_engine("sqlite:///tienda.db")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Base(DeclarativeBase):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Cliente(Base):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__tablename__ = "clientes"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Mapped[int] = mapped_column(primary_key=True)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nombre: Mapped[str] = mapped_column(String(50))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ciudad: Mapped[str]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Base.metadata.create_all(engine)</a:t>
            </a:r>
            <a:endParaRPr lang="en-US" sz="1100" dirty="0"/>
          </a:p>
        </p:txBody>
      </p:sp>
      <p:sp>
        <p:nvSpPr>
          <p:cNvPr id="5" name="card Estilo moderno"/>
          <p:cNvSpPr/>
          <p:nvPr/>
        </p:nvSpPr>
        <p:spPr>
          <a:xfrm>
            <a:off x="5669280" y="1051560"/>
            <a:ext cx="3017520" cy="356616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0" y="11887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064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2.0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188720"/>
            <a:ext cx="22402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Estilo moderno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79008" y="1709928"/>
            <a:ext cx="2798064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Mapped[...] indica el tipo de cada columna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mapped_column() define la columna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create_all() crea las tablas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estilo con Column() de los apuntes sigue funcionando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CRUD con la sesión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35608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2704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session.add(Cliente(nombre="Ana",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ciudad="Valencia"))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session.commit()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435608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52704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 = session.scalars(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select(Cliente)).all()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Actualizar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64408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35584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= session.get(Cliente,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ana.ciudad = "Madrid"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session.commit()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Borrar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3264408"/>
            <a:ext cx="4023360" cy="1234440"/>
          </a:xfrm>
          <a:prstGeom prst="roundRect">
            <a:avLst>
              <a:gd name="adj" fmla="val 4444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35584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session.delete(ana)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session.commit()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Consultas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select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select(Cliente).where(Cliente.ciudad == "Valencia")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Ordenar y limitar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select(Cliente).order_by(Cliente.nombre).limit(10)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session.scalars(q):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print(c.nombre)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Estilo clásico (1.x), aún válido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session.query(Cliente).filter_by(ciudad="Valencia").all()</a:t>
            </a:r>
            <a:endParaRPr lang="en-US" sz="1100" dirty="0"/>
          </a:p>
        </p:txBody>
      </p:sp>
      <p:sp>
        <p:nvSpPr>
          <p:cNvPr id="5" name="card Qué ocurre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SQL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188720"/>
            <a:ext cx="20574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Qué ocurre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61888" y="1709928"/>
            <a:ext cx="2615184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ORM genera SELECT … WHERE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valores van como parámetros (?)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Protege de la inyección SQL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print(q) muestra el SQL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Relaciones entre tablas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1D2B33"/>
          </a:solidFill>
          <a:ln w="12700">
            <a:solidFill>
              <a:srgbClr val="1D2B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Cliente(Base):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__tablename__ = "clientes"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Mapped[int] = mapped_column(primary_key=True)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pedidos: Mapped[list["Pedido"]] = relationship(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back_populates="cliente")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Pedido(Base):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__tablename__ = "pedidos"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Mapped[int] = mapped_column(primary_key=True)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cliente_id: Mapped[int] = mapped_column(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ForeignKey("clientes.id"))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cliente: Mapped["Cliente"] = relationship(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back_populates="pedidos")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35040" y="128016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clientes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id · nombre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329184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3337560"/>
            <a:ext cx="2468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pedidos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id · cliente_id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0920" y="2148840"/>
            <a:ext cx="0" cy="114300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035040" y="2331720"/>
            <a:ext cx="1280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cliente → N pedidos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cliente.pedidos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Ventajas e inconvenientes</a:t>
            </a:r>
            <a:endParaRPr lang="en-US" sz="3000" dirty="0"/>
          </a:p>
        </p:txBody>
      </p:sp>
      <p:sp>
        <p:nvSpPr>
          <p:cNvPr id="3" name="card Ventajas"/>
          <p:cNvSpPr/>
          <p:nvPr/>
        </p:nvSpPr>
        <p:spPr>
          <a:xfrm>
            <a:off x="45720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Ventajas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55648"/>
            <a:ext cx="3758184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Muy completo y flexible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Funciona con muchas bases de datos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Permite bajar al SQL cuando hace falta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Consultas seguras (parametrizadas)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Gran comunidad y documentación</a:t>
            </a:r>
            <a:endParaRPr lang="en-US" sz="1600" dirty="0"/>
          </a:p>
        </p:txBody>
      </p:sp>
      <p:sp>
        <p:nvSpPr>
          <p:cNvPr id="8" name="card Inconvenientes"/>
          <p:cNvSpPr/>
          <p:nvPr/>
        </p:nvSpPr>
        <p:spPr>
          <a:xfrm>
            <a:off x="4709160" y="109728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Inconvenientes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1755648"/>
            <a:ext cx="3758184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Curva de aprendizaje mayor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Más código que Peewee o Django ORM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Hay que entender bien la sesión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Conviven dos estilos (1.x y 2.0)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Conclusión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Todos los ORM hacen lo mismo: clase = tabla, objeto = fila. Elige según el lenguaje, el framework y cuánto control necesitas. En Python, SQLAlchemy es la opción más completa.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M">
  <a:themeElements>
    <a:clrScheme name="ORM">
      <a:dk1>
        <a:srgbClr val="1D2B33"/>
      </a:dk1>
      <a:lt1>
        <a:srgbClr val="FFFFFF"/>
      </a:lt1>
      <a:dk2>
        <a:srgbClr val="0E4D64"/>
      </a:dk2>
      <a:lt2>
        <a:srgbClr val="EEF3F5"/>
      </a:lt2>
      <a:accent1>
        <a:srgbClr val="0E4D64"/>
      </a:accent1>
      <a:accent2>
        <a:srgbClr val="E8A33D"/>
      </a:accent2>
      <a:accent3>
        <a:srgbClr val="1B998B"/>
      </a:accent3>
      <a:accent4>
        <a:srgbClr val="C8553D"/>
      </a:accent4>
      <a:accent5>
        <a:srgbClr val="6B7F8C"/>
      </a:accent5>
      <a:accent6>
        <a:srgbClr val="D9E4E8"/>
      </a:accent6>
      <a:hlink>
        <a:srgbClr val="1B998B"/>
      </a:hlink>
      <a:folHlink>
        <a:srgbClr val="6B7F8C"/>
      </a:folHlink>
    </a:clrScheme>
    <a:fontScheme name="O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Herramientas ORM</dc:title>
  <dc:subject>PptxGenJS Presentation</dc:subject>
  <dc:creator>PptxGenJS</dc:creator>
  <cp:lastModifiedBy>PptxGenJS</cp:lastModifiedBy>
  <cp:revision>1</cp:revision>
  <dcterms:created xsi:type="dcterms:W3CDTF">2026-10-30T11:25:40Z</dcterms:created>
  <dcterms:modified xsi:type="dcterms:W3CDTF">2026-10-30T11:25:40Z</dcterms:modified>
</cp:coreProperties>
</file>